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49"/>
  </p:normalViewPr>
  <p:slideViewPr>
    <p:cSldViewPr snapToGrid="0">
      <p:cViewPr varScale="1">
        <p:scale>
          <a:sx n="97" d="100"/>
          <a:sy n="97" d="100"/>
        </p:scale>
        <p:origin x="9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0305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39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65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73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290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16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31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10/20/25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7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41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143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84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45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24" r:id="rId6"/>
    <p:sldLayoutId id="2147483719" r:id="rId7"/>
    <p:sldLayoutId id="2147483720" r:id="rId8"/>
    <p:sldLayoutId id="2147483721" r:id="rId9"/>
    <p:sldLayoutId id="2147483723" r:id="rId10"/>
    <p:sldLayoutId id="21474837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p!!Rectangle">
            <a:extLst>
              <a:ext uri="{FF2B5EF4-FFF2-40B4-BE49-F238E27FC236}">
                <a16:creationId xmlns:a16="http://schemas.microsoft.com/office/drawing/2014/main" id="{2FB82883-1DC0-4BE1-A607-009095F33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3DB3DCBA-72BD-20BE-8866-3922F6061B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915" b="172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m!!text rectangle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4638503"/>
            <a:ext cx="8384770" cy="1332634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chemeClr val="tx2">
                <a:lumMod val="10000"/>
                <a:lumOff val="9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07C091-BB7A-3151-F049-6072D3DE52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3121" y="4727173"/>
            <a:ext cx="7985759" cy="86882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s-EC" sz="4000" dirty="0"/>
              <a:t>Identificación de problemas de investigación</a:t>
            </a:r>
          </a:p>
        </p:txBody>
      </p:sp>
      <p:sp>
        <p:nvSpPr>
          <p:cNvPr id="13" name="m!!accent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562823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CA55D9-0184-58A8-1B3A-7BD418D15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5738" y="5680637"/>
            <a:ext cx="6960524" cy="598516"/>
          </a:xfrm>
        </p:spPr>
        <p:txBody>
          <a:bodyPr anchor="ctr">
            <a:normAutofit/>
          </a:bodyPr>
          <a:lstStyle/>
          <a:p>
            <a:pPr algn="ctr"/>
            <a:r>
              <a:rPr lang="es-EC" sz="2000" dirty="0"/>
              <a:t>vacíos de conocimiento</a:t>
            </a:r>
            <a:endParaRPr lang="es-EC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498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380AD67-C5CA-4918-B4BB-C359BB03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A49DA2-E22C-FF99-639F-57BC57F3D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216" y="1076324"/>
            <a:ext cx="6272784" cy="1535051"/>
          </a:xfrm>
        </p:spPr>
        <p:txBody>
          <a:bodyPr anchor="b">
            <a:normAutofit/>
          </a:bodyPr>
          <a:lstStyle/>
          <a:p>
            <a:r>
              <a:rPr lang="es-EC" sz="5200"/>
              <a:t>Problema de Investigación</a:t>
            </a:r>
          </a:p>
        </p:txBody>
      </p:sp>
      <p:pic>
        <p:nvPicPr>
          <p:cNvPr id="14" name="Picture 13" descr="Person using microscope">
            <a:extLst>
              <a:ext uri="{FF2B5EF4-FFF2-40B4-BE49-F238E27FC236}">
                <a16:creationId xmlns:a16="http://schemas.microsoft.com/office/drawing/2014/main" id="{56D6F090-4EF1-7538-2D64-02301A5BD3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79" r="42431" b="1"/>
          <a:stretch>
            <a:fillRect/>
          </a:stretch>
        </p:blipFill>
        <p:spPr>
          <a:xfrm>
            <a:off x="20" y="10"/>
            <a:ext cx="4505305" cy="6857990"/>
          </a:xfrm>
          <a:prstGeom prst="rect">
            <a:avLst/>
          </a:prstGeom>
        </p:spPr>
      </p:pic>
      <p:sp>
        <p:nvSpPr>
          <p:cNvPr id="20" name="!!accent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5D0A21-9AC1-9A93-DBDE-5BCFB57E7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216" y="3428999"/>
            <a:ext cx="6833488" cy="32566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C" sz="2000" dirty="0"/>
              <a:t>Un problema de investigación es una situación real que requiere ser comprendida, explicada o resuelta mediante el método científico.</a:t>
            </a:r>
          </a:p>
          <a:p>
            <a:pPr>
              <a:lnSpc>
                <a:spcPct val="100000"/>
              </a:lnSpc>
            </a:pPr>
            <a:r>
              <a:rPr lang="es-EC" sz="2000" dirty="0"/>
              <a:t>Surge cuando existe una brecha entre lo que se sabe y lo que se necesita saber acerca de un fenómeno.</a:t>
            </a:r>
          </a:p>
        </p:txBody>
      </p:sp>
    </p:spTree>
    <p:extLst>
      <p:ext uri="{BB962C8B-B14F-4D97-AF65-F5344CB8AC3E}">
        <p14:creationId xmlns:p14="http://schemas.microsoft.com/office/powerpoint/2010/main" val="2435107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7B4BE-F999-4F49-ACCA-909421FA2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Caracteríticas principales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4FC54F-837A-9C8A-D6B4-71E60B453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87" y="2305878"/>
            <a:ext cx="10753609" cy="3866322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s-EC" sz="7400" dirty="0"/>
              <a:t>Debe ser claro y delimitado: qué fenómeno, en qué contexto y con qué alcance.</a:t>
            </a:r>
          </a:p>
          <a:p>
            <a:pPr algn="just">
              <a:lnSpc>
                <a:spcPct val="100000"/>
              </a:lnSpc>
            </a:pPr>
            <a:r>
              <a:rPr lang="es-EC" sz="7400" dirty="0"/>
              <a:t>Debe ser investigable: es decir, susceptible de ser abordado con métodos científicos y datos observables.</a:t>
            </a:r>
          </a:p>
          <a:p>
            <a:pPr algn="just">
              <a:lnSpc>
                <a:spcPct val="100000"/>
              </a:lnSpc>
            </a:pPr>
            <a:r>
              <a:rPr lang="es-EC" sz="7400" dirty="0"/>
              <a:t>Debe tener relevancia: su respuesta aporta conocimiento nuevo o mejora la comprensión de un fenómeno.</a:t>
            </a:r>
          </a:p>
          <a:p>
            <a:pPr algn="just">
              <a:lnSpc>
                <a:spcPct val="100000"/>
              </a:lnSpc>
            </a:pPr>
            <a:r>
              <a:rPr lang="es-EC" sz="7400" dirty="0"/>
              <a:t>Debe tener fundamento teórico y empírico: no puede basarse solo en opiniones o curiosidad, sino en evidencia y teoría.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s-EC" sz="7400" dirty="0"/>
              <a:t>Ejemplo:</a:t>
            </a:r>
          </a:p>
          <a:p>
            <a:pPr algn="just">
              <a:lnSpc>
                <a:spcPct val="100000"/>
              </a:lnSpc>
            </a:pPr>
            <a:r>
              <a:rPr lang="es-EC" sz="7400" dirty="0"/>
              <a:t>“Existe un alto número de ciberataques en organizaciones educativas, pero se desconoce qué factores del comportamiento organizacional influyen en la vulnerabilidad ante estos ataques.”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s-EC" sz="7400" dirty="0"/>
              <a:t>Este problema es relevante, concreto y puede investigarse empíricamente mediante modelos de riesgo o minería de datos.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63410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EE2D8-380A-F81F-A82B-9290EB29A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C" dirty="0"/>
              <a:t>Planteamiento de objetivos y preguntas de investigación.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1E5E3B-7651-AE4A-BD9E-72C63AF22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dirty="0"/>
              <a:t>Una vez identificado el problema y el vacío, se deben formular objetivos y preguntas de investigación que guíen el estudio</a:t>
            </a:r>
          </a:p>
        </p:txBody>
      </p:sp>
    </p:spTree>
    <p:extLst>
      <p:ext uri="{BB962C8B-B14F-4D97-AF65-F5344CB8AC3E}">
        <p14:creationId xmlns:p14="http://schemas.microsoft.com/office/powerpoint/2010/main" val="2416380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EEB2C2-B03D-530C-40C3-E101FAAEE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dirty="0"/>
              <a:t>Objetivos de investigación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A1BAE1-2318-DF12-F03D-464BE7077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304" y="1563757"/>
            <a:ext cx="10972800" cy="49828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C" sz="2000" dirty="0"/>
              <a:t>Los objetivos expresan qué se pretende lograr con la investigación.</a:t>
            </a:r>
          </a:p>
          <a:p>
            <a:r>
              <a:rPr lang="es-EC" sz="2000" dirty="0"/>
              <a:t>Objetivo general: declara la meta principal del estudio.</a:t>
            </a:r>
          </a:p>
          <a:p>
            <a:r>
              <a:rPr lang="es-EC" sz="2000" dirty="0"/>
              <a:t>Objetivos específicos: descomponen el general en pasos concretos o subtemas a abordar.</a:t>
            </a:r>
          </a:p>
          <a:p>
            <a:pPr marL="0" indent="0">
              <a:buNone/>
            </a:pPr>
            <a:r>
              <a:rPr lang="es-EC" sz="2000" b="1" dirty="0"/>
              <a:t>Ejemplo:</a:t>
            </a:r>
          </a:p>
          <a:p>
            <a:pPr marL="0" indent="0">
              <a:buNone/>
            </a:pPr>
            <a:r>
              <a:rPr lang="es-EC" sz="2000" b="1" dirty="0"/>
              <a:t>Objetivo general:</a:t>
            </a:r>
          </a:p>
          <a:p>
            <a:r>
              <a:rPr lang="es-EC" sz="2000" dirty="0"/>
              <a:t>Desarrollar un modelo predictivo basado en aprendizaje automático para estimar el riesgo de ciberataques en instituciones educativas.</a:t>
            </a:r>
          </a:p>
          <a:p>
            <a:pPr marL="0" indent="0">
              <a:buNone/>
            </a:pPr>
            <a:r>
              <a:rPr lang="es-EC" sz="2000" b="1" dirty="0"/>
              <a:t>Objetivos específicos:</a:t>
            </a:r>
          </a:p>
          <a:p>
            <a:r>
              <a:rPr lang="es-EC" sz="2000" dirty="0"/>
              <a:t>Identificar las variables organizacionales asociadas al riesgo de ciberataques.</a:t>
            </a:r>
          </a:p>
          <a:p>
            <a:r>
              <a:rPr lang="es-EC" sz="2000" dirty="0"/>
              <a:t>Construir un modelo de clasificación usando técnicas de machine learning.</a:t>
            </a:r>
          </a:p>
          <a:p>
            <a:r>
              <a:rPr lang="es-EC" sz="2000" dirty="0"/>
              <a:t>Evaluar el rendimiento del modelo en distintos escenarios institucionales.</a:t>
            </a:r>
          </a:p>
        </p:txBody>
      </p:sp>
    </p:spTree>
    <p:extLst>
      <p:ext uri="{BB962C8B-B14F-4D97-AF65-F5344CB8AC3E}">
        <p14:creationId xmlns:p14="http://schemas.microsoft.com/office/powerpoint/2010/main" val="1761327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97500-CD96-BD5A-6AF3-8A8415977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dirty="0"/>
              <a:t>Preguntas de investigación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F1249-AB99-DA27-23CF-D4F5D5B1A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936" y="2438267"/>
            <a:ext cx="10168128" cy="3694176"/>
          </a:xfrm>
        </p:spPr>
        <p:txBody>
          <a:bodyPr>
            <a:normAutofit fontScale="85000" lnSpcReduction="20000"/>
          </a:bodyPr>
          <a:lstStyle/>
          <a:p>
            <a:r>
              <a:rPr lang="es-EC" dirty="0"/>
              <a:t>Las preguntas de investigación derivan directamente del problema y orientan la búsqueda de respuestas empíricas.</a:t>
            </a:r>
          </a:p>
          <a:p>
            <a:pPr marL="0" indent="0">
              <a:buNone/>
            </a:pPr>
            <a:r>
              <a:rPr lang="es-EC" dirty="0"/>
              <a:t>Ejemplo:</a:t>
            </a:r>
          </a:p>
          <a:p>
            <a:r>
              <a:rPr lang="es-EC" dirty="0"/>
              <a:t>¿Qué factores internos de una institución educativa incrementan la vulnerabilidad a ciberataques?</a:t>
            </a:r>
          </a:p>
          <a:p>
            <a:r>
              <a:rPr lang="es-EC" dirty="0"/>
              <a:t>¿Cuál modelo de aprendizaje automático ofrece mejor desempeño para predecir ataques?</a:t>
            </a:r>
          </a:p>
          <a:p>
            <a:r>
              <a:rPr lang="es-EC" dirty="0"/>
              <a:t>¿Qué implicaciones prácticas tienen los resultados para la gestión de la ciberseguridad?</a:t>
            </a:r>
          </a:p>
        </p:txBody>
      </p:sp>
    </p:spTree>
    <p:extLst>
      <p:ext uri="{BB962C8B-B14F-4D97-AF65-F5344CB8AC3E}">
        <p14:creationId xmlns:p14="http://schemas.microsoft.com/office/powerpoint/2010/main" val="349502841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363</Words>
  <Application>Microsoft Macintosh PowerPoint</Application>
  <PresentationFormat>Panorámica</PresentationFormat>
  <Paragraphs>32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Avenir Next LT Pro</vt:lpstr>
      <vt:lpstr>Calibri</vt:lpstr>
      <vt:lpstr>AccentBoxVTI</vt:lpstr>
      <vt:lpstr>Identificación de problemas de investigación</vt:lpstr>
      <vt:lpstr>Problema de Investigación</vt:lpstr>
      <vt:lpstr>Caracteríticas principales</vt:lpstr>
      <vt:lpstr>Planteamiento de objetivos y preguntas de investigación.</vt:lpstr>
      <vt:lpstr>Objetivos de investigación</vt:lpstr>
      <vt:lpstr>Preguntas de investigación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NANCY CRISTINA BETANCOURT MENDOZA</dc:creator>
  <cp:lastModifiedBy>NANCY CRISTINA BETANCOURT MENDOZA</cp:lastModifiedBy>
  <cp:revision>1</cp:revision>
  <dcterms:created xsi:type="dcterms:W3CDTF">2025-10-20T15:18:13Z</dcterms:created>
  <dcterms:modified xsi:type="dcterms:W3CDTF">2025-10-20T15:25:06Z</dcterms:modified>
</cp:coreProperties>
</file>