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0"/>
  </p:notesMasterIdLst>
  <p:sldIdLst>
    <p:sldId id="256" r:id="rId3"/>
    <p:sldId id="257" r:id="rId4"/>
    <p:sldId id="260" r:id="rId5"/>
    <p:sldId id="382" r:id="rId6"/>
    <p:sldId id="390" r:id="rId7"/>
    <p:sldId id="391" r:id="rId8"/>
    <p:sldId id="392" r:id="rId9"/>
    <p:sldId id="393" r:id="rId10"/>
    <p:sldId id="394" r:id="rId11"/>
    <p:sldId id="395" r:id="rId12"/>
    <p:sldId id="396" r:id="rId13"/>
    <p:sldId id="383" r:id="rId14"/>
    <p:sldId id="384" r:id="rId15"/>
    <p:sldId id="385" r:id="rId16"/>
    <p:sldId id="386" r:id="rId17"/>
    <p:sldId id="387" r:id="rId18"/>
    <p:sldId id="388" r:id="rId19"/>
    <p:sldId id="389" r:id="rId20"/>
    <p:sldId id="369" r:id="rId21"/>
    <p:sldId id="401" r:id="rId22"/>
    <p:sldId id="402" r:id="rId23"/>
    <p:sldId id="397" r:id="rId24"/>
    <p:sldId id="398" r:id="rId25"/>
    <p:sldId id="399" r:id="rId26"/>
    <p:sldId id="400" r:id="rId27"/>
    <p:sldId id="403" r:id="rId28"/>
    <p:sldId id="404" r:id="rId29"/>
    <p:sldId id="405" r:id="rId30"/>
    <p:sldId id="406" r:id="rId31"/>
    <p:sldId id="407" r:id="rId32"/>
    <p:sldId id="410" r:id="rId33"/>
    <p:sldId id="408" r:id="rId34"/>
    <p:sldId id="409" r:id="rId35"/>
    <p:sldId id="259" r:id="rId36"/>
    <p:sldId id="411" r:id="rId37"/>
    <p:sldId id="412" r:id="rId38"/>
    <p:sldId id="379" r:id="rId39"/>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6504" autoAdjust="0"/>
  </p:normalViewPr>
  <p:slideViewPr>
    <p:cSldViewPr>
      <p:cViewPr varScale="1">
        <p:scale>
          <a:sx n="158" d="100"/>
          <a:sy n="158" d="100"/>
        </p:scale>
        <p:origin x="150" y="144"/>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1A2CCC-FD8E-4F22-9062-9F2047D26BD6}" type="doc">
      <dgm:prSet loTypeId="urn:microsoft.com/office/officeart/2008/layout/RadialCluster" loCatId="cycle" qsTypeId="urn:microsoft.com/office/officeart/2005/8/quickstyle/simple4" qsCatId="simple" csTypeId="urn:microsoft.com/office/officeart/2005/8/colors/colorful4" csCatId="colorful" phldr="1"/>
      <dgm:spPr/>
      <dgm:t>
        <a:bodyPr/>
        <a:lstStyle/>
        <a:p>
          <a:endParaRPr lang="es-MX"/>
        </a:p>
      </dgm:t>
    </dgm:pt>
    <dgm:pt modelId="{5E02FD35-4897-459D-94CA-262FEDF307C0}">
      <dgm:prSet phldrT="[Text]" phldr="0"/>
      <dgm:spPr/>
      <dgm:t>
        <a:bodyPr/>
        <a:lstStyle/>
        <a:p>
          <a:r>
            <a:rPr lang="es-MX" dirty="0"/>
            <a:t>Calidad</a:t>
          </a:r>
        </a:p>
      </dgm:t>
    </dgm:pt>
    <dgm:pt modelId="{DDE0C8C3-78C5-4DFE-9088-9FB1D7548164}" type="parTrans" cxnId="{D3C76559-01E4-45B3-BE54-5C930ADCBEFE}">
      <dgm:prSet/>
      <dgm:spPr/>
      <dgm:t>
        <a:bodyPr/>
        <a:lstStyle/>
        <a:p>
          <a:endParaRPr lang="es-MX"/>
        </a:p>
      </dgm:t>
    </dgm:pt>
    <dgm:pt modelId="{DB67CB92-EFCF-4840-825D-8B5878C5C0E2}" type="sibTrans" cxnId="{D3C76559-01E4-45B3-BE54-5C930ADCBEFE}">
      <dgm:prSet/>
      <dgm:spPr/>
      <dgm:t>
        <a:bodyPr/>
        <a:lstStyle/>
        <a:p>
          <a:endParaRPr lang="es-MX"/>
        </a:p>
      </dgm:t>
    </dgm:pt>
    <dgm:pt modelId="{6CBF679B-9AC1-42C9-9D5B-19119B2689C2}">
      <dgm:prSet phldrT="[Text]" phldr="0"/>
      <dgm:spPr/>
      <dgm:t>
        <a:bodyPr/>
        <a:lstStyle/>
        <a:p>
          <a:r>
            <a:rPr lang="es-MX" dirty="0"/>
            <a:t>Grado en el que un conjunto de características cumple con los requisitos</a:t>
          </a:r>
        </a:p>
      </dgm:t>
    </dgm:pt>
    <dgm:pt modelId="{B3C5744A-8D85-41C7-A4C5-B3181FE09255}" type="parTrans" cxnId="{E3F568DB-3D7D-4A18-A0D5-B08E54517ADF}">
      <dgm:prSet/>
      <dgm:spPr/>
      <dgm:t>
        <a:bodyPr/>
        <a:lstStyle/>
        <a:p>
          <a:endParaRPr lang="es-MX"/>
        </a:p>
      </dgm:t>
    </dgm:pt>
    <dgm:pt modelId="{BFB54F60-31CD-4658-8E69-8845D313A4B0}" type="sibTrans" cxnId="{E3F568DB-3D7D-4A18-A0D5-B08E54517ADF}">
      <dgm:prSet/>
      <dgm:spPr/>
      <dgm:t>
        <a:bodyPr/>
        <a:lstStyle/>
        <a:p>
          <a:endParaRPr lang="es-MX"/>
        </a:p>
      </dgm:t>
    </dgm:pt>
    <dgm:pt modelId="{B282F6E1-DAB2-4F06-9101-4763DBA8733A}">
      <dgm:prSet phldrT="[Text]" phldr="0"/>
      <dgm:spPr/>
      <dgm:t>
        <a:bodyPr/>
        <a:lstStyle/>
        <a:p>
          <a:r>
            <a:rPr lang="es-MX" dirty="0"/>
            <a:t>Grado de Satisfacción que produce el cliente</a:t>
          </a:r>
        </a:p>
      </dgm:t>
    </dgm:pt>
    <dgm:pt modelId="{9AE3EC96-7123-4601-ADB2-7F262FCB4109}" type="parTrans" cxnId="{B8BC84CE-5741-44FE-8FF3-EB39E76456F2}">
      <dgm:prSet/>
      <dgm:spPr/>
      <dgm:t>
        <a:bodyPr/>
        <a:lstStyle/>
        <a:p>
          <a:endParaRPr lang="es-MX"/>
        </a:p>
      </dgm:t>
    </dgm:pt>
    <dgm:pt modelId="{B11711FE-DDF5-4D0D-976F-7AB6ADB1A66E}" type="sibTrans" cxnId="{B8BC84CE-5741-44FE-8FF3-EB39E76456F2}">
      <dgm:prSet/>
      <dgm:spPr/>
      <dgm:t>
        <a:bodyPr/>
        <a:lstStyle/>
        <a:p>
          <a:endParaRPr lang="es-MX"/>
        </a:p>
      </dgm:t>
    </dgm:pt>
    <dgm:pt modelId="{E8B6D18D-CD0A-46CC-83EA-B9E56D333E31}">
      <dgm:prSet phldrT="[Text]" phldr="0"/>
      <dgm:spPr/>
      <dgm:t>
        <a:bodyPr/>
        <a:lstStyle/>
        <a:p>
          <a:r>
            <a:rPr lang="es-MX" dirty="0"/>
            <a:t>Satisfacción del cliente y conformidad con sus requisitos.</a:t>
          </a:r>
        </a:p>
      </dgm:t>
    </dgm:pt>
    <dgm:pt modelId="{BDAD92A4-BAB4-4650-96A3-1C635F110456}" type="parTrans" cxnId="{713549B2-8314-4A0E-8691-643DC0FA7B77}">
      <dgm:prSet/>
      <dgm:spPr/>
      <dgm:t>
        <a:bodyPr/>
        <a:lstStyle/>
        <a:p>
          <a:endParaRPr lang="es-MX"/>
        </a:p>
      </dgm:t>
    </dgm:pt>
    <dgm:pt modelId="{FB13B1E8-0CD9-42C5-85D4-655C02383332}" type="sibTrans" cxnId="{713549B2-8314-4A0E-8691-643DC0FA7B77}">
      <dgm:prSet/>
      <dgm:spPr/>
      <dgm:t>
        <a:bodyPr/>
        <a:lstStyle/>
        <a:p>
          <a:endParaRPr lang="es-MX"/>
        </a:p>
      </dgm:t>
    </dgm:pt>
    <dgm:pt modelId="{9849345C-BAAB-47E8-844A-74BE7D6E0759}">
      <dgm:prSet phldrT="[Text]" phldr="0"/>
      <dgm:spPr/>
      <dgm:t>
        <a:bodyPr/>
        <a:lstStyle/>
        <a:p>
          <a:r>
            <a:rPr lang="es-MX" dirty="0"/>
            <a:t>Conjunto de actividades que permiten satisfacer las necesidades de un colectivo</a:t>
          </a:r>
        </a:p>
      </dgm:t>
    </dgm:pt>
    <dgm:pt modelId="{BF7A76AC-AF74-477B-BFEE-A22081C4C474}" type="parTrans" cxnId="{7E809586-DDC7-4919-8DDF-73C69B61FA05}">
      <dgm:prSet/>
      <dgm:spPr/>
      <dgm:t>
        <a:bodyPr/>
        <a:lstStyle/>
        <a:p>
          <a:endParaRPr lang="es-MX"/>
        </a:p>
      </dgm:t>
    </dgm:pt>
    <dgm:pt modelId="{82BFA46B-2E91-4EA9-AA23-E65DE4C522AB}" type="sibTrans" cxnId="{7E809586-DDC7-4919-8DDF-73C69B61FA05}">
      <dgm:prSet/>
      <dgm:spPr/>
      <dgm:t>
        <a:bodyPr/>
        <a:lstStyle/>
        <a:p>
          <a:endParaRPr lang="es-MX"/>
        </a:p>
      </dgm:t>
    </dgm:pt>
    <dgm:pt modelId="{28DF95A6-501B-4954-9970-791CC3B50413}" type="pres">
      <dgm:prSet presAssocID="{E71A2CCC-FD8E-4F22-9062-9F2047D26BD6}" presName="Name0" presStyleCnt="0">
        <dgm:presLayoutVars>
          <dgm:chMax val="1"/>
          <dgm:chPref val="1"/>
          <dgm:dir/>
          <dgm:animOne val="branch"/>
          <dgm:animLvl val="lvl"/>
        </dgm:presLayoutVars>
      </dgm:prSet>
      <dgm:spPr/>
    </dgm:pt>
    <dgm:pt modelId="{E87249B4-6EE9-4E39-B5A2-2B1385E22C8B}" type="pres">
      <dgm:prSet presAssocID="{5E02FD35-4897-459D-94CA-262FEDF307C0}" presName="singleCycle" presStyleCnt="0"/>
      <dgm:spPr/>
    </dgm:pt>
    <dgm:pt modelId="{5765170D-517F-4CE7-9903-17528E17EACD}" type="pres">
      <dgm:prSet presAssocID="{5E02FD35-4897-459D-94CA-262FEDF307C0}" presName="singleCenter" presStyleLbl="node1" presStyleIdx="0" presStyleCnt="5" custLinFactNeighborX="-4725" custLinFactNeighborY="45">
        <dgm:presLayoutVars>
          <dgm:chMax val="7"/>
          <dgm:chPref val="7"/>
        </dgm:presLayoutVars>
      </dgm:prSet>
      <dgm:spPr/>
    </dgm:pt>
    <dgm:pt modelId="{C7D5950F-6A19-4C7D-BB58-A76F61F7A246}" type="pres">
      <dgm:prSet presAssocID="{B3C5744A-8D85-41C7-A4C5-B3181FE09255}" presName="Name56" presStyleLbl="parChTrans1D2" presStyleIdx="0" presStyleCnt="4"/>
      <dgm:spPr/>
    </dgm:pt>
    <dgm:pt modelId="{7611B117-6036-444B-B50E-68B4BF92FCA2}" type="pres">
      <dgm:prSet presAssocID="{6CBF679B-9AC1-42C9-9D5B-19119B2689C2}" presName="text0" presStyleLbl="node1" presStyleIdx="1" presStyleCnt="5" custScaleX="223759" custScaleY="138717" custRadScaleRad="130312" custRadScaleInc="117770">
        <dgm:presLayoutVars>
          <dgm:bulletEnabled val="1"/>
        </dgm:presLayoutVars>
      </dgm:prSet>
      <dgm:spPr/>
    </dgm:pt>
    <dgm:pt modelId="{5B979279-6956-4803-A0DE-71A7160845D0}" type="pres">
      <dgm:prSet presAssocID="{9AE3EC96-7123-4601-ADB2-7F262FCB4109}" presName="Name56" presStyleLbl="parChTrans1D2" presStyleIdx="1" presStyleCnt="4"/>
      <dgm:spPr/>
    </dgm:pt>
    <dgm:pt modelId="{1F65FDAE-455F-408F-B486-8B45B21E5A53}" type="pres">
      <dgm:prSet presAssocID="{B282F6E1-DAB2-4F06-9101-4763DBA8733A}" presName="text0" presStyleLbl="node1" presStyleIdx="2" presStyleCnt="5" custScaleX="188374" custScaleY="137291" custRadScaleRad="126974" custRadScaleInc="97649">
        <dgm:presLayoutVars>
          <dgm:bulletEnabled val="1"/>
        </dgm:presLayoutVars>
      </dgm:prSet>
      <dgm:spPr/>
    </dgm:pt>
    <dgm:pt modelId="{9306C3F5-FE9E-44C1-98BE-5948603D65C9}" type="pres">
      <dgm:prSet presAssocID="{BDAD92A4-BAB4-4650-96A3-1C635F110456}" presName="Name56" presStyleLbl="parChTrans1D2" presStyleIdx="2" presStyleCnt="4"/>
      <dgm:spPr/>
    </dgm:pt>
    <dgm:pt modelId="{39E180B9-221C-44D8-826D-3FA34EECC6A7}" type="pres">
      <dgm:prSet presAssocID="{E8B6D18D-CD0A-46CC-83EA-B9E56D333E31}" presName="text0" presStyleLbl="node1" presStyleIdx="3" presStyleCnt="5" custScaleX="258073" custScaleY="124366" custRadScaleRad="165980" custRadScaleInc="123380">
        <dgm:presLayoutVars>
          <dgm:bulletEnabled val="1"/>
        </dgm:presLayoutVars>
      </dgm:prSet>
      <dgm:spPr/>
    </dgm:pt>
    <dgm:pt modelId="{B4411BAB-84EE-4898-ABC1-FF4520CB6B67}" type="pres">
      <dgm:prSet presAssocID="{BF7A76AC-AF74-477B-BFEE-A22081C4C474}" presName="Name56" presStyleLbl="parChTrans1D2" presStyleIdx="3" presStyleCnt="4"/>
      <dgm:spPr/>
    </dgm:pt>
    <dgm:pt modelId="{6528DF7D-51FD-49E0-B8E5-D74E87633D28}" type="pres">
      <dgm:prSet presAssocID="{9849345C-BAAB-47E8-844A-74BE7D6E0759}" presName="text0" presStyleLbl="node1" presStyleIdx="4" presStyleCnt="5" custScaleX="279290" custScaleY="144174" custRadScaleRad="160438" custRadScaleInc="64910">
        <dgm:presLayoutVars>
          <dgm:bulletEnabled val="1"/>
        </dgm:presLayoutVars>
      </dgm:prSet>
      <dgm:spPr/>
    </dgm:pt>
  </dgm:ptLst>
  <dgm:cxnLst>
    <dgm:cxn modelId="{ABA22A3A-5B65-4C11-9BA4-F71CD08D6E36}" type="presOf" srcId="{6CBF679B-9AC1-42C9-9D5B-19119B2689C2}" destId="{7611B117-6036-444B-B50E-68B4BF92FCA2}" srcOrd="0" destOrd="0" presId="urn:microsoft.com/office/officeart/2008/layout/RadialCluster"/>
    <dgm:cxn modelId="{39ADB13A-DFE9-4800-940D-450F593AACF3}" type="presOf" srcId="{B3C5744A-8D85-41C7-A4C5-B3181FE09255}" destId="{C7D5950F-6A19-4C7D-BB58-A76F61F7A246}" srcOrd="0" destOrd="0" presId="urn:microsoft.com/office/officeart/2008/layout/RadialCluster"/>
    <dgm:cxn modelId="{D007DC66-0A40-4FD7-B3CA-A323C84464BF}" type="presOf" srcId="{5E02FD35-4897-459D-94CA-262FEDF307C0}" destId="{5765170D-517F-4CE7-9903-17528E17EACD}" srcOrd="0" destOrd="0" presId="urn:microsoft.com/office/officeart/2008/layout/RadialCluster"/>
    <dgm:cxn modelId="{7756F76D-C327-4599-82AD-FE84D55CD361}" type="presOf" srcId="{9AE3EC96-7123-4601-ADB2-7F262FCB4109}" destId="{5B979279-6956-4803-A0DE-71A7160845D0}" srcOrd="0" destOrd="0" presId="urn:microsoft.com/office/officeart/2008/layout/RadialCluster"/>
    <dgm:cxn modelId="{1FDD3E4E-28FE-4F11-8DF4-D762A0A5E3A3}" type="presOf" srcId="{B282F6E1-DAB2-4F06-9101-4763DBA8733A}" destId="{1F65FDAE-455F-408F-B486-8B45B21E5A53}" srcOrd="0" destOrd="0" presId="urn:microsoft.com/office/officeart/2008/layout/RadialCluster"/>
    <dgm:cxn modelId="{4010D676-C9FD-4D9E-9A3E-4A1436442512}" type="presOf" srcId="{E8B6D18D-CD0A-46CC-83EA-B9E56D333E31}" destId="{39E180B9-221C-44D8-826D-3FA34EECC6A7}" srcOrd="0" destOrd="0" presId="urn:microsoft.com/office/officeart/2008/layout/RadialCluster"/>
    <dgm:cxn modelId="{D3C76559-01E4-45B3-BE54-5C930ADCBEFE}" srcId="{E71A2CCC-FD8E-4F22-9062-9F2047D26BD6}" destId="{5E02FD35-4897-459D-94CA-262FEDF307C0}" srcOrd="0" destOrd="0" parTransId="{DDE0C8C3-78C5-4DFE-9088-9FB1D7548164}" sibTransId="{DB67CB92-EFCF-4840-825D-8B5878C5C0E2}"/>
    <dgm:cxn modelId="{7E809586-DDC7-4919-8DDF-73C69B61FA05}" srcId="{5E02FD35-4897-459D-94CA-262FEDF307C0}" destId="{9849345C-BAAB-47E8-844A-74BE7D6E0759}" srcOrd="3" destOrd="0" parTransId="{BF7A76AC-AF74-477B-BFEE-A22081C4C474}" sibTransId="{82BFA46B-2E91-4EA9-AA23-E65DE4C522AB}"/>
    <dgm:cxn modelId="{7D5A0C8F-0E1B-4E61-A03E-3DEFC0B58864}" type="presOf" srcId="{9849345C-BAAB-47E8-844A-74BE7D6E0759}" destId="{6528DF7D-51FD-49E0-B8E5-D74E87633D28}" srcOrd="0" destOrd="0" presId="urn:microsoft.com/office/officeart/2008/layout/RadialCluster"/>
    <dgm:cxn modelId="{51EBCA8F-BD79-4B3E-AF4F-F24FEE6AF836}" type="presOf" srcId="{BF7A76AC-AF74-477B-BFEE-A22081C4C474}" destId="{B4411BAB-84EE-4898-ABC1-FF4520CB6B67}" srcOrd="0" destOrd="0" presId="urn:microsoft.com/office/officeart/2008/layout/RadialCluster"/>
    <dgm:cxn modelId="{713549B2-8314-4A0E-8691-643DC0FA7B77}" srcId="{5E02FD35-4897-459D-94CA-262FEDF307C0}" destId="{E8B6D18D-CD0A-46CC-83EA-B9E56D333E31}" srcOrd="2" destOrd="0" parTransId="{BDAD92A4-BAB4-4650-96A3-1C635F110456}" sibTransId="{FB13B1E8-0CD9-42C5-85D4-655C02383332}"/>
    <dgm:cxn modelId="{B8BC84CE-5741-44FE-8FF3-EB39E76456F2}" srcId="{5E02FD35-4897-459D-94CA-262FEDF307C0}" destId="{B282F6E1-DAB2-4F06-9101-4763DBA8733A}" srcOrd="1" destOrd="0" parTransId="{9AE3EC96-7123-4601-ADB2-7F262FCB4109}" sibTransId="{B11711FE-DDF5-4D0D-976F-7AB6ADB1A66E}"/>
    <dgm:cxn modelId="{E24BF7D4-AE75-4768-B0F2-BE419D052F26}" type="presOf" srcId="{E71A2CCC-FD8E-4F22-9062-9F2047D26BD6}" destId="{28DF95A6-501B-4954-9970-791CC3B50413}" srcOrd="0" destOrd="0" presId="urn:microsoft.com/office/officeart/2008/layout/RadialCluster"/>
    <dgm:cxn modelId="{E3F568DB-3D7D-4A18-A0D5-B08E54517ADF}" srcId="{5E02FD35-4897-459D-94CA-262FEDF307C0}" destId="{6CBF679B-9AC1-42C9-9D5B-19119B2689C2}" srcOrd="0" destOrd="0" parTransId="{B3C5744A-8D85-41C7-A4C5-B3181FE09255}" sibTransId="{BFB54F60-31CD-4658-8E69-8845D313A4B0}"/>
    <dgm:cxn modelId="{84DBCCFA-7F10-4354-B16D-54C8CD419412}" type="presOf" srcId="{BDAD92A4-BAB4-4650-96A3-1C635F110456}" destId="{9306C3F5-FE9E-44C1-98BE-5948603D65C9}" srcOrd="0" destOrd="0" presId="urn:microsoft.com/office/officeart/2008/layout/RadialCluster"/>
    <dgm:cxn modelId="{CE009717-20F0-4B87-99A7-8EFFA9999386}" type="presParOf" srcId="{28DF95A6-501B-4954-9970-791CC3B50413}" destId="{E87249B4-6EE9-4E39-B5A2-2B1385E22C8B}" srcOrd="0" destOrd="0" presId="urn:microsoft.com/office/officeart/2008/layout/RadialCluster"/>
    <dgm:cxn modelId="{F8F405ED-9AB9-42C8-9BB3-272627F4EC48}" type="presParOf" srcId="{E87249B4-6EE9-4E39-B5A2-2B1385E22C8B}" destId="{5765170D-517F-4CE7-9903-17528E17EACD}" srcOrd="0" destOrd="0" presId="urn:microsoft.com/office/officeart/2008/layout/RadialCluster"/>
    <dgm:cxn modelId="{7240153C-1982-4E8F-9781-85641E46853E}" type="presParOf" srcId="{E87249B4-6EE9-4E39-B5A2-2B1385E22C8B}" destId="{C7D5950F-6A19-4C7D-BB58-A76F61F7A246}" srcOrd="1" destOrd="0" presId="urn:microsoft.com/office/officeart/2008/layout/RadialCluster"/>
    <dgm:cxn modelId="{0FB28BF4-212C-4650-988C-D66E86267007}" type="presParOf" srcId="{E87249B4-6EE9-4E39-B5A2-2B1385E22C8B}" destId="{7611B117-6036-444B-B50E-68B4BF92FCA2}" srcOrd="2" destOrd="0" presId="urn:microsoft.com/office/officeart/2008/layout/RadialCluster"/>
    <dgm:cxn modelId="{737B2F8F-563C-4A68-9840-592045733A90}" type="presParOf" srcId="{E87249B4-6EE9-4E39-B5A2-2B1385E22C8B}" destId="{5B979279-6956-4803-A0DE-71A7160845D0}" srcOrd="3" destOrd="0" presId="urn:microsoft.com/office/officeart/2008/layout/RadialCluster"/>
    <dgm:cxn modelId="{9D496198-9590-4908-B8D0-322E56E680DF}" type="presParOf" srcId="{E87249B4-6EE9-4E39-B5A2-2B1385E22C8B}" destId="{1F65FDAE-455F-408F-B486-8B45B21E5A53}" srcOrd="4" destOrd="0" presId="urn:microsoft.com/office/officeart/2008/layout/RadialCluster"/>
    <dgm:cxn modelId="{CFC60369-8300-4F9B-AA7B-01C64AD3B85C}" type="presParOf" srcId="{E87249B4-6EE9-4E39-B5A2-2B1385E22C8B}" destId="{9306C3F5-FE9E-44C1-98BE-5948603D65C9}" srcOrd="5" destOrd="0" presId="urn:microsoft.com/office/officeart/2008/layout/RadialCluster"/>
    <dgm:cxn modelId="{3E2221C1-F227-4301-BDD7-321566B21D4E}" type="presParOf" srcId="{E87249B4-6EE9-4E39-B5A2-2B1385E22C8B}" destId="{39E180B9-221C-44D8-826D-3FA34EECC6A7}" srcOrd="6" destOrd="0" presId="urn:microsoft.com/office/officeart/2008/layout/RadialCluster"/>
    <dgm:cxn modelId="{833CD45F-9DE5-4B8A-8BA4-06AFA7DCFCEB}" type="presParOf" srcId="{E87249B4-6EE9-4E39-B5A2-2B1385E22C8B}" destId="{B4411BAB-84EE-4898-ABC1-FF4520CB6B67}" srcOrd="7" destOrd="0" presId="urn:microsoft.com/office/officeart/2008/layout/RadialCluster"/>
    <dgm:cxn modelId="{9DFEDDCF-E780-4A29-8493-B5D18018BC7D}" type="presParOf" srcId="{E87249B4-6EE9-4E39-B5A2-2B1385E22C8B}" destId="{6528DF7D-51FD-49E0-B8E5-D74E87633D28}" srcOrd="8"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1F134C-A00C-498C-91B8-75C922BF1E97}" type="doc">
      <dgm:prSet loTypeId="urn:microsoft.com/office/officeart/2005/8/layout/lProcess3" loCatId="process" qsTypeId="urn:microsoft.com/office/officeart/2005/8/quickstyle/simple1" qsCatId="simple" csTypeId="urn:microsoft.com/office/officeart/2005/8/colors/colorful4" csCatId="colorful" phldr="1"/>
      <dgm:spPr/>
      <dgm:t>
        <a:bodyPr/>
        <a:lstStyle/>
        <a:p>
          <a:endParaRPr lang="es-MX"/>
        </a:p>
      </dgm:t>
    </dgm:pt>
    <dgm:pt modelId="{F94B2294-14F4-4262-954D-61E0B599D4F1}">
      <dgm:prSet phldrT="[Text]"/>
      <dgm:spPr/>
      <dgm:t>
        <a:bodyPr/>
        <a:lstStyle/>
        <a:p>
          <a:r>
            <a:rPr lang="es-MX" dirty="0">
              <a:latin typeface="Arial Narrow" panose="020B0606020202030204" pitchFamily="34" charset="0"/>
            </a:rPr>
            <a:t>Funcionalidad</a:t>
          </a:r>
          <a:endParaRPr lang="es-MX" dirty="0"/>
        </a:p>
      </dgm:t>
    </dgm:pt>
    <dgm:pt modelId="{798A8248-2157-45B6-AE27-B2F644068243}" type="parTrans" cxnId="{58C6C90F-E35C-4CC0-BCAD-F321705E200A}">
      <dgm:prSet/>
      <dgm:spPr/>
      <dgm:t>
        <a:bodyPr/>
        <a:lstStyle/>
        <a:p>
          <a:endParaRPr lang="es-MX"/>
        </a:p>
      </dgm:t>
    </dgm:pt>
    <dgm:pt modelId="{6E113171-363B-4A12-A8F3-76F9C830F9CB}" type="sibTrans" cxnId="{58C6C90F-E35C-4CC0-BCAD-F321705E200A}">
      <dgm:prSet/>
      <dgm:spPr/>
      <dgm:t>
        <a:bodyPr/>
        <a:lstStyle/>
        <a:p>
          <a:endParaRPr lang="es-MX"/>
        </a:p>
      </dgm:t>
    </dgm:pt>
    <dgm:pt modelId="{312660DF-CC8E-452B-BE5D-4E0706BA9470}">
      <dgm:prSet phldrT="[Text]"/>
      <dgm:spPr/>
      <dgm:t>
        <a:bodyPr/>
        <a:lstStyle/>
        <a:p>
          <a:r>
            <a:rPr lang="es-MX" dirty="0">
              <a:latin typeface="Arial Narrow" panose="020B0606020202030204" pitchFamily="34" charset="0"/>
            </a:rPr>
            <a:t>Cumple con lo que el usuario necesita: precisión, interoperabilidad, seguridad funcional.</a:t>
          </a:r>
          <a:endParaRPr lang="es-MX" dirty="0"/>
        </a:p>
      </dgm:t>
    </dgm:pt>
    <dgm:pt modelId="{E47A1D36-8354-4342-823A-342D6D70C095}" type="parTrans" cxnId="{904460E9-17DE-4FB4-9EBA-EAD99D5D1B14}">
      <dgm:prSet/>
      <dgm:spPr/>
      <dgm:t>
        <a:bodyPr/>
        <a:lstStyle/>
        <a:p>
          <a:endParaRPr lang="es-MX"/>
        </a:p>
      </dgm:t>
    </dgm:pt>
    <dgm:pt modelId="{65114039-F7DE-4ED8-A5D7-5081C0C0B027}" type="sibTrans" cxnId="{904460E9-17DE-4FB4-9EBA-EAD99D5D1B14}">
      <dgm:prSet/>
      <dgm:spPr/>
      <dgm:t>
        <a:bodyPr/>
        <a:lstStyle/>
        <a:p>
          <a:endParaRPr lang="es-MX"/>
        </a:p>
      </dgm:t>
    </dgm:pt>
    <dgm:pt modelId="{CD02A09B-7C2A-4798-B416-241E0D9DF827}">
      <dgm:prSet phldrT="[Text]"/>
      <dgm:spPr/>
      <dgm:t>
        <a:bodyPr/>
        <a:lstStyle/>
        <a:p>
          <a:r>
            <a:rPr lang="es-MX" dirty="0">
              <a:latin typeface="Arial Narrow" panose="020B0606020202030204" pitchFamily="34" charset="0"/>
            </a:rPr>
            <a:t>Rendimiento (Eficiencia)</a:t>
          </a:r>
          <a:endParaRPr lang="es-MX" dirty="0"/>
        </a:p>
      </dgm:t>
    </dgm:pt>
    <dgm:pt modelId="{74566B58-43FC-4266-912D-8CCECA79E3CC}" type="parTrans" cxnId="{F178A117-942C-4214-A7BF-EC057025861D}">
      <dgm:prSet/>
      <dgm:spPr/>
      <dgm:t>
        <a:bodyPr/>
        <a:lstStyle/>
        <a:p>
          <a:endParaRPr lang="es-MX"/>
        </a:p>
      </dgm:t>
    </dgm:pt>
    <dgm:pt modelId="{CD4F547D-870E-4F98-A2CB-3B37B38AB76B}" type="sibTrans" cxnId="{F178A117-942C-4214-A7BF-EC057025861D}">
      <dgm:prSet/>
      <dgm:spPr/>
      <dgm:t>
        <a:bodyPr/>
        <a:lstStyle/>
        <a:p>
          <a:endParaRPr lang="es-MX"/>
        </a:p>
      </dgm:t>
    </dgm:pt>
    <dgm:pt modelId="{FBBA6F77-CA4D-4E66-BDAA-788FDEFDE2D9}">
      <dgm:prSet phldrT="[Text]"/>
      <dgm:spPr/>
      <dgm:t>
        <a:bodyPr/>
        <a:lstStyle/>
        <a:p>
          <a:r>
            <a:rPr lang="es-MX" dirty="0">
              <a:latin typeface="Arial Narrow" panose="020B0606020202030204" pitchFamily="34" charset="0"/>
            </a:rPr>
            <a:t>Uso eficiente de recursos: velocidad, capacidad bajo carga, consumo </a:t>
          </a:r>
          <a:r>
            <a:rPr lang="es-MX">
              <a:latin typeface="Arial Narrow" panose="020B0606020202030204" pitchFamily="34" charset="0"/>
            </a:rPr>
            <a:t>de memoria</a:t>
          </a:r>
          <a:endParaRPr lang="es-MX" dirty="0"/>
        </a:p>
      </dgm:t>
    </dgm:pt>
    <dgm:pt modelId="{0140AC25-FB9F-408D-97A0-F2B3704837FB}" type="parTrans" cxnId="{45E913F8-EA01-4473-9FFA-7EB26075ED8B}">
      <dgm:prSet/>
      <dgm:spPr/>
      <dgm:t>
        <a:bodyPr/>
        <a:lstStyle/>
        <a:p>
          <a:endParaRPr lang="es-MX"/>
        </a:p>
      </dgm:t>
    </dgm:pt>
    <dgm:pt modelId="{6EA19A44-AAF0-46F9-9238-065434CD87EB}" type="sibTrans" cxnId="{45E913F8-EA01-4473-9FFA-7EB26075ED8B}">
      <dgm:prSet/>
      <dgm:spPr/>
      <dgm:t>
        <a:bodyPr/>
        <a:lstStyle/>
        <a:p>
          <a:endParaRPr lang="es-MX"/>
        </a:p>
      </dgm:t>
    </dgm:pt>
    <dgm:pt modelId="{3335AF8C-71F5-43CC-91F2-FACDD51795E0}">
      <dgm:prSet phldrT="[Text]"/>
      <dgm:spPr/>
      <dgm:t>
        <a:bodyPr/>
        <a:lstStyle/>
        <a:p>
          <a:r>
            <a:rPr lang="es-MX" dirty="0">
              <a:latin typeface="Arial Narrow" panose="020B0606020202030204" pitchFamily="34" charset="0"/>
            </a:rPr>
            <a:t>Usabilidad</a:t>
          </a:r>
          <a:endParaRPr lang="es-MX" dirty="0"/>
        </a:p>
      </dgm:t>
    </dgm:pt>
    <dgm:pt modelId="{BC337329-68D1-4CD5-BFAF-588BB033C0D4}" type="parTrans" cxnId="{6E901245-9DF9-48EB-8971-1ECFB1BA0818}">
      <dgm:prSet/>
      <dgm:spPr/>
      <dgm:t>
        <a:bodyPr/>
        <a:lstStyle/>
        <a:p>
          <a:endParaRPr lang="es-MX"/>
        </a:p>
      </dgm:t>
    </dgm:pt>
    <dgm:pt modelId="{1F6A816D-AF91-4D26-A15E-4CBD1549F611}" type="sibTrans" cxnId="{6E901245-9DF9-48EB-8971-1ECFB1BA0818}">
      <dgm:prSet/>
      <dgm:spPr/>
      <dgm:t>
        <a:bodyPr/>
        <a:lstStyle/>
        <a:p>
          <a:endParaRPr lang="es-MX"/>
        </a:p>
      </dgm:t>
    </dgm:pt>
    <dgm:pt modelId="{A901D346-5FA6-4E6E-A4CA-D41687BB3622}">
      <dgm:prSet phldrT="[Text]"/>
      <dgm:spPr/>
      <dgm:t>
        <a:bodyPr/>
        <a:lstStyle/>
        <a:p>
          <a:r>
            <a:rPr lang="es-MX" dirty="0">
              <a:latin typeface="Arial Narrow" panose="020B0606020202030204" pitchFamily="34" charset="0"/>
            </a:rPr>
            <a:t>Fácil de aprender, usar y recuperarse de errores. Diseño </a:t>
          </a:r>
          <a:r>
            <a:rPr lang="es-MX">
              <a:latin typeface="Arial Narrow" panose="020B0606020202030204" pitchFamily="34" charset="0"/>
            </a:rPr>
            <a:t>intuitivo.</a:t>
          </a:r>
          <a:endParaRPr lang="es-MX" dirty="0"/>
        </a:p>
      </dgm:t>
    </dgm:pt>
    <dgm:pt modelId="{24E1BF86-3D6F-4E04-BFD9-2BB1DB2CDD40}" type="parTrans" cxnId="{06F15F67-4562-4B82-8EBF-7E8C12EECAD9}">
      <dgm:prSet/>
      <dgm:spPr/>
      <dgm:t>
        <a:bodyPr/>
        <a:lstStyle/>
        <a:p>
          <a:endParaRPr lang="es-MX"/>
        </a:p>
      </dgm:t>
    </dgm:pt>
    <dgm:pt modelId="{5BB85BA0-C6EC-4912-A09B-12AB31C8F701}" type="sibTrans" cxnId="{06F15F67-4562-4B82-8EBF-7E8C12EECAD9}">
      <dgm:prSet/>
      <dgm:spPr/>
      <dgm:t>
        <a:bodyPr/>
        <a:lstStyle/>
        <a:p>
          <a:endParaRPr lang="es-MX"/>
        </a:p>
      </dgm:t>
    </dgm:pt>
    <dgm:pt modelId="{3C907A95-C91B-4E6E-91C5-FBBFAFEE9475}">
      <dgm:prSet phldrT="[Text]" phldr="0"/>
      <dgm:spPr/>
      <dgm:t>
        <a:bodyPr/>
        <a:lstStyle/>
        <a:p>
          <a:r>
            <a:rPr lang="es-MX" dirty="0">
              <a:latin typeface="Arial Narrow" panose="020B0606020202030204" pitchFamily="34" charset="0"/>
            </a:rPr>
            <a:t>Confiabilidad</a:t>
          </a:r>
          <a:endParaRPr lang="es-MX" dirty="0"/>
        </a:p>
      </dgm:t>
    </dgm:pt>
    <dgm:pt modelId="{2F553AC0-11E4-462B-AD34-9F731DD474A3}" type="parTrans" cxnId="{5C824009-ED4E-4043-A1F1-A55CF426EB81}">
      <dgm:prSet/>
      <dgm:spPr/>
      <dgm:t>
        <a:bodyPr/>
        <a:lstStyle/>
        <a:p>
          <a:endParaRPr lang="es-MX"/>
        </a:p>
      </dgm:t>
    </dgm:pt>
    <dgm:pt modelId="{9C7E2E94-18C7-437F-901E-E8EE57188343}" type="sibTrans" cxnId="{5C824009-ED4E-4043-A1F1-A55CF426EB81}">
      <dgm:prSet/>
      <dgm:spPr/>
      <dgm:t>
        <a:bodyPr/>
        <a:lstStyle/>
        <a:p>
          <a:endParaRPr lang="es-MX"/>
        </a:p>
      </dgm:t>
    </dgm:pt>
    <dgm:pt modelId="{96A708CD-E14E-4DBD-86B3-A29C91000EC4}">
      <dgm:prSet phldrT="[Text]" phldr="0"/>
      <dgm:spPr/>
      <dgm:t>
        <a:bodyPr/>
        <a:lstStyle/>
        <a:p>
          <a:r>
            <a:rPr lang="es-MX" dirty="0">
              <a:latin typeface="Arial Narrow" panose="020B0606020202030204" pitchFamily="34" charset="0"/>
            </a:rPr>
            <a:t>Seguridad (Protección)</a:t>
          </a:r>
          <a:endParaRPr lang="es-MX" dirty="0"/>
        </a:p>
      </dgm:t>
    </dgm:pt>
    <dgm:pt modelId="{BC0D30E7-C1D4-428E-A086-DD6FE2E0FC4C}" type="parTrans" cxnId="{E49D6763-926D-4249-B8F4-6D0C6450A160}">
      <dgm:prSet/>
      <dgm:spPr/>
      <dgm:t>
        <a:bodyPr/>
        <a:lstStyle/>
        <a:p>
          <a:endParaRPr lang="es-MX"/>
        </a:p>
      </dgm:t>
    </dgm:pt>
    <dgm:pt modelId="{94AF3ED6-9869-45A3-B56C-BA05529EEA07}" type="sibTrans" cxnId="{E49D6763-926D-4249-B8F4-6D0C6450A160}">
      <dgm:prSet/>
      <dgm:spPr/>
      <dgm:t>
        <a:bodyPr/>
        <a:lstStyle/>
        <a:p>
          <a:endParaRPr lang="es-MX"/>
        </a:p>
      </dgm:t>
    </dgm:pt>
    <dgm:pt modelId="{E2A97AEA-3457-48EF-AB90-4DE0E4EC5608}">
      <dgm:prSet phldrT="[Text]" phldr="0"/>
      <dgm:spPr/>
      <dgm:t>
        <a:bodyPr/>
        <a:lstStyle/>
        <a:p>
          <a:r>
            <a:rPr lang="es-MX" dirty="0">
              <a:latin typeface="Arial Narrow" panose="020B0606020202030204" pitchFamily="34" charset="0"/>
            </a:rPr>
            <a:t>Mantenibilidad</a:t>
          </a:r>
          <a:endParaRPr lang="es-MX" dirty="0"/>
        </a:p>
      </dgm:t>
    </dgm:pt>
    <dgm:pt modelId="{5807A533-1A34-4486-BBC7-682FAB7BF4E7}" type="parTrans" cxnId="{D1B870A0-7C75-4D69-A993-642BFADF01A1}">
      <dgm:prSet/>
      <dgm:spPr/>
      <dgm:t>
        <a:bodyPr/>
        <a:lstStyle/>
        <a:p>
          <a:endParaRPr lang="es-MX"/>
        </a:p>
      </dgm:t>
    </dgm:pt>
    <dgm:pt modelId="{58DD24A9-CC88-478E-81EC-8A007CF381B1}" type="sibTrans" cxnId="{D1B870A0-7C75-4D69-A993-642BFADF01A1}">
      <dgm:prSet/>
      <dgm:spPr/>
      <dgm:t>
        <a:bodyPr/>
        <a:lstStyle/>
        <a:p>
          <a:endParaRPr lang="es-MX"/>
        </a:p>
      </dgm:t>
    </dgm:pt>
    <dgm:pt modelId="{52BD9627-4A2D-4C94-95C5-1DF6A1EECBD0}">
      <dgm:prSet phldrT="[Text]" phldr="0"/>
      <dgm:spPr/>
      <dgm:t>
        <a:bodyPr/>
        <a:lstStyle/>
        <a:p>
          <a:r>
            <a:rPr lang="es-MX">
              <a:latin typeface="Arial Narrow" panose="020B0606020202030204" pitchFamily="34" charset="0"/>
            </a:rPr>
            <a:t>Funciona sin fallos durante tiempo prolongado: disponibilidad, madurez, recuperación.</a:t>
          </a:r>
          <a:endParaRPr lang="es-MX" dirty="0"/>
        </a:p>
      </dgm:t>
    </dgm:pt>
    <dgm:pt modelId="{3161DA4D-35D9-4958-9049-D55B33016323}" type="parTrans" cxnId="{81140562-4BEE-48F6-A7CA-473DC40054AA}">
      <dgm:prSet/>
      <dgm:spPr/>
      <dgm:t>
        <a:bodyPr/>
        <a:lstStyle/>
        <a:p>
          <a:endParaRPr lang="es-MX"/>
        </a:p>
      </dgm:t>
    </dgm:pt>
    <dgm:pt modelId="{7660D0C4-39B2-455D-B321-38EE3FFCAF5D}" type="sibTrans" cxnId="{81140562-4BEE-48F6-A7CA-473DC40054AA}">
      <dgm:prSet/>
      <dgm:spPr/>
      <dgm:t>
        <a:bodyPr/>
        <a:lstStyle/>
        <a:p>
          <a:endParaRPr lang="es-MX"/>
        </a:p>
      </dgm:t>
    </dgm:pt>
    <dgm:pt modelId="{6373158D-F154-404A-8AE6-871C2DC42678}">
      <dgm:prSet phldrT="[Text]" phldr="0"/>
      <dgm:spPr/>
      <dgm:t>
        <a:bodyPr/>
        <a:lstStyle/>
        <a:p>
          <a:r>
            <a:rPr lang="es-MX" dirty="0">
              <a:latin typeface="Arial Narrow" panose="020B0606020202030204" pitchFamily="34" charset="0"/>
            </a:rPr>
            <a:t>Resiste accesos no autorizados: autenticación, cifrado, integridad de datos.</a:t>
          </a:r>
          <a:endParaRPr lang="es-MX" dirty="0"/>
        </a:p>
      </dgm:t>
    </dgm:pt>
    <dgm:pt modelId="{C42D1B15-9EFD-4CA7-AFC5-D03827130028}" type="parTrans" cxnId="{9CA35FFC-2DFD-4642-89FF-39F56F10A9ED}">
      <dgm:prSet/>
      <dgm:spPr/>
      <dgm:t>
        <a:bodyPr/>
        <a:lstStyle/>
        <a:p>
          <a:endParaRPr lang="es-MX"/>
        </a:p>
      </dgm:t>
    </dgm:pt>
    <dgm:pt modelId="{758860F0-295D-4168-8A26-AF0AD45151DB}" type="sibTrans" cxnId="{9CA35FFC-2DFD-4642-89FF-39F56F10A9ED}">
      <dgm:prSet/>
      <dgm:spPr/>
      <dgm:t>
        <a:bodyPr/>
        <a:lstStyle/>
        <a:p>
          <a:endParaRPr lang="es-MX"/>
        </a:p>
      </dgm:t>
    </dgm:pt>
    <dgm:pt modelId="{026B1F79-6873-4510-8493-8D2E077120B1}">
      <dgm:prSet phldrT="[Text]" phldr="0"/>
      <dgm:spPr/>
      <dgm:t>
        <a:bodyPr/>
        <a:lstStyle/>
        <a:p>
          <a:r>
            <a:rPr lang="es-MX" dirty="0">
              <a:latin typeface="Arial Narrow" panose="020B0606020202030204" pitchFamily="34" charset="0"/>
            </a:rPr>
            <a:t>Fácil de modificar, corregir o mejorar: modularidad, reusabilidad, análisis de errores.</a:t>
          </a:r>
          <a:endParaRPr lang="es-MX" dirty="0"/>
        </a:p>
      </dgm:t>
    </dgm:pt>
    <dgm:pt modelId="{9592C9B9-9277-4BA2-872D-57F1DD33E05C}" type="parTrans" cxnId="{C66F8CAC-0040-421C-848B-8D96FDF92FFF}">
      <dgm:prSet/>
      <dgm:spPr/>
      <dgm:t>
        <a:bodyPr/>
        <a:lstStyle/>
        <a:p>
          <a:endParaRPr lang="es-MX"/>
        </a:p>
      </dgm:t>
    </dgm:pt>
    <dgm:pt modelId="{D6B63CB0-54C0-4680-B865-D3FCCC633DB6}" type="sibTrans" cxnId="{C66F8CAC-0040-421C-848B-8D96FDF92FFF}">
      <dgm:prSet/>
      <dgm:spPr/>
      <dgm:t>
        <a:bodyPr/>
        <a:lstStyle/>
        <a:p>
          <a:endParaRPr lang="es-MX"/>
        </a:p>
      </dgm:t>
    </dgm:pt>
    <dgm:pt modelId="{3D2F524F-A31F-4FBA-ACB9-C4DCF05F4F43}">
      <dgm:prSet phldrT="[Text]" phldr="0"/>
      <dgm:spPr/>
      <dgm:t>
        <a:bodyPr/>
        <a:lstStyle/>
        <a:p>
          <a:r>
            <a:rPr lang="es-MX">
              <a:latin typeface="Arial Narrow" panose="020B0606020202030204" pitchFamily="34" charset="0"/>
            </a:rPr>
            <a:t>Portabilidad</a:t>
          </a:r>
          <a:endParaRPr lang="es-MX" dirty="0"/>
        </a:p>
      </dgm:t>
    </dgm:pt>
    <dgm:pt modelId="{B9FDC6F7-7622-4AE4-A402-71C563A65705}" type="parTrans" cxnId="{588D3AE7-9D68-444C-9725-657B5FAB1224}">
      <dgm:prSet/>
      <dgm:spPr/>
      <dgm:t>
        <a:bodyPr/>
        <a:lstStyle/>
        <a:p>
          <a:endParaRPr lang="es-MX"/>
        </a:p>
      </dgm:t>
    </dgm:pt>
    <dgm:pt modelId="{284A1FE2-A65F-4625-A1FE-D72AB8648475}" type="sibTrans" cxnId="{588D3AE7-9D68-444C-9725-657B5FAB1224}">
      <dgm:prSet/>
      <dgm:spPr/>
      <dgm:t>
        <a:bodyPr/>
        <a:lstStyle/>
        <a:p>
          <a:endParaRPr lang="es-MX"/>
        </a:p>
      </dgm:t>
    </dgm:pt>
    <dgm:pt modelId="{EAA9D378-F0CB-4BF7-949A-67781370C137}">
      <dgm:prSet phldrT="[Text]" phldr="0"/>
      <dgm:spPr/>
      <dgm:t>
        <a:bodyPr/>
        <a:lstStyle/>
        <a:p>
          <a:r>
            <a:rPr lang="es-MX" dirty="0">
              <a:latin typeface="Arial Narrow" panose="020B0606020202030204" pitchFamily="34" charset="0"/>
            </a:rPr>
            <a:t>Se adapta a diferentes entornos: </a:t>
          </a:r>
          <a:r>
            <a:rPr lang="es-MX" dirty="0" err="1">
              <a:latin typeface="Arial Narrow" panose="020B0606020202030204" pitchFamily="34" charset="0"/>
            </a:rPr>
            <a:t>instalabilidad</a:t>
          </a:r>
          <a:r>
            <a:rPr lang="es-MX" dirty="0">
              <a:latin typeface="Arial Narrow" panose="020B0606020202030204" pitchFamily="34" charset="0"/>
            </a:rPr>
            <a:t>, compatibilidad, reemplazo.</a:t>
          </a:r>
          <a:endParaRPr lang="es-MX" dirty="0"/>
        </a:p>
      </dgm:t>
    </dgm:pt>
    <dgm:pt modelId="{D6D7170B-ED22-477D-A1EE-6D2493A43071}" type="parTrans" cxnId="{95C3EF40-C42E-4718-A55D-201AB784E0A4}">
      <dgm:prSet/>
      <dgm:spPr/>
      <dgm:t>
        <a:bodyPr/>
        <a:lstStyle/>
        <a:p>
          <a:endParaRPr lang="es-MX"/>
        </a:p>
      </dgm:t>
    </dgm:pt>
    <dgm:pt modelId="{C4BC33B8-B0C7-45B4-B792-3D650BA2C058}" type="sibTrans" cxnId="{95C3EF40-C42E-4718-A55D-201AB784E0A4}">
      <dgm:prSet/>
      <dgm:spPr/>
      <dgm:t>
        <a:bodyPr/>
        <a:lstStyle/>
        <a:p>
          <a:endParaRPr lang="es-MX"/>
        </a:p>
      </dgm:t>
    </dgm:pt>
    <dgm:pt modelId="{D5340B11-A170-43C1-BBA6-E702C5FF789B}" type="pres">
      <dgm:prSet presAssocID="{C51F134C-A00C-498C-91B8-75C922BF1E97}" presName="Name0" presStyleCnt="0">
        <dgm:presLayoutVars>
          <dgm:chPref val="3"/>
          <dgm:dir/>
          <dgm:animLvl val="lvl"/>
          <dgm:resizeHandles/>
        </dgm:presLayoutVars>
      </dgm:prSet>
      <dgm:spPr/>
    </dgm:pt>
    <dgm:pt modelId="{14015CBF-D66D-4741-B0E5-E7C73C263C32}" type="pres">
      <dgm:prSet presAssocID="{F94B2294-14F4-4262-954D-61E0B599D4F1}" presName="horFlow" presStyleCnt="0"/>
      <dgm:spPr/>
    </dgm:pt>
    <dgm:pt modelId="{EE00C18E-6F23-4F49-8B6C-795270EE96DE}" type="pres">
      <dgm:prSet presAssocID="{F94B2294-14F4-4262-954D-61E0B599D4F1}" presName="bigChev" presStyleLbl="node1" presStyleIdx="0" presStyleCnt="7"/>
      <dgm:spPr/>
    </dgm:pt>
    <dgm:pt modelId="{0ECC3426-01AC-4035-9571-C7EE2DFCF2F7}" type="pres">
      <dgm:prSet presAssocID="{E47A1D36-8354-4342-823A-342D6D70C095}" presName="parTrans" presStyleCnt="0"/>
      <dgm:spPr/>
    </dgm:pt>
    <dgm:pt modelId="{6B0C4F12-7010-4178-A5B8-44896252422C}" type="pres">
      <dgm:prSet presAssocID="{312660DF-CC8E-452B-BE5D-4E0706BA9470}" presName="node" presStyleLbl="alignAccFollowNode1" presStyleIdx="0" presStyleCnt="7" custScaleX="605495">
        <dgm:presLayoutVars>
          <dgm:bulletEnabled val="1"/>
        </dgm:presLayoutVars>
      </dgm:prSet>
      <dgm:spPr/>
    </dgm:pt>
    <dgm:pt modelId="{9B08BCCF-CF5E-447F-BC8B-036066D92C5B}" type="pres">
      <dgm:prSet presAssocID="{F94B2294-14F4-4262-954D-61E0B599D4F1}" presName="vSp" presStyleCnt="0"/>
      <dgm:spPr/>
    </dgm:pt>
    <dgm:pt modelId="{C597CB8F-E005-4499-8704-559A22CF2C2D}" type="pres">
      <dgm:prSet presAssocID="{CD02A09B-7C2A-4798-B416-241E0D9DF827}" presName="horFlow" presStyleCnt="0"/>
      <dgm:spPr/>
    </dgm:pt>
    <dgm:pt modelId="{3D02C9DC-7579-4EF6-A136-05C694E84786}" type="pres">
      <dgm:prSet presAssocID="{CD02A09B-7C2A-4798-B416-241E0D9DF827}" presName="bigChev" presStyleLbl="node1" presStyleIdx="1" presStyleCnt="7"/>
      <dgm:spPr/>
    </dgm:pt>
    <dgm:pt modelId="{F967FF11-ED08-4A40-B70F-A208E96D1065}" type="pres">
      <dgm:prSet presAssocID="{0140AC25-FB9F-408D-97A0-F2B3704837FB}" presName="parTrans" presStyleCnt="0"/>
      <dgm:spPr/>
    </dgm:pt>
    <dgm:pt modelId="{649B6ECA-2334-4D7C-B831-1ED4C43B31D8}" type="pres">
      <dgm:prSet presAssocID="{FBBA6F77-CA4D-4E66-BDAA-788FDEFDE2D9}" presName="node" presStyleLbl="alignAccFollowNode1" presStyleIdx="1" presStyleCnt="7" custScaleX="605495">
        <dgm:presLayoutVars>
          <dgm:bulletEnabled val="1"/>
        </dgm:presLayoutVars>
      </dgm:prSet>
      <dgm:spPr/>
    </dgm:pt>
    <dgm:pt modelId="{F018A190-73AF-480B-B98C-F9305AC6FDD3}" type="pres">
      <dgm:prSet presAssocID="{CD02A09B-7C2A-4798-B416-241E0D9DF827}" presName="vSp" presStyleCnt="0"/>
      <dgm:spPr/>
    </dgm:pt>
    <dgm:pt modelId="{3E3B7033-2065-462F-8B50-C3C7D5AF75DC}" type="pres">
      <dgm:prSet presAssocID="{3335AF8C-71F5-43CC-91F2-FACDD51795E0}" presName="horFlow" presStyleCnt="0"/>
      <dgm:spPr/>
    </dgm:pt>
    <dgm:pt modelId="{9A73EE9A-0C7F-4384-8A6F-7582BBBA7A2F}" type="pres">
      <dgm:prSet presAssocID="{3335AF8C-71F5-43CC-91F2-FACDD51795E0}" presName="bigChev" presStyleLbl="node1" presStyleIdx="2" presStyleCnt="7"/>
      <dgm:spPr/>
    </dgm:pt>
    <dgm:pt modelId="{74952544-C1DE-4208-B015-3422BE96E71D}" type="pres">
      <dgm:prSet presAssocID="{24E1BF86-3D6F-4E04-BFD9-2BB1DB2CDD40}" presName="parTrans" presStyleCnt="0"/>
      <dgm:spPr/>
    </dgm:pt>
    <dgm:pt modelId="{E3A3169E-C5D5-403E-8681-AC6A6DFC102F}" type="pres">
      <dgm:prSet presAssocID="{A901D346-5FA6-4E6E-A4CA-D41687BB3622}" presName="node" presStyleLbl="alignAccFollowNode1" presStyleIdx="2" presStyleCnt="7" custScaleX="605495">
        <dgm:presLayoutVars>
          <dgm:bulletEnabled val="1"/>
        </dgm:presLayoutVars>
      </dgm:prSet>
      <dgm:spPr/>
    </dgm:pt>
    <dgm:pt modelId="{44959666-F9D6-492F-A5F4-E42294B34DC1}" type="pres">
      <dgm:prSet presAssocID="{3335AF8C-71F5-43CC-91F2-FACDD51795E0}" presName="vSp" presStyleCnt="0"/>
      <dgm:spPr/>
    </dgm:pt>
    <dgm:pt modelId="{5284C1B7-E26A-4556-8A9A-1867D6EFCF23}" type="pres">
      <dgm:prSet presAssocID="{3C907A95-C91B-4E6E-91C5-FBBFAFEE9475}" presName="horFlow" presStyleCnt="0"/>
      <dgm:spPr/>
    </dgm:pt>
    <dgm:pt modelId="{DDE4B4AE-66C6-4C39-BE7F-FDF61C0275FE}" type="pres">
      <dgm:prSet presAssocID="{3C907A95-C91B-4E6E-91C5-FBBFAFEE9475}" presName="bigChev" presStyleLbl="node1" presStyleIdx="3" presStyleCnt="7"/>
      <dgm:spPr/>
    </dgm:pt>
    <dgm:pt modelId="{300B2128-AD41-4576-9A81-6A09240D7DA0}" type="pres">
      <dgm:prSet presAssocID="{3161DA4D-35D9-4958-9049-D55B33016323}" presName="parTrans" presStyleCnt="0"/>
      <dgm:spPr/>
    </dgm:pt>
    <dgm:pt modelId="{0E7BF751-0307-4306-82FB-2D31E5F5D5AF}" type="pres">
      <dgm:prSet presAssocID="{52BD9627-4A2D-4C94-95C5-1DF6A1EECBD0}" presName="node" presStyleLbl="alignAccFollowNode1" presStyleIdx="3" presStyleCnt="7" custScaleX="605495">
        <dgm:presLayoutVars>
          <dgm:bulletEnabled val="1"/>
        </dgm:presLayoutVars>
      </dgm:prSet>
      <dgm:spPr/>
    </dgm:pt>
    <dgm:pt modelId="{D985F176-47F6-47A0-83E2-A9B36B7892A3}" type="pres">
      <dgm:prSet presAssocID="{3C907A95-C91B-4E6E-91C5-FBBFAFEE9475}" presName="vSp" presStyleCnt="0"/>
      <dgm:spPr/>
    </dgm:pt>
    <dgm:pt modelId="{DFEB8CDF-8842-4C5A-9F73-A5788E569BDE}" type="pres">
      <dgm:prSet presAssocID="{96A708CD-E14E-4DBD-86B3-A29C91000EC4}" presName="horFlow" presStyleCnt="0"/>
      <dgm:spPr/>
    </dgm:pt>
    <dgm:pt modelId="{D7255DBB-B9ED-48A4-8293-B4703C5DE910}" type="pres">
      <dgm:prSet presAssocID="{96A708CD-E14E-4DBD-86B3-A29C91000EC4}" presName="bigChev" presStyleLbl="node1" presStyleIdx="4" presStyleCnt="7"/>
      <dgm:spPr/>
    </dgm:pt>
    <dgm:pt modelId="{04235169-83EC-45AB-990D-BC40DBC32F55}" type="pres">
      <dgm:prSet presAssocID="{C42D1B15-9EFD-4CA7-AFC5-D03827130028}" presName="parTrans" presStyleCnt="0"/>
      <dgm:spPr/>
    </dgm:pt>
    <dgm:pt modelId="{B75FB051-C3E1-4B9C-BDA2-B927C53653AE}" type="pres">
      <dgm:prSet presAssocID="{6373158D-F154-404A-8AE6-871C2DC42678}" presName="node" presStyleLbl="alignAccFollowNode1" presStyleIdx="4" presStyleCnt="7" custScaleX="605495">
        <dgm:presLayoutVars>
          <dgm:bulletEnabled val="1"/>
        </dgm:presLayoutVars>
      </dgm:prSet>
      <dgm:spPr/>
    </dgm:pt>
    <dgm:pt modelId="{6D5B4D28-72D3-481D-85FE-0EF1A90520C3}" type="pres">
      <dgm:prSet presAssocID="{96A708CD-E14E-4DBD-86B3-A29C91000EC4}" presName="vSp" presStyleCnt="0"/>
      <dgm:spPr/>
    </dgm:pt>
    <dgm:pt modelId="{3188E6FB-5E90-485F-A026-E3C31C816D0A}" type="pres">
      <dgm:prSet presAssocID="{E2A97AEA-3457-48EF-AB90-4DE0E4EC5608}" presName="horFlow" presStyleCnt="0"/>
      <dgm:spPr/>
    </dgm:pt>
    <dgm:pt modelId="{838CD230-037C-4AA9-B5DB-6C8410AD74B1}" type="pres">
      <dgm:prSet presAssocID="{E2A97AEA-3457-48EF-AB90-4DE0E4EC5608}" presName="bigChev" presStyleLbl="node1" presStyleIdx="5" presStyleCnt="7"/>
      <dgm:spPr/>
    </dgm:pt>
    <dgm:pt modelId="{4DEC3AC6-3A6F-4E83-9FCE-64A1B64D68BF}" type="pres">
      <dgm:prSet presAssocID="{9592C9B9-9277-4BA2-872D-57F1DD33E05C}" presName="parTrans" presStyleCnt="0"/>
      <dgm:spPr/>
    </dgm:pt>
    <dgm:pt modelId="{8132D976-CB73-4B45-995B-D60DF67CAB23}" type="pres">
      <dgm:prSet presAssocID="{026B1F79-6873-4510-8493-8D2E077120B1}" presName="node" presStyleLbl="alignAccFollowNode1" presStyleIdx="5" presStyleCnt="7" custScaleX="605495">
        <dgm:presLayoutVars>
          <dgm:bulletEnabled val="1"/>
        </dgm:presLayoutVars>
      </dgm:prSet>
      <dgm:spPr/>
    </dgm:pt>
    <dgm:pt modelId="{7CE3C9B8-0D04-497B-8B33-3CF65B1DECDF}" type="pres">
      <dgm:prSet presAssocID="{E2A97AEA-3457-48EF-AB90-4DE0E4EC5608}" presName="vSp" presStyleCnt="0"/>
      <dgm:spPr/>
    </dgm:pt>
    <dgm:pt modelId="{35D29D26-69A8-4191-8F0F-20F6C7CEDE6B}" type="pres">
      <dgm:prSet presAssocID="{3D2F524F-A31F-4FBA-ACB9-C4DCF05F4F43}" presName="horFlow" presStyleCnt="0"/>
      <dgm:spPr/>
    </dgm:pt>
    <dgm:pt modelId="{B0D06C48-7BD5-473A-B59E-C93A06EC2B9E}" type="pres">
      <dgm:prSet presAssocID="{3D2F524F-A31F-4FBA-ACB9-C4DCF05F4F43}" presName="bigChev" presStyleLbl="node1" presStyleIdx="6" presStyleCnt="7"/>
      <dgm:spPr/>
    </dgm:pt>
    <dgm:pt modelId="{891C9EC5-E07C-4EE4-8A49-0BF3EF2F005D}" type="pres">
      <dgm:prSet presAssocID="{D6D7170B-ED22-477D-A1EE-6D2493A43071}" presName="parTrans" presStyleCnt="0"/>
      <dgm:spPr/>
    </dgm:pt>
    <dgm:pt modelId="{7982D2A0-96F4-46A5-BC2F-A4C08EF8E8A2}" type="pres">
      <dgm:prSet presAssocID="{EAA9D378-F0CB-4BF7-949A-67781370C137}" presName="node" presStyleLbl="alignAccFollowNode1" presStyleIdx="6" presStyleCnt="7" custScaleX="605495">
        <dgm:presLayoutVars>
          <dgm:bulletEnabled val="1"/>
        </dgm:presLayoutVars>
      </dgm:prSet>
      <dgm:spPr/>
    </dgm:pt>
  </dgm:ptLst>
  <dgm:cxnLst>
    <dgm:cxn modelId="{5C824009-ED4E-4043-A1F1-A55CF426EB81}" srcId="{C51F134C-A00C-498C-91B8-75C922BF1E97}" destId="{3C907A95-C91B-4E6E-91C5-FBBFAFEE9475}" srcOrd="3" destOrd="0" parTransId="{2F553AC0-11E4-462B-AD34-9F731DD474A3}" sibTransId="{9C7E2E94-18C7-437F-901E-E8EE57188343}"/>
    <dgm:cxn modelId="{AFEF4F0D-4BCE-4A61-8365-527F97005CD1}" type="presOf" srcId="{A901D346-5FA6-4E6E-A4CA-D41687BB3622}" destId="{E3A3169E-C5D5-403E-8681-AC6A6DFC102F}" srcOrd="0" destOrd="0" presId="urn:microsoft.com/office/officeart/2005/8/layout/lProcess3"/>
    <dgm:cxn modelId="{58C6C90F-E35C-4CC0-BCAD-F321705E200A}" srcId="{C51F134C-A00C-498C-91B8-75C922BF1E97}" destId="{F94B2294-14F4-4262-954D-61E0B599D4F1}" srcOrd="0" destOrd="0" parTransId="{798A8248-2157-45B6-AE27-B2F644068243}" sibTransId="{6E113171-363B-4A12-A8F3-76F9C830F9CB}"/>
    <dgm:cxn modelId="{21C35E14-5E4A-40E0-843E-21B71BB3EA31}" type="presOf" srcId="{E2A97AEA-3457-48EF-AB90-4DE0E4EC5608}" destId="{838CD230-037C-4AA9-B5DB-6C8410AD74B1}" srcOrd="0" destOrd="0" presId="urn:microsoft.com/office/officeart/2005/8/layout/lProcess3"/>
    <dgm:cxn modelId="{F178A117-942C-4214-A7BF-EC057025861D}" srcId="{C51F134C-A00C-498C-91B8-75C922BF1E97}" destId="{CD02A09B-7C2A-4798-B416-241E0D9DF827}" srcOrd="1" destOrd="0" parTransId="{74566B58-43FC-4266-912D-8CCECA79E3CC}" sibTransId="{CD4F547D-870E-4F98-A2CB-3B37B38AB76B}"/>
    <dgm:cxn modelId="{95C3EF40-C42E-4718-A55D-201AB784E0A4}" srcId="{3D2F524F-A31F-4FBA-ACB9-C4DCF05F4F43}" destId="{EAA9D378-F0CB-4BF7-949A-67781370C137}" srcOrd="0" destOrd="0" parTransId="{D6D7170B-ED22-477D-A1EE-6D2493A43071}" sibTransId="{C4BC33B8-B0C7-45B4-B792-3D650BA2C058}"/>
    <dgm:cxn modelId="{0DB0DA41-B10B-47F7-8889-F929809ED557}" type="presOf" srcId="{C51F134C-A00C-498C-91B8-75C922BF1E97}" destId="{D5340B11-A170-43C1-BBA6-E702C5FF789B}" srcOrd="0" destOrd="0" presId="urn:microsoft.com/office/officeart/2005/8/layout/lProcess3"/>
    <dgm:cxn modelId="{81140562-4BEE-48F6-A7CA-473DC40054AA}" srcId="{3C907A95-C91B-4E6E-91C5-FBBFAFEE9475}" destId="{52BD9627-4A2D-4C94-95C5-1DF6A1EECBD0}" srcOrd="0" destOrd="0" parTransId="{3161DA4D-35D9-4958-9049-D55B33016323}" sibTransId="{7660D0C4-39B2-455D-B321-38EE3FFCAF5D}"/>
    <dgm:cxn modelId="{FA31CC42-2612-43EA-B3E5-C029BCF87A48}" type="presOf" srcId="{3D2F524F-A31F-4FBA-ACB9-C4DCF05F4F43}" destId="{B0D06C48-7BD5-473A-B59E-C93A06EC2B9E}" srcOrd="0" destOrd="0" presId="urn:microsoft.com/office/officeart/2005/8/layout/lProcess3"/>
    <dgm:cxn modelId="{E49D6763-926D-4249-B8F4-6D0C6450A160}" srcId="{C51F134C-A00C-498C-91B8-75C922BF1E97}" destId="{96A708CD-E14E-4DBD-86B3-A29C91000EC4}" srcOrd="4" destOrd="0" parTransId="{BC0D30E7-C1D4-428E-A086-DD6FE2E0FC4C}" sibTransId="{94AF3ED6-9869-45A3-B56C-BA05529EEA07}"/>
    <dgm:cxn modelId="{6E901245-9DF9-48EB-8971-1ECFB1BA0818}" srcId="{C51F134C-A00C-498C-91B8-75C922BF1E97}" destId="{3335AF8C-71F5-43CC-91F2-FACDD51795E0}" srcOrd="2" destOrd="0" parTransId="{BC337329-68D1-4CD5-BFAF-588BB033C0D4}" sibTransId="{1F6A816D-AF91-4D26-A15E-4CBD1549F611}"/>
    <dgm:cxn modelId="{06F15F67-4562-4B82-8EBF-7E8C12EECAD9}" srcId="{3335AF8C-71F5-43CC-91F2-FACDD51795E0}" destId="{A901D346-5FA6-4E6E-A4CA-D41687BB3622}" srcOrd="0" destOrd="0" parTransId="{24E1BF86-3D6F-4E04-BFD9-2BB1DB2CDD40}" sibTransId="{5BB85BA0-C6EC-4912-A09B-12AB31C8F701}"/>
    <dgm:cxn modelId="{D9D46048-0CD8-4DAA-AC07-FEF7847AACCB}" type="presOf" srcId="{CD02A09B-7C2A-4798-B416-241E0D9DF827}" destId="{3D02C9DC-7579-4EF6-A136-05C694E84786}" srcOrd="0" destOrd="0" presId="urn:microsoft.com/office/officeart/2005/8/layout/lProcess3"/>
    <dgm:cxn modelId="{F6F2194D-D9E1-479A-9A46-6A66E991F203}" type="presOf" srcId="{026B1F79-6873-4510-8493-8D2E077120B1}" destId="{8132D976-CB73-4B45-995B-D60DF67CAB23}" srcOrd="0" destOrd="0" presId="urn:microsoft.com/office/officeart/2005/8/layout/lProcess3"/>
    <dgm:cxn modelId="{DCC66F6E-844C-4224-9E63-84FF9CF4968C}" type="presOf" srcId="{312660DF-CC8E-452B-BE5D-4E0706BA9470}" destId="{6B0C4F12-7010-4178-A5B8-44896252422C}" srcOrd="0" destOrd="0" presId="urn:microsoft.com/office/officeart/2005/8/layout/lProcess3"/>
    <dgm:cxn modelId="{69F45959-47D1-4429-A2F1-55CAD7569590}" type="presOf" srcId="{6373158D-F154-404A-8AE6-871C2DC42678}" destId="{B75FB051-C3E1-4B9C-BDA2-B927C53653AE}" srcOrd="0" destOrd="0" presId="urn:microsoft.com/office/officeart/2005/8/layout/lProcess3"/>
    <dgm:cxn modelId="{3B45EF95-2C98-4B60-A837-AFC87377871A}" type="presOf" srcId="{FBBA6F77-CA4D-4E66-BDAA-788FDEFDE2D9}" destId="{649B6ECA-2334-4D7C-B831-1ED4C43B31D8}" srcOrd="0" destOrd="0" presId="urn:microsoft.com/office/officeart/2005/8/layout/lProcess3"/>
    <dgm:cxn modelId="{D1B870A0-7C75-4D69-A993-642BFADF01A1}" srcId="{C51F134C-A00C-498C-91B8-75C922BF1E97}" destId="{E2A97AEA-3457-48EF-AB90-4DE0E4EC5608}" srcOrd="5" destOrd="0" parTransId="{5807A533-1A34-4486-BBC7-682FAB7BF4E7}" sibTransId="{58DD24A9-CC88-478E-81EC-8A007CF381B1}"/>
    <dgm:cxn modelId="{AD6179A1-D2CB-45C8-AECC-87FE559B8DCE}" type="presOf" srcId="{F94B2294-14F4-4262-954D-61E0B599D4F1}" destId="{EE00C18E-6F23-4F49-8B6C-795270EE96DE}" srcOrd="0" destOrd="0" presId="urn:microsoft.com/office/officeart/2005/8/layout/lProcess3"/>
    <dgm:cxn modelId="{C66F8CAC-0040-421C-848B-8D96FDF92FFF}" srcId="{E2A97AEA-3457-48EF-AB90-4DE0E4EC5608}" destId="{026B1F79-6873-4510-8493-8D2E077120B1}" srcOrd="0" destOrd="0" parTransId="{9592C9B9-9277-4BA2-872D-57F1DD33E05C}" sibTransId="{D6B63CB0-54C0-4680-B865-D3FCCC633DB6}"/>
    <dgm:cxn modelId="{3D4E76BD-08A4-4F4B-810D-52FBA979F2C1}" type="presOf" srcId="{3C907A95-C91B-4E6E-91C5-FBBFAFEE9475}" destId="{DDE4B4AE-66C6-4C39-BE7F-FDF61C0275FE}" srcOrd="0" destOrd="0" presId="urn:microsoft.com/office/officeart/2005/8/layout/lProcess3"/>
    <dgm:cxn modelId="{7FF953BE-45B1-4D8A-B079-DB31283AAFAB}" type="presOf" srcId="{3335AF8C-71F5-43CC-91F2-FACDD51795E0}" destId="{9A73EE9A-0C7F-4384-8A6F-7582BBBA7A2F}" srcOrd="0" destOrd="0" presId="urn:microsoft.com/office/officeart/2005/8/layout/lProcess3"/>
    <dgm:cxn modelId="{DA5916C0-2653-44E8-9698-AC097F499992}" type="presOf" srcId="{EAA9D378-F0CB-4BF7-949A-67781370C137}" destId="{7982D2A0-96F4-46A5-BC2F-A4C08EF8E8A2}" srcOrd="0" destOrd="0" presId="urn:microsoft.com/office/officeart/2005/8/layout/lProcess3"/>
    <dgm:cxn modelId="{5F426CC7-1FB3-404C-968B-0365A995F9F6}" type="presOf" srcId="{52BD9627-4A2D-4C94-95C5-1DF6A1EECBD0}" destId="{0E7BF751-0307-4306-82FB-2D31E5F5D5AF}" srcOrd="0" destOrd="0" presId="urn:microsoft.com/office/officeart/2005/8/layout/lProcess3"/>
    <dgm:cxn modelId="{08C7B3E4-3AE2-47EA-B3BE-EBBE501ED470}" type="presOf" srcId="{96A708CD-E14E-4DBD-86B3-A29C91000EC4}" destId="{D7255DBB-B9ED-48A4-8293-B4703C5DE910}" srcOrd="0" destOrd="0" presId="urn:microsoft.com/office/officeart/2005/8/layout/lProcess3"/>
    <dgm:cxn modelId="{588D3AE7-9D68-444C-9725-657B5FAB1224}" srcId="{C51F134C-A00C-498C-91B8-75C922BF1E97}" destId="{3D2F524F-A31F-4FBA-ACB9-C4DCF05F4F43}" srcOrd="6" destOrd="0" parTransId="{B9FDC6F7-7622-4AE4-A402-71C563A65705}" sibTransId="{284A1FE2-A65F-4625-A1FE-D72AB8648475}"/>
    <dgm:cxn modelId="{904460E9-17DE-4FB4-9EBA-EAD99D5D1B14}" srcId="{F94B2294-14F4-4262-954D-61E0B599D4F1}" destId="{312660DF-CC8E-452B-BE5D-4E0706BA9470}" srcOrd="0" destOrd="0" parTransId="{E47A1D36-8354-4342-823A-342D6D70C095}" sibTransId="{65114039-F7DE-4ED8-A5D7-5081C0C0B027}"/>
    <dgm:cxn modelId="{45E913F8-EA01-4473-9FFA-7EB26075ED8B}" srcId="{CD02A09B-7C2A-4798-B416-241E0D9DF827}" destId="{FBBA6F77-CA4D-4E66-BDAA-788FDEFDE2D9}" srcOrd="0" destOrd="0" parTransId="{0140AC25-FB9F-408D-97A0-F2B3704837FB}" sibTransId="{6EA19A44-AAF0-46F9-9238-065434CD87EB}"/>
    <dgm:cxn modelId="{9CA35FFC-2DFD-4642-89FF-39F56F10A9ED}" srcId="{96A708CD-E14E-4DBD-86B3-A29C91000EC4}" destId="{6373158D-F154-404A-8AE6-871C2DC42678}" srcOrd="0" destOrd="0" parTransId="{C42D1B15-9EFD-4CA7-AFC5-D03827130028}" sibTransId="{758860F0-295D-4168-8A26-AF0AD45151DB}"/>
    <dgm:cxn modelId="{9721AAC9-A0CA-4900-9D1B-41D4FC874CDC}" type="presParOf" srcId="{D5340B11-A170-43C1-BBA6-E702C5FF789B}" destId="{14015CBF-D66D-4741-B0E5-E7C73C263C32}" srcOrd="0" destOrd="0" presId="urn:microsoft.com/office/officeart/2005/8/layout/lProcess3"/>
    <dgm:cxn modelId="{932C19C5-41E7-4F8C-827A-3F772D98BF79}" type="presParOf" srcId="{14015CBF-D66D-4741-B0E5-E7C73C263C32}" destId="{EE00C18E-6F23-4F49-8B6C-795270EE96DE}" srcOrd="0" destOrd="0" presId="urn:microsoft.com/office/officeart/2005/8/layout/lProcess3"/>
    <dgm:cxn modelId="{5AB7D198-26D0-457F-90B1-68E617EF3214}" type="presParOf" srcId="{14015CBF-D66D-4741-B0E5-E7C73C263C32}" destId="{0ECC3426-01AC-4035-9571-C7EE2DFCF2F7}" srcOrd="1" destOrd="0" presId="urn:microsoft.com/office/officeart/2005/8/layout/lProcess3"/>
    <dgm:cxn modelId="{7E5649EC-6497-4BF7-8BB0-C7FE27177464}" type="presParOf" srcId="{14015CBF-D66D-4741-B0E5-E7C73C263C32}" destId="{6B0C4F12-7010-4178-A5B8-44896252422C}" srcOrd="2" destOrd="0" presId="urn:microsoft.com/office/officeart/2005/8/layout/lProcess3"/>
    <dgm:cxn modelId="{46101E10-46FF-4E9D-85DC-DC51D241C7AF}" type="presParOf" srcId="{D5340B11-A170-43C1-BBA6-E702C5FF789B}" destId="{9B08BCCF-CF5E-447F-BC8B-036066D92C5B}" srcOrd="1" destOrd="0" presId="urn:microsoft.com/office/officeart/2005/8/layout/lProcess3"/>
    <dgm:cxn modelId="{2FB853A3-8BDE-490B-950E-AC77F7A4DA44}" type="presParOf" srcId="{D5340B11-A170-43C1-BBA6-E702C5FF789B}" destId="{C597CB8F-E005-4499-8704-559A22CF2C2D}" srcOrd="2" destOrd="0" presId="urn:microsoft.com/office/officeart/2005/8/layout/lProcess3"/>
    <dgm:cxn modelId="{A448E161-9680-4136-9913-D3C92FBFE654}" type="presParOf" srcId="{C597CB8F-E005-4499-8704-559A22CF2C2D}" destId="{3D02C9DC-7579-4EF6-A136-05C694E84786}" srcOrd="0" destOrd="0" presId="urn:microsoft.com/office/officeart/2005/8/layout/lProcess3"/>
    <dgm:cxn modelId="{40C404AC-DE71-4D03-96A6-21A00F40D5FA}" type="presParOf" srcId="{C597CB8F-E005-4499-8704-559A22CF2C2D}" destId="{F967FF11-ED08-4A40-B70F-A208E96D1065}" srcOrd="1" destOrd="0" presId="urn:microsoft.com/office/officeart/2005/8/layout/lProcess3"/>
    <dgm:cxn modelId="{27173501-4801-4A36-BFB4-3B064C6B596C}" type="presParOf" srcId="{C597CB8F-E005-4499-8704-559A22CF2C2D}" destId="{649B6ECA-2334-4D7C-B831-1ED4C43B31D8}" srcOrd="2" destOrd="0" presId="urn:microsoft.com/office/officeart/2005/8/layout/lProcess3"/>
    <dgm:cxn modelId="{C2609EDF-F31A-4D2F-AD92-EA2E8F37C7D5}" type="presParOf" srcId="{D5340B11-A170-43C1-BBA6-E702C5FF789B}" destId="{F018A190-73AF-480B-B98C-F9305AC6FDD3}" srcOrd="3" destOrd="0" presId="urn:microsoft.com/office/officeart/2005/8/layout/lProcess3"/>
    <dgm:cxn modelId="{F5379C0F-574C-4F47-AB2A-5B5429F1B1BC}" type="presParOf" srcId="{D5340B11-A170-43C1-BBA6-E702C5FF789B}" destId="{3E3B7033-2065-462F-8B50-C3C7D5AF75DC}" srcOrd="4" destOrd="0" presId="urn:microsoft.com/office/officeart/2005/8/layout/lProcess3"/>
    <dgm:cxn modelId="{F6C271C5-0001-44AC-8837-7E75714126F6}" type="presParOf" srcId="{3E3B7033-2065-462F-8B50-C3C7D5AF75DC}" destId="{9A73EE9A-0C7F-4384-8A6F-7582BBBA7A2F}" srcOrd="0" destOrd="0" presId="urn:microsoft.com/office/officeart/2005/8/layout/lProcess3"/>
    <dgm:cxn modelId="{6350B9D8-C87A-47A3-A584-12552F98A25E}" type="presParOf" srcId="{3E3B7033-2065-462F-8B50-C3C7D5AF75DC}" destId="{74952544-C1DE-4208-B015-3422BE96E71D}" srcOrd="1" destOrd="0" presId="urn:microsoft.com/office/officeart/2005/8/layout/lProcess3"/>
    <dgm:cxn modelId="{BE64865B-8E07-4453-8C6A-F2040AE12D91}" type="presParOf" srcId="{3E3B7033-2065-462F-8B50-C3C7D5AF75DC}" destId="{E3A3169E-C5D5-403E-8681-AC6A6DFC102F}" srcOrd="2" destOrd="0" presId="urn:microsoft.com/office/officeart/2005/8/layout/lProcess3"/>
    <dgm:cxn modelId="{6EABC493-59DC-4553-B593-7F4078C2B48C}" type="presParOf" srcId="{D5340B11-A170-43C1-BBA6-E702C5FF789B}" destId="{44959666-F9D6-492F-A5F4-E42294B34DC1}" srcOrd="5" destOrd="0" presId="urn:microsoft.com/office/officeart/2005/8/layout/lProcess3"/>
    <dgm:cxn modelId="{7C6F9991-2294-47C2-9B5E-4E879F079549}" type="presParOf" srcId="{D5340B11-A170-43C1-BBA6-E702C5FF789B}" destId="{5284C1B7-E26A-4556-8A9A-1867D6EFCF23}" srcOrd="6" destOrd="0" presId="urn:microsoft.com/office/officeart/2005/8/layout/lProcess3"/>
    <dgm:cxn modelId="{EF3AD69F-CE6B-460B-B348-9C0BE5D60605}" type="presParOf" srcId="{5284C1B7-E26A-4556-8A9A-1867D6EFCF23}" destId="{DDE4B4AE-66C6-4C39-BE7F-FDF61C0275FE}" srcOrd="0" destOrd="0" presId="urn:microsoft.com/office/officeart/2005/8/layout/lProcess3"/>
    <dgm:cxn modelId="{474A1266-AE9C-4E02-B2B1-DD9A10C1679F}" type="presParOf" srcId="{5284C1B7-E26A-4556-8A9A-1867D6EFCF23}" destId="{300B2128-AD41-4576-9A81-6A09240D7DA0}" srcOrd="1" destOrd="0" presId="urn:microsoft.com/office/officeart/2005/8/layout/lProcess3"/>
    <dgm:cxn modelId="{BB4EF9D3-5DF0-4591-9A04-8AB91BFEC88B}" type="presParOf" srcId="{5284C1B7-E26A-4556-8A9A-1867D6EFCF23}" destId="{0E7BF751-0307-4306-82FB-2D31E5F5D5AF}" srcOrd="2" destOrd="0" presId="urn:microsoft.com/office/officeart/2005/8/layout/lProcess3"/>
    <dgm:cxn modelId="{2A14A5BE-A42E-4228-90B0-09F4829DFE10}" type="presParOf" srcId="{D5340B11-A170-43C1-BBA6-E702C5FF789B}" destId="{D985F176-47F6-47A0-83E2-A9B36B7892A3}" srcOrd="7" destOrd="0" presId="urn:microsoft.com/office/officeart/2005/8/layout/lProcess3"/>
    <dgm:cxn modelId="{649924C5-44F4-4035-B2FF-F76BEEC191A3}" type="presParOf" srcId="{D5340B11-A170-43C1-BBA6-E702C5FF789B}" destId="{DFEB8CDF-8842-4C5A-9F73-A5788E569BDE}" srcOrd="8" destOrd="0" presId="urn:microsoft.com/office/officeart/2005/8/layout/lProcess3"/>
    <dgm:cxn modelId="{F9552A9E-4573-447F-B505-333945C3B10A}" type="presParOf" srcId="{DFEB8CDF-8842-4C5A-9F73-A5788E569BDE}" destId="{D7255DBB-B9ED-48A4-8293-B4703C5DE910}" srcOrd="0" destOrd="0" presId="urn:microsoft.com/office/officeart/2005/8/layout/lProcess3"/>
    <dgm:cxn modelId="{9E0919A6-36B8-4619-9481-83AB830343C8}" type="presParOf" srcId="{DFEB8CDF-8842-4C5A-9F73-A5788E569BDE}" destId="{04235169-83EC-45AB-990D-BC40DBC32F55}" srcOrd="1" destOrd="0" presId="urn:microsoft.com/office/officeart/2005/8/layout/lProcess3"/>
    <dgm:cxn modelId="{4D8ABBAB-031B-4E9C-8E51-AC5E939389CF}" type="presParOf" srcId="{DFEB8CDF-8842-4C5A-9F73-A5788E569BDE}" destId="{B75FB051-C3E1-4B9C-BDA2-B927C53653AE}" srcOrd="2" destOrd="0" presId="urn:microsoft.com/office/officeart/2005/8/layout/lProcess3"/>
    <dgm:cxn modelId="{7779FE5E-E090-47BE-A91D-913729120903}" type="presParOf" srcId="{D5340B11-A170-43C1-BBA6-E702C5FF789B}" destId="{6D5B4D28-72D3-481D-85FE-0EF1A90520C3}" srcOrd="9" destOrd="0" presId="urn:microsoft.com/office/officeart/2005/8/layout/lProcess3"/>
    <dgm:cxn modelId="{81A806ED-5DD2-4F3D-BBAF-713CEDB4DAC6}" type="presParOf" srcId="{D5340B11-A170-43C1-BBA6-E702C5FF789B}" destId="{3188E6FB-5E90-485F-A026-E3C31C816D0A}" srcOrd="10" destOrd="0" presId="urn:microsoft.com/office/officeart/2005/8/layout/lProcess3"/>
    <dgm:cxn modelId="{BA87AB92-108E-471B-85BB-0102BC2360AC}" type="presParOf" srcId="{3188E6FB-5E90-485F-A026-E3C31C816D0A}" destId="{838CD230-037C-4AA9-B5DB-6C8410AD74B1}" srcOrd="0" destOrd="0" presId="urn:microsoft.com/office/officeart/2005/8/layout/lProcess3"/>
    <dgm:cxn modelId="{F9555C73-E0BB-42B2-AD76-FD908A0E3BEF}" type="presParOf" srcId="{3188E6FB-5E90-485F-A026-E3C31C816D0A}" destId="{4DEC3AC6-3A6F-4E83-9FCE-64A1B64D68BF}" srcOrd="1" destOrd="0" presId="urn:microsoft.com/office/officeart/2005/8/layout/lProcess3"/>
    <dgm:cxn modelId="{9649D487-CDAC-4566-88FC-450106D014F0}" type="presParOf" srcId="{3188E6FB-5E90-485F-A026-E3C31C816D0A}" destId="{8132D976-CB73-4B45-995B-D60DF67CAB23}" srcOrd="2" destOrd="0" presId="urn:microsoft.com/office/officeart/2005/8/layout/lProcess3"/>
    <dgm:cxn modelId="{566BCD90-1664-4D62-BD85-BACA89835752}" type="presParOf" srcId="{D5340B11-A170-43C1-BBA6-E702C5FF789B}" destId="{7CE3C9B8-0D04-497B-8B33-3CF65B1DECDF}" srcOrd="11" destOrd="0" presId="urn:microsoft.com/office/officeart/2005/8/layout/lProcess3"/>
    <dgm:cxn modelId="{89BDD535-1496-4E51-BF50-D01256602D16}" type="presParOf" srcId="{D5340B11-A170-43C1-BBA6-E702C5FF789B}" destId="{35D29D26-69A8-4191-8F0F-20F6C7CEDE6B}" srcOrd="12" destOrd="0" presId="urn:microsoft.com/office/officeart/2005/8/layout/lProcess3"/>
    <dgm:cxn modelId="{30EC0DD3-F928-46FC-9C51-EFFB283ED27C}" type="presParOf" srcId="{35D29D26-69A8-4191-8F0F-20F6C7CEDE6B}" destId="{B0D06C48-7BD5-473A-B59E-C93A06EC2B9E}" srcOrd="0" destOrd="0" presId="urn:microsoft.com/office/officeart/2005/8/layout/lProcess3"/>
    <dgm:cxn modelId="{BCC51A8B-D3F4-44BA-8AFF-72DFDA7A1195}" type="presParOf" srcId="{35D29D26-69A8-4191-8F0F-20F6C7CEDE6B}" destId="{891C9EC5-E07C-4EE4-8A49-0BF3EF2F005D}" srcOrd="1" destOrd="0" presId="urn:microsoft.com/office/officeart/2005/8/layout/lProcess3"/>
    <dgm:cxn modelId="{AA578FC0-C7A9-45FB-ADBF-9DA1EC3C2D16}" type="presParOf" srcId="{35D29D26-69A8-4191-8F0F-20F6C7CEDE6B}" destId="{7982D2A0-96F4-46A5-BC2F-A4C08EF8E8A2}"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D53A2B-0490-4C32-A866-00F7F8CA0DF4}" type="doc">
      <dgm:prSet loTypeId="urn:microsoft.com/office/officeart/2005/8/layout/hList6" loCatId="list" qsTypeId="urn:microsoft.com/office/officeart/2005/8/quickstyle/simple5" qsCatId="simple" csTypeId="urn:microsoft.com/office/officeart/2005/8/colors/colorful3" csCatId="colorful" phldr="1"/>
      <dgm:spPr/>
      <dgm:t>
        <a:bodyPr/>
        <a:lstStyle/>
        <a:p>
          <a:endParaRPr lang="es-MX"/>
        </a:p>
      </dgm:t>
    </dgm:pt>
    <dgm:pt modelId="{96387C95-A716-421D-B3AD-0CAFE8672427}">
      <dgm:prSet phldrT="[Text]"/>
      <dgm:spPr/>
      <dgm:t>
        <a:bodyPr/>
        <a:lstStyle/>
        <a:p>
          <a:pPr>
            <a:buNone/>
          </a:pPr>
          <a:r>
            <a:rPr lang="es-MX" b="0" i="0" dirty="0">
              <a:latin typeface="Arial Narrow" panose="020B0606020202030204" pitchFamily="34" charset="0"/>
            </a:rPr>
            <a:t>Pruebas Automatizadas</a:t>
          </a:r>
        </a:p>
        <a:p>
          <a:pPr>
            <a:buNone/>
          </a:pPr>
          <a:endParaRPr lang="es-MX" dirty="0">
            <a:latin typeface="Arial Narrow" panose="020B0606020202030204" pitchFamily="34" charset="0"/>
          </a:endParaRPr>
        </a:p>
      </dgm:t>
    </dgm:pt>
    <dgm:pt modelId="{5502B97D-AE43-4246-83DA-6FFE54150785}" type="parTrans" cxnId="{CBAE3FC7-6D10-4727-8B6E-4C16908FF858}">
      <dgm:prSet/>
      <dgm:spPr/>
      <dgm:t>
        <a:bodyPr/>
        <a:lstStyle/>
        <a:p>
          <a:endParaRPr lang="es-MX">
            <a:latin typeface="Arial Narrow" panose="020B0606020202030204" pitchFamily="34" charset="0"/>
          </a:endParaRPr>
        </a:p>
      </dgm:t>
    </dgm:pt>
    <dgm:pt modelId="{83E10E77-3192-4C1D-8CBC-8FA3BFCB3985}" type="sibTrans" cxnId="{CBAE3FC7-6D10-4727-8B6E-4C16908FF858}">
      <dgm:prSet/>
      <dgm:spPr/>
      <dgm:t>
        <a:bodyPr/>
        <a:lstStyle/>
        <a:p>
          <a:endParaRPr lang="es-MX">
            <a:latin typeface="Arial Narrow" panose="020B0606020202030204" pitchFamily="34" charset="0"/>
          </a:endParaRPr>
        </a:p>
      </dgm:t>
    </dgm:pt>
    <dgm:pt modelId="{88C0B161-0970-485B-9BEA-FE0B34601EE6}">
      <dgm:prSet phldrT="[Text]"/>
      <dgm:spPr/>
      <dgm:t>
        <a:bodyPr/>
        <a:lstStyle/>
        <a:p>
          <a:pPr>
            <a:buFont typeface="Arial" panose="020B0604020202020204" pitchFamily="34" charset="0"/>
            <a:buChar char="•"/>
          </a:pPr>
          <a:r>
            <a:rPr lang="pt-BR" b="0" i="0" dirty="0">
              <a:latin typeface="Arial Narrow" panose="020B0606020202030204" pitchFamily="34" charset="0"/>
            </a:rPr>
            <a:t>Cobertura de código (% de líneas </a:t>
          </a:r>
          <a:r>
            <a:rPr lang="pt-BR" b="0" i="0" dirty="0" err="1">
              <a:latin typeface="Arial Narrow" panose="020B0606020202030204" pitchFamily="34" charset="0"/>
            </a:rPr>
            <a:t>probadas</a:t>
          </a:r>
          <a:r>
            <a:rPr lang="pt-BR" b="0" i="0" dirty="0">
              <a:latin typeface="Arial Narrow" panose="020B0606020202030204" pitchFamily="34" charset="0"/>
            </a:rPr>
            <a:t>)</a:t>
          </a:r>
          <a:endParaRPr lang="es-MX" dirty="0">
            <a:latin typeface="Arial Narrow" panose="020B0606020202030204" pitchFamily="34" charset="0"/>
          </a:endParaRPr>
        </a:p>
      </dgm:t>
    </dgm:pt>
    <dgm:pt modelId="{6230819C-D5CB-4395-8C74-FFEA888F0C62}" type="parTrans" cxnId="{09580D70-D4B0-414F-856F-B32D9A266D0F}">
      <dgm:prSet/>
      <dgm:spPr/>
      <dgm:t>
        <a:bodyPr/>
        <a:lstStyle/>
        <a:p>
          <a:endParaRPr lang="es-MX">
            <a:latin typeface="Arial Narrow" panose="020B0606020202030204" pitchFamily="34" charset="0"/>
          </a:endParaRPr>
        </a:p>
      </dgm:t>
    </dgm:pt>
    <dgm:pt modelId="{8C7B5F7A-0765-4E4C-A504-A7FBE426207F}" type="sibTrans" cxnId="{09580D70-D4B0-414F-856F-B32D9A266D0F}">
      <dgm:prSet/>
      <dgm:spPr/>
      <dgm:t>
        <a:bodyPr/>
        <a:lstStyle/>
        <a:p>
          <a:endParaRPr lang="es-MX">
            <a:latin typeface="Arial Narrow" panose="020B0606020202030204" pitchFamily="34" charset="0"/>
          </a:endParaRPr>
        </a:p>
      </dgm:t>
    </dgm:pt>
    <dgm:pt modelId="{DA4A8EE4-D7E8-48C7-9B56-10A97513B22E}">
      <dgm:prSet phldrT="[Text]"/>
      <dgm:spPr/>
      <dgm:t>
        <a:bodyPr/>
        <a:lstStyle/>
        <a:p>
          <a:pPr>
            <a:buNone/>
          </a:pPr>
          <a:r>
            <a:rPr lang="es-MX" b="0" i="0" dirty="0">
              <a:latin typeface="Arial Narrow" panose="020B0606020202030204" pitchFamily="34" charset="0"/>
            </a:rPr>
            <a:t>Métricas Técnicas</a:t>
          </a:r>
        </a:p>
        <a:p>
          <a:pPr>
            <a:buNone/>
          </a:pPr>
          <a:endParaRPr lang="es-MX" dirty="0">
            <a:latin typeface="Arial Narrow" panose="020B0606020202030204" pitchFamily="34" charset="0"/>
          </a:endParaRPr>
        </a:p>
      </dgm:t>
    </dgm:pt>
    <dgm:pt modelId="{FA6EDCEC-0E41-43DD-9510-0FAB8CB9905F}" type="parTrans" cxnId="{0623C702-942A-4FD5-8C57-CC9FE4D5BB84}">
      <dgm:prSet/>
      <dgm:spPr/>
      <dgm:t>
        <a:bodyPr/>
        <a:lstStyle/>
        <a:p>
          <a:endParaRPr lang="es-MX">
            <a:latin typeface="Arial Narrow" panose="020B0606020202030204" pitchFamily="34" charset="0"/>
          </a:endParaRPr>
        </a:p>
      </dgm:t>
    </dgm:pt>
    <dgm:pt modelId="{F54D4B4F-51C5-4D84-8438-38E6129194B6}" type="sibTrans" cxnId="{0623C702-942A-4FD5-8C57-CC9FE4D5BB84}">
      <dgm:prSet/>
      <dgm:spPr/>
      <dgm:t>
        <a:bodyPr/>
        <a:lstStyle/>
        <a:p>
          <a:endParaRPr lang="es-MX">
            <a:latin typeface="Arial Narrow" panose="020B0606020202030204" pitchFamily="34" charset="0"/>
          </a:endParaRPr>
        </a:p>
      </dgm:t>
    </dgm:pt>
    <dgm:pt modelId="{3B1F1C45-1777-438A-A7D2-4A1643E58D0F}">
      <dgm:prSet phldrT="[Text]"/>
      <dgm:spPr/>
      <dgm:t>
        <a:bodyPr/>
        <a:lstStyle/>
        <a:p>
          <a:pPr>
            <a:buFont typeface="Arial" panose="020B0604020202020204" pitchFamily="34" charset="0"/>
            <a:buChar char="•"/>
          </a:pPr>
          <a:r>
            <a:rPr lang="es-MX" b="0" i="0" dirty="0">
              <a:latin typeface="Arial Narrow" panose="020B0606020202030204" pitchFamily="34" charset="0"/>
            </a:rPr>
            <a:t>Tiempo de respuesta (&lt; 2 segundos ideal)</a:t>
          </a:r>
          <a:endParaRPr lang="es-MX" dirty="0">
            <a:latin typeface="Arial Narrow" panose="020B0606020202030204" pitchFamily="34" charset="0"/>
          </a:endParaRPr>
        </a:p>
      </dgm:t>
    </dgm:pt>
    <dgm:pt modelId="{7A96C2EC-9B87-431F-91AD-8865C8942CE9}" type="parTrans" cxnId="{A086E149-8611-4237-A413-6CEE64E87D24}">
      <dgm:prSet/>
      <dgm:spPr/>
      <dgm:t>
        <a:bodyPr/>
        <a:lstStyle/>
        <a:p>
          <a:endParaRPr lang="es-MX">
            <a:latin typeface="Arial Narrow" panose="020B0606020202030204" pitchFamily="34" charset="0"/>
          </a:endParaRPr>
        </a:p>
      </dgm:t>
    </dgm:pt>
    <dgm:pt modelId="{4C7C5195-C225-47FE-8700-7AC26AC0D833}" type="sibTrans" cxnId="{A086E149-8611-4237-A413-6CEE64E87D24}">
      <dgm:prSet/>
      <dgm:spPr/>
      <dgm:t>
        <a:bodyPr/>
        <a:lstStyle/>
        <a:p>
          <a:endParaRPr lang="es-MX">
            <a:latin typeface="Arial Narrow" panose="020B0606020202030204" pitchFamily="34" charset="0"/>
          </a:endParaRPr>
        </a:p>
      </dgm:t>
    </dgm:pt>
    <dgm:pt modelId="{3315D8C0-7FF1-4B99-837B-DB8B9A4693E1}">
      <dgm:prSet phldrT="[Text]"/>
      <dgm:spPr/>
      <dgm:t>
        <a:bodyPr/>
        <a:lstStyle/>
        <a:p>
          <a:pPr>
            <a:buNone/>
          </a:pPr>
          <a:r>
            <a:rPr lang="es-MX" b="0" i="0" dirty="0">
              <a:latin typeface="Arial Narrow" panose="020B0606020202030204" pitchFamily="34" charset="0"/>
            </a:rPr>
            <a:t>Prácticas de Desarrollo</a:t>
          </a:r>
        </a:p>
        <a:p>
          <a:pPr>
            <a:buNone/>
          </a:pPr>
          <a:endParaRPr lang="es-MX" dirty="0">
            <a:latin typeface="Arial Narrow" panose="020B0606020202030204" pitchFamily="34" charset="0"/>
          </a:endParaRPr>
        </a:p>
      </dgm:t>
    </dgm:pt>
    <dgm:pt modelId="{3544115E-93D8-4AE3-87FF-F08A4A11FAB7}" type="parTrans" cxnId="{A573D5A4-003B-43AE-A2C8-8339B0897C3F}">
      <dgm:prSet/>
      <dgm:spPr/>
      <dgm:t>
        <a:bodyPr/>
        <a:lstStyle/>
        <a:p>
          <a:endParaRPr lang="es-MX">
            <a:latin typeface="Arial Narrow" panose="020B0606020202030204" pitchFamily="34" charset="0"/>
          </a:endParaRPr>
        </a:p>
      </dgm:t>
    </dgm:pt>
    <dgm:pt modelId="{F8C23122-8056-4F60-86DA-ADAF27BABF3E}" type="sibTrans" cxnId="{A573D5A4-003B-43AE-A2C8-8339B0897C3F}">
      <dgm:prSet/>
      <dgm:spPr/>
      <dgm:t>
        <a:bodyPr/>
        <a:lstStyle/>
        <a:p>
          <a:endParaRPr lang="es-MX">
            <a:latin typeface="Arial Narrow" panose="020B0606020202030204" pitchFamily="34" charset="0"/>
          </a:endParaRPr>
        </a:p>
      </dgm:t>
    </dgm:pt>
    <dgm:pt modelId="{DE58CA6B-EBD4-4074-A780-503768477454}">
      <dgm:prSet phldrT="[Text]"/>
      <dgm:spPr/>
      <dgm:t>
        <a:bodyPr/>
        <a:lstStyle/>
        <a:p>
          <a:pPr>
            <a:buNone/>
          </a:pPr>
          <a:r>
            <a:rPr lang="es-MX" b="0" i="0" dirty="0">
              <a:latin typeface="Arial Narrow" panose="020B0606020202030204" pitchFamily="34" charset="0"/>
            </a:rPr>
            <a:t>Experiencia del Usuario (UX)</a:t>
          </a:r>
        </a:p>
        <a:p>
          <a:pPr>
            <a:buNone/>
          </a:pPr>
          <a:endParaRPr lang="es-MX" dirty="0">
            <a:latin typeface="Arial Narrow" panose="020B0606020202030204" pitchFamily="34" charset="0"/>
          </a:endParaRPr>
        </a:p>
      </dgm:t>
    </dgm:pt>
    <dgm:pt modelId="{E1D14213-AAEA-41CF-B988-D514114F0A24}" type="parTrans" cxnId="{FD63E27E-81DF-4854-B58C-881E60BCA4B9}">
      <dgm:prSet/>
      <dgm:spPr/>
      <dgm:t>
        <a:bodyPr/>
        <a:lstStyle/>
        <a:p>
          <a:endParaRPr lang="es-MX">
            <a:latin typeface="Arial Narrow" panose="020B0606020202030204" pitchFamily="34" charset="0"/>
          </a:endParaRPr>
        </a:p>
      </dgm:t>
    </dgm:pt>
    <dgm:pt modelId="{EDC8ACDB-1604-486F-AC5C-DBDF9628802C}" type="sibTrans" cxnId="{FD63E27E-81DF-4854-B58C-881E60BCA4B9}">
      <dgm:prSet/>
      <dgm:spPr/>
      <dgm:t>
        <a:bodyPr/>
        <a:lstStyle/>
        <a:p>
          <a:endParaRPr lang="es-MX">
            <a:latin typeface="Arial Narrow" panose="020B0606020202030204" pitchFamily="34" charset="0"/>
          </a:endParaRPr>
        </a:p>
      </dgm:t>
    </dgm:pt>
    <dgm:pt modelId="{6086058E-5461-4ABE-A39E-B02865362476}">
      <dgm:prSet phldrT="[Text]"/>
      <dgm:spPr/>
      <dgm:t>
        <a:bodyPr/>
        <a:lstStyle/>
        <a:p>
          <a:pPr>
            <a:buFont typeface="Arial" panose="020B0604020202020204" pitchFamily="34" charset="0"/>
            <a:buChar char="•"/>
          </a:pPr>
          <a:r>
            <a:rPr lang="es-MX" b="0" i="0" dirty="0">
              <a:latin typeface="Arial Narrow" panose="020B0606020202030204" pitchFamily="34" charset="0"/>
            </a:rPr>
            <a:t>Tiempo promedio para completar una tarea</a:t>
          </a:r>
          <a:endParaRPr lang="es-MX" dirty="0">
            <a:latin typeface="Arial Narrow" panose="020B0606020202030204" pitchFamily="34" charset="0"/>
          </a:endParaRPr>
        </a:p>
      </dgm:t>
    </dgm:pt>
    <dgm:pt modelId="{A40039B6-4048-4DA1-A58F-5323CE342699}" type="parTrans" cxnId="{976DDE4E-6797-4977-B3ED-84CE5F47C2D0}">
      <dgm:prSet/>
      <dgm:spPr/>
      <dgm:t>
        <a:bodyPr/>
        <a:lstStyle/>
        <a:p>
          <a:endParaRPr lang="es-MX">
            <a:latin typeface="Arial Narrow" panose="020B0606020202030204" pitchFamily="34" charset="0"/>
          </a:endParaRPr>
        </a:p>
      </dgm:t>
    </dgm:pt>
    <dgm:pt modelId="{3741160C-D406-4816-B62E-188541E71C48}" type="sibTrans" cxnId="{976DDE4E-6797-4977-B3ED-84CE5F47C2D0}">
      <dgm:prSet/>
      <dgm:spPr/>
      <dgm:t>
        <a:bodyPr/>
        <a:lstStyle/>
        <a:p>
          <a:endParaRPr lang="es-MX">
            <a:latin typeface="Arial Narrow" panose="020B0606020202030204" pitchFamily="34" charset="0"/>
          </a:endParaRPr>
        </a:p>
      </dgm:t>
    </dgm:pt>
    <dgm:pt modelId="{ED5F5F62-1D3D-4BB0-89EC-2D8CD792FB02}">
      <dgm:prSet/>
      <dgm:spPr/>
      <dgm:t>
        <a:bodyPr/>
        <a:lstStyle/>
        <a:p>
          <a:pPr>
            <a:buFont typeface="Arial" panose="020B0604020202020204" pitchFamily="34" charset="0"/>
            <a:buChar char="•"/>
          </a:pPr>
          <a:r>
            <a:rPr lang="es-MX" b="0" i="0">
              <a:latin typeface="Arial Narrow" panose="020B0606020202030204" pitchFamily="34" charset="0"/>
            </a:rPr>
            <a:t>Número de bugs encontrados vs. resueltos</a:t>
          </a:r>
        </a:p>
      </dgm:t>
    </dgm:pt>
    <dgm:pt modelId="{05E8E942-70C9-4E51-A272-1E9D4875FB04}" type="parTrans" cxnId="{3C1E43FE-BA55-4F8F-A5CA-15406951E9E4}">
      <dgm:prSet/>
      <dgm:spPr/>
      <dgm:t>
        <a:bodyPr/>
        <a:lstStyle/>
        <a:p>
          <a:endParaRPr lang="es-MX">
            <a:latin typeface="Arial Narrow" panose="020B0606020202030204" pitchFamily="34" charset="0"/>
          </a:endParaRPr>
        </a:p>
      </dgm:t>
    </dgm:pt>
    <dgm:pt modelId="{65FF0269-77B5-419C-A0E8-275212DA4D88}" type="sibTrans" cxnId="{3C1E43FE-BA55-4F8F-A5CA-15406951E9E4}">
      <dgm:prSet/>
      <dgm:spPr/>
      <dgm:t>
        <a:bodyPr/>
        <a:lstStyle/>
        <a:p>
          <a:endParaRPr lang="es-MX">
            <a:latin typeface="Arial Narrow" panose="020B0606020202030204" pitchFamily="34" charset="0"/>
          </a:endParaRPr>
        </a:p>
      </dgm:t>
    </dgm:pt>
    <dgm:pt modelId="{86D08348-656A-43E3-95D7-C034B489A68A}">
      <dgm:prSet/>
      <dgm:spPr/>
      <dgm:t>
        <a:bodyPr/>
        <a:lstStyle/>
        <a:p>
          <a:pPr>
            <a:buFont typeface="Arial" panose="020B0604020202020204" pitchFamily="34" charset="0"/>
            <a:buChar char="•"/>
          </a:pPr>
          <a:r>
            <a:rPr lang="es-MX" b="0" i="0">
              <a:latin typeface="Arial Narrow" panose="020B0606020202030204" pitchFamily="34" charset="0"/>
            </a:rPr>
            <a:t>Uso de CPU/memoria bajo condiciones máximas</a:t>
          </a:r>
        </a:p>
      </dgm:t>
    </dgm:pt>
    <dgm:pt modelId="{5D25B638-5A75-430A-9EFD-1F8E9603B5DD}" type="parTrans" cxnId="{8A38B287-E1B9-4844-80B1-BC677F5D9288}">
      <dgm:prSet/>
      <dgm:spPr/>
      <dgm:t>
        <a:bodyPr/>
        <a:lstStyle/>
        <a:p>
          <a:endParaRPr lang="es-MX">
            <a:latin typeface="Arial Narrow" panose="020B0606020202030204" pitchFamily="34" charset="0"/>
          </a:endParaRPr>
        </a:p>
      </dgm:t>
    </dgm:pt>
    <dgm:pt modelId="{756B62CE-D9B2-45D5-A7AF-419D4E0021A4}" type="sibTrans" cxnId="{8A38B287-E1B9-4844-80B1-BC677F5D9288}">
      <dgm:prSet/>
      <dgm:spPr/>
      <dgm:t>
        <a:bodyPr/>
        <a:lstStyle/>
        <a:p>
          <a:endParaRPr lang="es-MX">
            <a:latin typeface="Arial Narrow" panose="020B0606020202030204" pitchFamily="34" charset="0"/>
          </a:endParaRPr>
        </a:p>
      </dgm:t>
    </dgm:pt>
    <dgm:pt modelId="{5D7CD59C-2967-4560-A1BE-1563F0B91143}">
      <dgm:prSet/>
      <dgm:spPr/>
      <dgm:t>
        <a:bodyPr/>
        <a:lstStyle/>
        <a:p>
          <a:pPr>
            <a:buFont typeface="Arial" panose="020B0604020202020204" pitchFamily="34" charset="0"/>
            <a:buChar char="•"/>
          </a:pPr>
          <a:r>
            <a:rPr lang="es-MX" b="0" i="0">
              <a:latin typeface="Arial Narrow" panose="020B0606020202030204" pitchFamily="34" charset="0"/>
            </a:rPr>
            <a:t>Rendimiento en pruebas de carga (ej. 1000 usuarios simultáneos)</a:t>
          </a:r>
        </a:p>
      </dgm:t>
    </dgm:pt>
    <dgm:pt modelId="{3EE4E09C-6E26-4DF5-AA9C-ECC4B14FAF81}" type="parTrans" cxnId="{6E45B127-C511-4756-BF41-3FBC69A55542}">
      <dgm:prSet/>
      <dgm:spPr/>
      <dgm:t>
        <a:bodyPr/>
        <a:lstStyle/>
        <a:p>
          <a:endParaRPr lang="es-MX">
            <a:latin typeface="Arial Narrow" panose="020B0606020202030204" pitchFamily="34" charset="0"/>
          </a:endParaRPr>
        </a:p>
      </dgm:t>
    </dgm:pt>
    <dgm:pt modelId="{1F7B3045-D5E4-4BEE-AAAE-3C93A3D82621}" type="sibTrans" cxnId="{6E45B127-C511-4756-BF41-3FBC69A55542}">
      <dgm:prSet/>
      <dgm:spPr/>
      <dgm:t>
        <a:bodyPr/>
        <a:lstStyle/>
        <a:p>
          <a:endParaRPr lang="es-MX">
            <a:latin typeface="Arial Narrow" panose="020B0606020202030204" pitchFamily="34" charset="0"/>
          </a:endParaRPr>
        </a:p>
      </dgm:t>
    </dgm:pt>
    <dgm:pt modelId="{03D0F621-81EA-45CE-8192-8D4DC926CEAC}">
      <dgm:prSet phldrT="[Text]"/>
      <dgm:spPr/>
      <dgm:t>
        <a:bodyPr/>
        <a:lstStyle/>
        <a:p>
          <a:pPr>
            <a:buFont typeface="Arial" panose="020B0604020202020204" pitchFamily="34" charset="0"/>
            <a:buChar char="•"/>
          </a:pPr>
          <a:r>
            <a:rPr lang="es-MX" b="0" i="0" dirty="0">
              <a:latin typeface="Arial Narrow" panose="020B0606020202030204" pitchFamily="34" charset="0"/>
            </a:rPr>
            <a:t>Integración continua (CI/CD)</a:t>
          </a:r>
          <a:endParaRPr lang="es-MX" dirty="0">
            <a:latin typeface="Arial Narrow" panose="020B0606020202030204" pitchFamily="34" charset="0"/>
          </a:endParaRPr>
        </a:p>
      </dgm:t>
    </dgm:pt>
    <dgm:pt modelId="{999024A7-9DA3-48EB-BFF3-A3F23572BCF4}" type="parTrans" cxnId="{F6D9769B-EFE9-4A15-8B72-58C63FA69E29}">
      <dgm:prSet/>
      <dgm:spPr/>
      <dgm:t>
        <a:bodyPr/>
        <a:lstStyle/>
        <a:p>
          <a:endParaRPr lang="es-MX">
            <a:latin typeface="Arial Narrow" panose="020B0606020202030204" pitchFamily="34" charset="0"/>
          </a:endParaRPr>
        </a:p>
      </dgm:t>
    </dgm:pt>
    <dgm:pt modelId="{D7C499E6-99CE-477B-97B9-22282DEED95D}" type="sibTrans" cxnId="{F6D9769B-EFE9-4A15-8B72-58C63FA69E29}">
      <dgm:prSet/>
      <dgm:spPr/>
      <dgm:t>
        <a:bodyPr/>
        <a:lstStyle/>
        <a:p>
          <a:endParaRPr lang="es-MX">
            <a:latin typeface="Arial Narrow" panose="020B0606020202030204" pitchFamily="34" charset="0"/>
          </a:endParaRPr>
        </a:p>
      </dgm:t>
    </dgm:pt>
    <dgm:pt modelId="{A9E0D9FF-AED1-4922-AE7F-38A97B615022}">
      <dgm:prSet/>
      <dgm:spPr/>
      <dgm:t>
        <a:bodyPr/>
        <a:lstStyle/>
        <a:p>
          <a:pPr>
            <a:buFont typeface="Arial" panose="020B0604020202020204" pitchFamily="34" charset="0"/>
            <a:buChar char="•"/>
          </a:pPr>
          <a:r>
            <a:rPr lang="es-MX" b="0" i="0" dirty="0">
              <a:latin typeface="Arial Narrow" panose="020B0606020202030204" pitchFamily="34" charset="0"/>
            </a:rPr>
            <a:t>Revisiones de código (</a:t>
          </a:r>
          <a:r>
            <a:rPr lang="es-MX" b="0" i="0" dirty="0" err="1">
              <a:latin typeface="Arial Narrow" panose="020B0606020202030204" pitchFamily="34" charset="0"/>
            </a:rPr>
            <a:t>code</a:t>
          </a:r>
          <a:r>
            <a:rPr lang="es-MX" b="0" i="0" dirty="0">
              <a:latin typeface="Arial Narrow" panose="020B0606020202030204" pitchFamily="34" charset="0"/>
            </a:rPr>
            <a:t> </a:t>
          </a:r>
          <a:r>
            <a:rPr lang="es-MX" b="0" i="0" dirty="0" err="1">
              <a:latin typeface="Arial Narrow" panose="020B0606020202030204" pitchFamily="34" charset="0"/>
            </a:rPr>
            <a:t>reviews</a:t>
          </a:r>
          <a:r>
            <a:rPr lang="es-MX" b="0" i="0" dirty="0">
              <a:latin typeface="Arial Narrow" panose="020B0606020202030204" pitchFamily="34" charset="0"/>
            </a:rPr>
            <a:t>)</a:t>
          </a:r>
        </a:p>
      </dgm:t>
    </dgm:pt>
    <dgm:pt modelId="{68FBCF40-B58E-4B8E-95E9-E7F9A7CDD7DD}" type="parTrans" cxnId="{3A4D1020-7648-49D4-B554-9622A9CAAD0B}">
      <dgm:prSet/>
      <dgm:spPr/>
      <dgm:t>
        <a:bodyPr/>
        <a:lstStyle/>
        <a:p>
          <a:endParaRPr lang="es-MX">
            <a:latin typeface="Arial Narrow" panose="020B0606020202030204" pitchFamily="34" charset="0"/>
          </a:endParaRPr>
        </a:p>
      </dgm:t>
    </dgm:pt>
    <dgm:pt modelId="{29B67977-D5AB-483D-B21B-82245D346FFC}" type="sibTrans" cxnId="{3A4D1020-7648-49D4-B554-9622A9CAAD0B}">
      <dgm:prSet/>
      <dgm:spPr/>
      <dgm:t>
        <a:bodyPr/>
        <a:lstStyle/>
        <a:p>
          <a:endParaRPr lang="es-MX">
            <a:latin typeface="Arial Narrow" panose="020B0606020202030204" pitchFamily="34" charset="0"/>
          </a:endParaRPr>
        </a:p>
      </dgm:t>
    </dgm:pt>
    <dgm:pt modelId="{C80FBBDB-B6FA-4E08-8205-D98C26E35FC8}">
      <dgm:prSet/>
      <dgm:spPr/>
      <dgm:t>
        <a:bodyPr/>
        <a:lstStyle/>
        <a:p>
          <a:pPr>
            <a:buFont typeface="Arial" panose="020B0604020202020204" pitchFamily="34" charset="0"/>
            <a:buChar char="•"/>
          </a:pPr>
          <a:r>
            <a:rPr lang="es-MX" b="0" i="0" dirty="0">
              <a:latin typeface="Arial Narrow" panose="020B0606020202030204" pitchFamily="34" charset="0"/>
            </a:rPr>
            <a:t>Uso de estándares (SOLID, limpieza de código)</a:t>
          </a:r>
        </a:p>
      </dgm:t>
    </dgm:pt>
    <dgm:pt modelId="{A628358C-C4AB-4BFE-AE5C-74A9E5FC7AB6}" type="parTrans" cxnId="{534958CB-DAEC-44F1-AD43-DA367C83A1C4}">
      <dgm:prSet/>
      <dgm:spPr/>
      <dgm:t>
        <a:bodyPr/>
        <a:lstStyle/>
        <a:p>
          <a:endParaRPr lang="es-MX">
            <a:latin typeface="Arial Narrow" panose="020B0606020202030204" pitchFamily="34" charset="0"/>
          </a:endParaRPr>
        </a:p>
      </dgm:t>
    </dgm:pt>
    <dgm:pt modelId="{575D8BE9-C9D6-48A2-AC67-6C21E58FBA31}" type="sibTrans" cxnId="{534958CB-DAEC-44F1-AD43-DA367C83A1C4}">
      <dgm:prSet/>
      <dgm:spPr/>
      <dgm:t>
        <a:bodyPr/>
        <a:lstStyle/>
        <a:p>
          <a:endParaRPr lang="es-MX">
            <a:latin typeface="Arial Narrow" panose="020B0606020202030204" pitchFamily="34" charset="0"/>
          </a:endParaRPr>
        </a:p>
      </dgm:t>
    </dgm:pt>
    <dgm:pt modelId="{46F2CB51-2040-4325-84D7-BE36827D1F71}">
      <dgm:prSet/>
      <dgm:spPr/>
      <dgm:t>
        <a:bodyPr/>
        <a:lstStyle/>
        <a:p>
          <a:pPr>
            <a:buFont typeface="Arial" panose="020B0604020202020204" pitchFamily="34" charset="0"/>
            <a:buChar char="•"/>
          </a:pPr>
          <a:r>
            <a:rPr lang="es-MX" b="0" i="0">
              <a:latin typeface="Arial Narrow" panose="020B0606020202030204" pitchFamily="34" charset="0"/>
            </a:rPr>
            <a:t>Tasa de abandono en procesos clave</a:t>
          </a:r>
        </a:p>
      </dgm:t>
    </dgm:pt>
    <dgm:pt modelId="{F4D18133-5FCD-4B26-8AAC-27D62C0CF54E}" type="parTrans" cxnId="{3AE76579-CA1D-4447-8197-5132096B39F0}">
      <dgm:prSet/>
      <dgm:spPr/>
      <dgm:t>
        <a:bodyPr/>
        <a:lstStyle/>
        <a:p>
          <a:endParaRPr lang="es-MX">
            <a:latin typeface="Arial Narrow" panose="020B0606020202030204" pitchFamily="34" charset="0"/>
          </a:endParaRPr>
        </a:p>
      </dgm:t>
    </dgm:pt>
    <dgm:pt modelId="{7DAC382A-3614-4FD5-A091-601F856453F6}" type="sibTrans" cxnId="{3AE76579-CA1D-4447-8197-5132096B39F0}">
      <dgm:prSet/>
      <dgm:spPr/>
      <dgm:t>
        <a:bodyPr/>
        <a:lstStyle/>
        <a:p>
          <a:endParaRPr lang="es-MX">
            <a:latin typeface="Arial Narrow" panose="020B0606020202030204" pitchFamily="34" charset="0"/>
          </a:endParaRPr>
        </a:p>
      </dgm:t>
    </dgm:pt>
    <dgm:pt modelId="{6C7B56C6-17CE-49AE-B280-BECB3BEC339D}">
      <dgm:prSet/>
      <dgm:spPr/>
      <dgm:t>
        <a:bodyPr/>
        <a:lstStyle/>
        <a:p>
          <a:pPr>
            <a:buFont typeface="Arial" panose="020B0604020202020204" pitchFamily="34" charset="0"/>
            <a:buChar char="•"/>
          </a:pPr>
          <a:r>
            <a:rPr lang="es-MX" b="0" i="0">
              <a:latin typeface="Arial Narrow" panose="020B0606020202030204" pitchFamily="34" charset="0"/>
            </a:rPr>
            <a:t>Encuestas de satisfacción (NPS, CSAT)</a:t>
          </a:r>
        </a:p>
      </dgm:t>
    </dgm:pt>
    <dgm:pt modelId="{E4654AC2-45F2-4EDA-8CB5-52D77751BB6C}" type="parTrans" cxnId="{33C12A67-B15A-4D61-A7CC-0258EAC6EBB3}">
      <dgm:prSet/>
      <dgm:spPr/>
      <dgm:t>
        <a:bodyPr/>
        <a:lstStyle/>
        <a:p>
          <a:endParaRPr lang="es-MX">
            <a:latin typeface="Arial Narrow" panose="020B0606020202030204" pitchFamily="34" charset="0"/>
          </a:endParaRPr>
        </a:p>
      </dgm:t>
    </dgm:pt>
    <dgm:pt modelId="{03DAC4C3-2B60-4396-9B28-1C758C6CE5DC}" type="sibTrans" cxnId="{33C12A67-B15A-4D61-A7CC-0258EAC6EBB3}">
      <dgm:prSet/>
      <dgm:spPr/>
      <dgm:t>
        <a:bodyPr/>
        <a:lstStyle/>
        <a:p>
          <a:endParaRPr lang="es-MX">
            <a:latin typeface="Arial Narrow" panose="020B0606020202030204" pitchFamily="34" charset="0"/>
          </a:endParaRPr>
        </a:p>
      </dgm:t>
    </dgm:pt>
    <dgm:pt modelId="{DB3A1A6D-F795-4D6F-928F-147080818CE0}" type="pres">
      <dgm:prSet presAssocID="{A8D53A2B-0490-4C32-A866-00F7F8CA0DF4}" presName="Name0" presStyleCnt="0">
        <dgm:presLayoutVars>
          <dgm:dir/>
          <dgm:resizeHandles val="exact"/>
        </dgm:presLayoutVars>
      </dgm:prSet>
      <dgm:spPr/>
    </dgm:pt>
    <dgm:pt modelId="{CC284021-9CE5-4940-92E5-8B0575FC2772}" type="pres">
      <dgm:prSet presAssocID="{96387C95-A716-421D-B3AD-0CAFE8672427}" presName="node" presStyleLbl="node1" presStyleIdx="0" presStyleCnt="4">
        <dgm:presLayoutVars>
          <dgm:bulletEnabled val="1"/>
        </dgm:presLayoutVars>
      </dgm:prSet>
      <dgm:spPr/>
    </dgm:pt>
    <dgm:pt modelId="{4B80CDD2-3327-4238-9FB6-90D3DEE8A40F}" type="pres">
      <dgm:prSet presAssocID="{83E10E77-3192-4C1D-8CBC-8FA3BFCB3985}" presName="sibTrans" presStyleCnt="0"/>
      <dgm:spPr/>
    </dgm:pt>
    <dgm:pt modelId="{7F6E6C7D-FCFA-45F9-AD9D-160BE2C372E1}" type="pres">
      <dgm:prSet presAssocID="{DA4A8EE4-D7E8-48C7-9B56-10A97513B22E}" presName="node" presStyleLbl="node1" presStyleIdx="1" presStyleCnt="4">
        <dgm:presLayoutVars>
          <dgm:bulletEnabled val="1"/>
        </dgm:presLayoutVars>
      </dgm:prSet>
      <dgm:spPr/>
    </dgm:pt>
    <dgm:pt modelId="{2E539EEA-85F4-4AAD-A501-9C7C3D159F6F}" type="pres">
      <dgm:prSet presAssocID="{F54D4B4F-51C5-4D84-8438-38E6129194B6}" presName="sibTrans" presStyleCnt="0"/>
      <dgm:spPr/>
    </dgm:pt>
    <dgm:pt modelId="{27057722-A876-4771-B4AF-F083F3813334}" type="pres">
      <dgm:prSet presAssocID="{3315D8C0-7FF1-4B99-837B-DB8B9A4693E1}" presName="node" presStyleLbl="node1" presStyleIdx="2" presStyleCnt="4">
        <dgm:presLayoutVars>
          <dgm:bulletEnabled val="1"/>
        </dgm:presLayoutVars>
      </dgm:prSet>
      <dgm:spPr/>
    </dgm:pt>
    <dgm:pt modelId="{8A4382D4-A22C-409A-BF4F-61450DF18F31}" type="pres">
      <dgm:prSet presAssocID="{F8C23122-8056-4F60-86DA-ADAF27BABF3E}" presName="sibTrans" presStyleCnt="0"/>
      <dgm:spPr/>
    </dgm:pt>
    <dgm:pt modelId="{1059FD1E-8925-4339-83FF-1D59C05F3547}" type="pres">
      <dgm:prSet presAssocID="{DE58CA6B-EBD4-4074-A780-503768477454}" presName="node" presStyleLbl="node1" presStyleIdx="3" presStyleCnt="4">
        <dgm:presLayoutVars>
          <dgm:bulletEnabled val="1"/>
        </dgm:presLayoutVars>
      </dgm:prSet>
      <dgm:spPr/>
    </dgm:pt>
  </dgm:ptLst>
  <dgm:cxnLst>
    <dgm:cxn modelId="{0623C702-942A-4FD5-8C57-CC9FE4D5BB84}" srcId="{A8D53A2B-0490-4C32-A866-00F7F8CA0DF4}" destId="{DA4A8EE4-D7E8-48C7-9B56-10A97513B22E}" srcOrd="1" destOrd="0" parTransId="{FA6EDCEC-0E41-43DD-9510-0FAB8CB9905F}" sibTransId="{F54D4B4F-51C5-4D84-8438-38E6129194B6}"/>
    <dgm:cxn modelId="{DD37FE0E-668C-489B-B6CD-E6BD63047BEE}" type="presOf" srcId="{6C7B56C6-17CE-49AE-B280-BECB3BEC339D}" destId="{1059FD1E-8925-4339-83FF-1D59C05F3547}" srcOrd="0" destOrd="3" presId="urn:microsoft.com/office/officeart/2005/8/layout/hList6"/>
    <dgm:cxn modelId="{3A4D1020-7648-49D4-B554-9622A9CAAD0B}" srcId="{3315D8C0-7FF1-4B99-837B-DB8B9A4693E1}" destId="{A9E0D9FF-AED1-4922-AE7F-38A97B615022}" srcOrd="1" destOrd="0" parTransId="{68FBCF40-B58E-4B8E-95E9-E7F9A7CDD7DD}" sibTransId="{29B67977-D5AB-483D-B21B-82245D346FFC}"/>
    <dgm:cxn modelId="{6E45B127-C511-4756-BF41-3FBC69A55542}" srcId="{DA4A8EE4-D7E8-48C7-9B56-10A97513B22E}" destId="{5D7CD59C-2967-4560-A1BE-1563F0B91143}" srcOrd="2" destOrd="0" parTransId="{3EE4E09C-6E26-4DF5-AA9C-ECC4B14FAF81}" sibTransId="{1F7B3045-D5E4-4BEE-AAAE-3C93A3D82621}"/>
    <dgm:cxn modelId="{9B30672C-E3D0-455A-A66E-F40D2F50587F}" type="presOf" srcId="{DE58CA6B-EBD4-4074-A780-503768477454}" destId="{1059FD1E-8925-4339-83FF-1D59C05F3547}" srcOrd="0" destOrd="0" presId="urn:microsoft.com/office/officeart/2005/8/layout/hList6"/>
    <dgm:cxn modelId="{2C41E75C-32E2-40BE-8665-6345DA1BDB31}" type="presOf" srcId="{A8D53A2B-0490-4C32-A866-00F7F8CA0DF4}" destId="{DB3A1A6D-F795-4D6F-928F-147080818CE0}" srcOrd="0" destOrd="0" presId="urn:microsoft.com/office/officeart/2005/8/layout/hList6"/>
    <dgm:cxn modelId="{80E9E45E-C9EB-4B36-A243-87B0D8AF511E}" type="presOf" srcId="{ED5F5F62-1D3D-4BB0-89EC-2D8CD792FB02}" destId="{CC284021-9CE5-4940-92E5-8B0575FC2772}" srcOrd="0" destOrd="2" presId="urn:microsoft.com/office/officeart/2005/8/layout/hList6"/>
    <dgm:cxn modelId="{D2C9E843-C99E-4A3E-9A26-93F301050807}" type="presOf" srcId="{6086058E-5461-4ABE-A39E-B02865362476}" destId="{1059FD1E-8925-4339-83FF-1D59C05F3547}" srcOrd="0" destOrd="1" presId="urn:microsoft.com/office/officeart/2005/8/layout/hList6"/>
    <dgm:cxn modelId="{33C12A67-B15A-4D61-A7CC-0258EAC6EBB3}" srcId="{DE58CA6B-EBD4-4074-A780-503768477454}" destId="{6C7B56C6-17CE-49AE-B280-BECB3BEC339D}" srcOrd="2" destOrd="0" parTransId="{E4654AC2-45F2-4EDA-8CB5-52D77751BB6C}" sibTransId="{03DAC4C3-2B60-4396-9B28-1C758C6CE5DC}"/>
    <dgm:cxn modelId="{A086E149-8611-4237-A413-6CEE64E87D24}" srcId="{DA4A8EE4-D7E8-48C7-9B56-10A97513B22E}" destId="{3B1F1C45-1777-438A-A7D2-4A1643E58D0F}" srcOrd="0" destOrd="0" parTransId="{7A96C2EC-9B87-431F-91AD-8865C8942CE9}" sibTransId="{4C7C5195-C225-47FE-8700-7AC26AC0D833}"/>
    <dgm:cxn modelId="{B62F6C6B-D401-4DC6-B1DE-375BFB60741D}" type="presOf" srcId="{86D08348-656A-43E3-95D7-C034B489A68A}" destId="{7F6E6C7D-FCFA-45F9-AD9D-160BE2C372E1}" srcOrd="0" destOrd="2" presId="urn:microsoft.com/office/officeart/2005/8/layout/hList6"/>
    <dgm:cxn modelId="{976DDE4E-6797-4977-B3ED-84CE5F47C2D0}" srcId="{DE58CA6B-EBD4-4074-A780-503768477454}" destId="{6086058E-5461-4ABE-A39E-B02865362476}" srcOrd="0" destOrd="0" parTransId="{A40039B6-4048-4DA1-A58F-5323CE342699}" sibTransId="{3741160C-D406-4816-B62E-188541E71C48}"/>
    <dgm:cxn modelId="{09580D70-D4B0-414F-856F-B32D9A266D0F}" srcId="{96387C95-A716-421D-B3AD-0CAFE8672427}" destId="{88C0B161-0970-485B-9BEA-FE0B34601EE6}" srcOrd="0" destOrd="0" parTransId="{6230819C-D5CB-4395-8C74-FFEA888F0C62}" sibTransId="{8C7B5F7A-0765-4E4C-A504-A7FBE426207F}"/>
    <dgm:cxn modelId="{3AE76579-CA1D-4447-8197-5132096B39F0}" srcId="{DE58CA6B-EBD4-4074-A780-503768477454}" destId="{46F2CB51-2040-4325-84D7-BE36827D1F71}" srcOrd="1" destOrd="0" parTransId="{F4D18133-5FCD-4B26-8AAC-27D62C0CF54E}" sibTransId="{7DAC382A-3614-4FD5-A091-601F856453F6}"/>
    <dgm:cxn modelId="{FD63E27E-81DF-4854-B58C-881E60BCA4B9}" srcId="{A8D53A2B-0490-4C32-A866-00F7F8CA0DF4}" destId="{DE58CA6B-EBD4-4074-A780-503768477454}" srcOrd="3" destOrd="0" parTransId="{E1D14213-AAEA-41CF-B988-D514114F0A24}" sibTransId="{EDC8ACDB-1604-486F-AC5C-DBDF9628802C}"/>
    <dgm:cxn modelId="{C8A50D82-86F6-473C-BA68-6694EDE5114A}" type="presOf" srcId="{5D7CD59C-2967-4560-A1BE-1563F0B91143}" destId="{7F6E6C7D-FCFA-45F9-AD9D-160BE2C372E1}" srcOrd="0" destOrd="3" presId="urn:microsoft.com/office/officeart/2005/8/layout/hList6"/>
    <dgm:cxn modelId="{8A38B287-E1B9-4844-80B1-BC677F5D9288}" srcId="{DA4A8EE4-D7E8-48C7-9B56-10A97513B22E}" destId="{86D08348-656A-43E3-95D7-C034B489A68A}" srcOrd="1" destOrd="0" parTransId="{5D25B638-5A75-430A-9EFD-1F8E9603B5DD}" sibTransId="{756B62CE-D9B2-45D5-A7AF-419D4E0021A4}"/>
    <dgm:cxn modelId="{F6D9769B-EFE9-4A15-8B72-58C63FA69E29}" srcId="{3315D8C0-7FF1-4B99-837B-DB8B9A4693E1}" destId="{03D0F621-81EA-45CE-8192-8D4DC926CEAC}" srcOrd="0" destOrd="0" parTransId="{999024A7-9DA3-48EB-BFF3-A3F23572BCF4}" sibTransId="{D7C499E6-99CE-477B-97B9-22282DEED95D}"/>
    <dgm:cxn modelId="{A573D5A4-003B-43AE-A2C8-8339B0897C3F}" srcId="{A8D53A2B-0490-4C32-A866-00F7F8CA0DF4}" destId="{3315D8C0-7FF1-4B99-837B-DB8B9A4693E1}" srcOrd="2" destOrd="0" parTransId="{3544115E-93D8-4AE3-87FF-F08A4A11FAB7}" sibTransId="{F8C23122-8056-4F60-86DA-ADAF27BABF3E}"/>
    <dgm:cxn modelId="{CBAE3FC7-6D10-4727-8B6E-4C16908FF858}" srcId="{A8D53A2B-0490-4C32-A866-00F7F8CA0DF4}" destId="{96387C95-A716-421D-B3AD-0CAFE8672427}" srcOrd="0" destOrd="0" parTransId="{5502B97D-AE43-4246-83DA-6FFE54150785}" sibTransId="{83E10E77-3192-4C1D-8CBC-8FA3BFCB3985}"/>
    <dgm:cxn modelId="{534958CB-DAEC-44F1-AD43-DA367C83A1C4}" srcId="{3315D8C0-7FF1-4B99-837B-DB8B9A4693E1}" destId="{C80FBBDB-B6FA-4E08-8205-D98C26E35FC8}" srcOrd="2" destOrd="0" parTransId="{A628358C-C4AB-4BFE-AE5C-74A9E5FC7AB6}" sibTransId="{575D8BE9-C9D6-48A2-AC67-6C21E58FBA31}"/>
    <dgm:cxn modelId="{EE4652D5-3B0E-44FE-A90F-BBC3C866FE32}" type="presOf" srcId="{DA4A8EE4-D7E8-48C7-9B56-10A97513B22E}" destId="{7F6E6C7D-FCFA-45F9-AD9D-160BE2C372E1}" srcOrd="0" destOrd="0" presId="urn:microsoft.com/office/officeart/2005/8/layout/hList6"/>
    <dgm:cxn modelId="{5674BCD5-25C1-43E6-ADA1-0810EA8BAAE5}" type="presOf" srcId="{88C0B161-0970-485B-9BEA-FE0B34601EE6}" destId="{CC284021-9CE5-4940-92E5-8B0575FC2772}" srcOrd="0" destOrd="1" presId="urn:microsoft.com/office/officeart/2005/8/layout/hList6"/>
    <dgm:cxn modelId="{8E2EC0D8-A423-43D0-BDC6-DF2723CD812E}" type="presOf" srcId="{03D0F621-81EA-45CE-8192-8D4DC926CEAC}" destId="{27057722-A876-4771-B4AF-F083F3813334}" srcOrd="0" destOrd="1" presId="urn:microsoft.com/office/officeart/2005/8/layout/hList6"/>
    <dgm:cxn modelId="{4A9E7CDB-7EA0-4190-AB0A-FAF1EE7A70A5}" type="presOf" srcId="{3B1F1C45-1777-438A-A7D2-4A1643E58D0F}" destId="{7F6E6C7D-FCFA-45F9-AD9D-160BE2C372E1}" srcOrd="0" destOrd="1" presId="urn:microsoft.com/office/officeart/2005/8/layout/hList6"/>
    <dgm:cxn modelId="{220A82EB-69FD-491E-A67D-F8A9ACC0459A}" type="presOf" srcId="{3315D8C0-7FF1-4B99-837B-DB8B9A4693E1}" destId="{27057722-A876-4771-B4AF-F083F3813334}" srcOrd="0" destOrd="0" presId="urn:microsoft.com/office/officeart/2005/8/layout/hList6"/>
    <dgm:cxn modelId="{3DC9A2EE-262D-4218-BAAF-1D0EBAFDACB9}" type="presOf" srcId="{96387C95-A716-421D-B3AD-0CAFE8672427}" destId="{CC284021-9CE5-4940-92E5-8B0575FC2772}" srcOrd="0" destOrd="0" presId="urn:microsoft.com/office/officeart/2005/8/layout/hList6"/>
    <dgm:cxn modelId="{997B7CFD-3D33-47F5-9763-7D2DE6773C02}" type="presOf" srcId="{46F2CB51-2040-4325-84D7-BE36827D1F71}" destId="{1059FD1E-8925-4339-83FF-1D59C05F3547}" srcOrd="0" destOrd="2" presId="urn:microsoft.com/office/officeart/2005/8/layout/hList6"/>
    <dgm:cxn modelId="{D706DCFD-09E1-4A8B-9FCF-9C574A0A3F57}" type="presOf" srcId="{A9E0D9FF-AED1-4922-AE7F-38A97B615022}" destId="{27057722-A876-4771-B4AF-F083F3813334}" srcOrd="0" destOrd="2" presId="urn:microsoft.com/office/officeart/2005/8/layout/hList6"/>
    <dgm:cxn modelId="{3C1E43FE-BA55-4F8F-A5CA-15406951E9E4}" srcId="{96387C95-A716-421D-B3AD-0CAFE8672427}" destId="{ED5F5F62-1D3D-4BB0-89EC-2D8CD792FB02}" srcOrd="1" destOrd="0" parTransId="{05E8E942-70C9-4E51-A272-1E9D4875FB04}" sibTransId="{65FF0269-77B5-419C-A0E8-275212DA4D88}"/>
    <dgm:cxn modelId="{68D5D7FF-8A95-4F5E-ACAC-389614D7AED1}" type="presOf" srcId="{C80FBBDB-B6FA-4E08-8205-D98C26E35FC8}" destId="{27057722-A876-4771-B4AF-F083F3813334}" srcOrd="0" destOrd="3" presId="urn:microsoft.com/office/officeart/2005/8/layout/hList6"/>
    <dgm:cxn modelId="{9631CE97-5B8C-4429-8A2D-B3DDBE693926}" type="presParOf" srcId="{DB3A1A6D-F795-4D6F-928F-147080818CE0}" destId="{CC284021-9CE5-4940-92E5-8B0575FC2772}" srcOrd="0" destOrd="0" presId="urn:microsoft.com/office/officeart/2005/8/layout/hList6"/>
    <dgm:cxn modelId="{3B462314-0E39-4E5E-A426-D5D77FCA87CE}" type="presParOf" srcId="{DB3A1A6D-F795-4D6F-928F-147080818CE0}" destId="{4B80CDD2-3327-4238-9FB6-90D3DEE8A40F}" srcOrd="1" destOrd="0" presId="urn:microsoft.com/office/officeart/2005/8/layout/hList6"/>
    <dgm:cxn modelId="{4CC23B4D-A07E-40AA-80FC-40F95A51ACDA}" type="presParOf" srcId="{DB3A1A6D-F795-4D6F-928F-147080818CE0}" destId="{7F6E6C7D-FCFA-45F9-AD9D-160BE2C372E1}" srcOrd="2" destOrd="0" presId="urn:microsoft.com/office/officeart/2005/8/layout/hList6"/>
    <dgm:cxn modelId="{084136B8-ACD1-4612-9769-509B23BED2CE}" type="presParOf" srcId="{DB3A1A6D-F795-4D6F-928F-147080818CE0}" destId="{2E539EEA-85F4-4AAD-A501-9C7C3D159F6F}" srcOrd="3" destOrd="0" presId="urn:microsoft.com/office/officeart/2005/8/layout/hList6"/>
    <dgm:cxn modelId="{D1E0A608-ABE0-4D50-8953-A07B0AF32D7F}" type="presParOf" srcId="{DB3A1A6D-F795-4D6F-928F-147080818CE0}" destId="{27057722-A876-4771-B4AF-F083F3813334}" srcOrd="4" destOrd="0" presId="urn:microsoft.com/office/officeart/2005/8/layout/hList6"/>
    <dgm:cxn modelId="{B2E823AC-0F7C-44FD-B9E4-D2FD8F95D3DC}" type="presParOf" srcId="{DB3A1A6D-F795-4D6F-928F-147080818CE0}" destId="{8A4382D4-A22C-409A-BF4F-61450DF18F31}" srcOrd="5" destOrd="0" presId="urn:microsoft.com/office/officeart/2005/8/layout/hList6"/>
    <dgm:cxn modelId="{B203229F-37BE-4641-96C1-39A0B7751809}" type="presParOf" srcId="{DB3A1A6D-F795-4D6F-928F-147080818CE0}" destId="{1059FD1E-8925-4339-83FF-1D59C05F3547}"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65170D-517F-4CE7-9903-17528E17EACD}">
      <dsp:nvSpPr>
        <dsp:cNvPr id="0" name=""/>
        <dsp:cNvSpPr/>
      </dsp:nvSpPr>
      <dsp:spPr>
        <a:xfrm>
          <a:off x="2659422" y="1416299"/>
          <a:ext cx="1188267" cy="1188267"/>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es-MX" sz="2200" kern="1200" dirty="0"/>
            <a:t>Calidad</a:t>
          </a:r>
        </a:p>
      </dsp:txBody>
      <dsp:txXfrm>
        <a:off x="2717428" y="1474305"/>
        <a:ext cx="1072255" cy="1072255"/>
      </dsp:txXfrm>
    </dsp:sp>
    <dsp:sp modelId="{C7D5950F-6A19-4C7D-BB58-A76F61F7A246}">
      <dsp:nvSpPr>
        <dsp:cNvPr id="0" name=""/>
        <dsp:cNvSpPr/>
      </dsp:nvSpPr>
      <dsp:spPr>
        <a:xfrm rot="19519696">
          <a:off x="3804135" y="1459938"/>
          <a:ext cx="490550" cy="0"/>
        </a:xfrm>
        <a:custGeom>
          <a:avLst/>
          <a:gdLst/>
          <a:ahLst/>
          <a:cxnLst/>
          <a:rect l="0" t="0" r="0" b="0"/>
          <a:pathLst>
            <a:path>
              <a:moveTo>
                <a:pt x="0" y="0"/>
              </a:moveTo>
              <a:lnTo>
                <a:pt x="490550" y="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11B117-6036-444B-B50E-68B4BF92FCA2}">
      <dsp:nvSpPr>
        <dsp:cNvPr id="0" name=""/>
        <dsp:cNvSpPr/>
      </dsp:nvSpPr>
      <dsp:spPr>
        <a:xfrm>
          <a:off x="4158719" y="216027"/>
          <a:ext cx="1781433" cy="1104380"/>
        </a:xfrm>
        <a:prstGeom prst="roundRect">
          <a:avLst/>
        </a:prstGeom>
        <a:gradFill rotWithShape="0">
          <a:gsLst>
            <a:gs pos="0">
              <a:schemeClr val="accent4">
                <a:hueOff val="-1116192"/>
                <a:satOff val="6725"/>
                <a:lumOff val="539"/>
                <a:alphaOff val="0"/>
                <a:shade val="51000"/>
                <a:satMod val="130000"/>
              </a:schemeClr>
            </a:gs>
            <a:gs pos="80000">
              <a:schemeClr val="accent4">
                <a:hueOff val="-1116192"/>
                <a:satOff val="6725"/>
                <a:lumOff val="539"/>
                <a:alphaOff val="0"/>
                <a:shade val="93000"/>
                <a:satMod val="130000"/>
              </a:schemeClr>
            </a:gs>
            <a:gs pos="100000">
              <a:schemeClr val="accent4">
                <a:hueOff val="-1116192"/>
                <a:satOff val="6725"/>
                <a:lumOff val="53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488950">
            <a:lnSpc>
              <a:spcPct val="90000"/>
            </a:lnSpc>
            <a:spcBef>
              <a:spcPct val="0"/>
            </a:spcBef>
            <a:spcAft>
              <a:spcPct val="35000"/>
            </a:spcAft>
            <a:buNone/>
          </a:pPr>
          <a:r>
            <a:rPr lang="es-MX" sz="1100" kern="1200" dirty="0"/>
            <a:t>Grado en el que un conjunto de características cumple con los requisitos</a:t>
          </a:r>
        </a:p>
      </dsp:txBody>
      <dsp:txXfrm>
        <a:off x="4212630" y="269938"/>
        <a:ext cx="1673611" cy="996558"/>
      </dsp:txXfrm>
    </dsp:sp>
    <dsp:sp modelId="{5B979279-6956-4803-A0DE-71A7160845D0}">
      <dsp:nvSpPr>
        <dsp:cNvPr id="0" name=""/>
        <dsp:cNvSpPr/>
      </dsp:nvSpPr>
      <dsp:spPr>
        <a:xfrm rot="2466403">
          <a:off x="3786274" y="2692648"/>
          <a:ext cx="498268" cy="0"/>
        </a:xfrm>
        <a:custGeom>
          <a:avLst/>
          <a:gdLst/>
          <a:ahLst/>
          <a:cxnLst/>
          <a:rect l="0" t="0" r="0" b="0"/>
          <a:pathLst>
            <a:path>
              <a:moveTo>
                <a:pt x="0" y="0"/>
              </a:moveTo>
              <a:lnTo>
                <a:pt x="498268" y="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F65FDAE-455F-408F-B486-8B45B21E5A53}">
      <dsp:nvSpPr>
        <dsp:cNvPr id="0" name=""/>
        <dsp:cNvSpPr/>
      </dsp:nvSpPr>
      <dsp:spPr>
        <a:xfrm>
          <a:off x="4099600" y="2856445"/>
          <a:ext cx="1499719" cy="1093027"/>
        </a:xfrm>
        <a:prstGeom prst="roundRect">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s-MX" sz="1200" kern="1200" dirty="0"/>
            <a:t>Grado de Satisfacción que produce el cliente</a:t>
          </a:r>
        </a:p>
      </dsp:txBody>
      <dsp:txXfrm>
        <a:off x="4152957" y="2909802"/>
        <a:ext cx="1393005" cy="986313"/>
      </dsp:txXfrm>
    </dsp:sp>
    <dsp:sp modelId="{9306C3F5-FE9E-44C1-98BE-5948603D65C9}">
      <dsp:nvSpPr>
        <dsp:cNvPr id="0" name=""/>
        <dsp:cNvSpPr/>
      </dsp:nvSpPr>
      <dsp:spPr>
        <a:xfrm rot="8616620">
          <a:off x="1819469" y="2724379"/>
          <a:ext cx="930695" cy="0"/>
        </a:xfrm>
        <a:custGeom>
          <a:avLst/>
          <a:gdLst/>
          <a:ahLst/>
          <a:cxnLst/>
          <a:rect l="0" t="0" r="0" b="0"/>
          <a:pathLst>
            <a:path>
              <a:moveTo>
                <a:pt x="0" y="0"/>
              </a:moveTo>
              <a:lnTo>
                <a:pt x="930695" y="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9E180B9-221C-44D8-826D-3FA34EECC6A7}">
      <dsp:nvSpPr>
        <dsp:cNvPr id="0" name=""/>
        <dsp:cNvSpPr/>
      </dsp:nvSpPr>
      <dsp:spPr>
        <a:xfrm>
          <a:off x="211160" y="3000458"/>
          <a:ext cx="2054620" cy="990126"/>
        </a:xfrm>
        <a:prstGeom prst="roundRect">
          <a:avLst/>
        </a:prstGeom>
        <a:gradFill rotWithShape="0">
          <a:gsLst>
            <a:gs pos="0">
              <a:schemeClr val="accent4">
                <a:hueOff val="-3348577"/>
                <a:satOff val="20174"/>
                <a:lumOff val="1617"/>
                <a:alphaOff val="0"/>
                <a:shade val="51000"/>
                <a:satMod val="130000"/>
              </a:schemeClr>
            </a:gs>
            <a:gs pos="80000">
              <a:schemeClr val="accent4">
                <a:hueOff val="-3348577"/>
                <a:satOff val="20174"/>
                <a:lumOff val="1617"/>
                <a:alphaOff val="0"/>
                <a:shade val="93000"/>
                <a:satMod val="130000"/>
              </a:schemeClr>
            </a:gs>
            <a:gs pos="100000">
              <a:schemeClr val="accent4">
                <a:hueOff val="-3348577"/>
                <a:satOff val="20174"/>
                <a:lumOff val="1617"/>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577850">
            <a:lnSpc>
              <a:spcPct val="90000"/>
            </a:lnSpc>
            <a:spcBef>
              <a:spcPct val="0"/>
            </a:spcBef>
            <a:spcAft>
              <a:spcPct val="35000"/>
            </a:spcAft>
            <a:buNone/>
          </a:pPr>
          <a:r>
            <a:rPr lang="es-MX" sz="1300" kern="1200" dirty="0"/>
            <a:t>Satisfacción del cliente y conformidad con sus requisitos.</a:t>
          </a:r>
        </a:p>
      </dsp:txBody>
      <dsp:txXfrm>
        <a:off x="259494" y="3048792"/>
        <a:ext cx="1957952" cy="893458"/>
      </dsp:txXfrm>
    </dsp:sp>
    <dsp:sp modelId="{B4411BAB-84EE-4898-ABC1-FF4520CB6B67}">
      <dsp:nvSpPr>
        <dsp:cNvPr id="0" name=""/>
        <dsp:cNvSpPr/>
      </dsp:nvSpPr>
      <dsp:spPr>
        <a:xfrm rot="12658451">
          <a:off x="2100869" y="1499041"/>
          <a:ext cx="601435" cy="0"/>
        </a:xfrm>
        <a:custGeom>
          <a:avLst/>
          <a:gdLst/>
          <a:ahLst/>
          <a:cxnLst/>
          <a:rect l="0" t="0" r="0" b="0"/>
          <a:pathLst>
            <a:path>
              <a:moveTo>
                <a:pt x="0" y="0"/>
              </a:moveTo>
              <a:lnTo>
                <a:pt x="601435" y="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528DF7D-51FD-49E0-B8E5-D74E87633D28}">
      <dsp:nvSpPr>
        <dsp:cNvPr id="0" name=""/>
        <dsp:cNvSpPr/>
      </dsp:nvSpPr>
      <dsp:spPr>
        <a:xfrm>
          <a:off x="75855" y="196450"/>
          <a:ext cx="2223537" cy="1147825"/>
        </a:xfrm>
        <a:prstGeom prst="roundRect">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s-MX" sz="1200" kern="1200" dirty="0"/>
            <a:t>Conjunto de actividades que permiten satisfacer las necesidades de un colectivo</a:t>
          </a:r>
        </a:p>
      </dsp:txBody>
      <dsp:txXfrm>
        <a:off x="131887" y="252482"/>
        <a:ext cx="2111473" cy="10357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0C18E-6F23-4F49-8B6C-795270EE96DE}">
      <dsp:nvSpPr>
        <dsp:cNvPr id="0" name=""/>
        <dsp:cNvSpPr/>
      </dsp:nvSpPr>
      <dsp:spPr>
        <a:xfrm>
          <a:off x="903528" y="725"/>
          <a:ext cx="1134723" cy="453889"/>
        </a:xfrm>
        <a:prstGeom prst="chevron">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Funcionalidad</a:t>
          </a:r>
          <a:endParaRPr lang="es-MX" sz="900" kern="1200" dirty="0"/>
        </a:p>
      </dsp:txBody>
      <dsp:txXfrm>
        <a:off x="1130473" y="725"/>
        <a:ext cx="680834" cy="453889"/>
      </dsp:txXfrm>
    </dsp:sp>
    <dsp:sp modelId="{6B0C4F12-7010-4178-A5B8-44896252422C}">
      <dsp:nvSpPr>
        <dsp:cNvPr id="0" name=""/>
        <dsp:cNvSpPr/>
      </dsp:nvSpPr>
      <dsp:spPr>
        <a:xfrm>
          <a:off x="1890738" y="39305"/>
          <a:ext cx="5702677" cy="376728"/>
        </a:xfrm>
        <a:prstGeom prst="chevron">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Cumple con lo que el usuario necesita: precisión, interoperabilidad, seguridad funcional.</a:t>
          </a:r>
          <a:endParaRPr lang="es-MX" sz="1300" kern="1200" dirty="0"/>
        </a:p>
      </dsp:txBody>
      <dsp:txXfrm>
        <a:off x="2079102" y="39305"/>
        <a:ext cx="5325949" cy="376728"/>
      </dsp:txXfrm>
    </dsp:sp>
    <dsp:sp modelId="{3D02C9DC-7579-4EF6-A136-05C694E84786}">
      <dsp:nvSpPr>
        <dsp:cNvPr id="0" name=""/>
        <dsp:cNvSpPr/>
      </dsp:nvSpPr>
      <dsp:spPr>
        <a:xfrm>
          <a:off x="903528" y="518159"/>
          <a:ext cx="1134723" cy="453889"/>
        </a:xfrm>
        <a:prstGeom prst="chevron">
          <a:avLst/>
        </a:prstGeom>
        <a:solidFill>
          <a:schemeClr val="accent4">
            <a:hueOff val="-744128"/>
            <a:satOff val="4483"/>
            <a:lumOff val="3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Rendimiento (Eficiencia)</a:t>
          </a:r>
          <a:endParaRPr lang="es-MX" sz="900" kern="1200" dirty="0"/>
        </a:p>
      </dsp:txBody>
      <dsp:txXfrm>
        <a:off x="1130473" y="518159"/>
        <a:ext cx="680834" cy="453889"/>
      </dsp:txXfrm>
    </dsp:sp>
    <dsp:sp modelId="{649B6ECA-2334-4D7C-B831-1ED4C43B31D8}">
      <dsp:nvSpPr>
        <dsp:cNvPr id="0" name=""/>
        <dsp:cNvSpPr/>
      </dsp:nvSpPr>
      <dsp:spPr>
        <a:xfrm>
          <a:off x="1890738" y="556739"/>
          <a:ext cx="5702677" cy="376728"/>
        </a:xfrm>
        <a:prstGeom prst="chevron">
          <a:avLst/>
        </a:prstGeom>
        <a:solidFill>
          <a:schemeClr val="accent4">
            <a:tint val="40000"/>
            <a:alpha val="90000"/>
            <a:hueOff val="-657618"/>
            <a:satOff val="3693"/>
            <a:lumOff val="235"/>
            <a:alphaOff val="0"/>
          </a:schemeClr>
        </a:solidFill>
        <a:ln w="25400" cap="flat" cmpd="sng" algn="ctr">
          <a:solidFill>
            <a:schemeClr val="accent4">
              <a:tint val="40000"/>
              <a:alpha val="90000"/>
              <a:hueOff val="-657618"/>
              <a:satOff val="3693"/>
              <a:lumOff val="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Uso eficiente de recursos: velocidad, capacidad bajo carga, consumo </a:t>
          </a:r>
          <a:r>
            <a:rPr lang="es-MX" sz="1300" kern="1200">
              <a:latin typeface="Arial Narrow" panose="020B0606020202030204" pitchFamily="34" charset="0"/>
            </a:rPr>
            <a:t>de memoria</a:t>
          </a:r>
          <a:endParaRPr lang="es-MX" sz="1300" kern="1200" dirty="0"/>
        </a:p>
      </dsp:txBody>
      <dsp:txXfrm>
        <a:off x="2079102" y="556739"/>
        <a:ext cx="5325949" cy="376728"/>
      </dsp:txXfrm>
    </dsp:sp>
    <dsp:sp modelId="{9A73EE9A-0C7F-4384-8A6F-7582BBBA7A2F}">
      <dsp:nvSpPr>
        <dsp:cNvPr id="0" name=""/>
        <dsp:cNvSpPr/>
      </dsp:nvSpPr>
      <dsp:spPr>
        <a:xfrm>
          <a:off x="903528" y="1035593"/>
          <a:ext cx="1134723" cy="453889"/>
        </a:xfrm>
        <a:prstGeom prst="chevron">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Usabilidad</a:t>
          </a:r>
          <a:endParaRPr lang="es-MX" sz="900" kern="1200" dirty="0"/>
        </a:p>
      </dsp:txBody>
      <dsp:txXfrm>
        <a:off x="1130473" y="1035593"/>
        <a:ext cx="680834" cy="453889"/>
      </dsp:txXfrm>
    </dsp:sp>
    <dsp:sp modelId="{E3A3169E-C5D5-403E-8681-AC6A6DFC102F}">
      <dsp:nvSpPr>
        <dsp:cNvPr id="0" name=""/>
        <dsp:cNvSpPr/>
      </dsp:nvSpPr>
      <dsp:spPr>
        <a:xfrm>
          <a:off x="1890738" y="1074173"/>
          <a:ext cx="5702677" cy="376728"/>
        </a:xfrm>
        <a:prstGeom prst="chevron">
          <a:avLst/>
        </a:prstGeom>
        <a:solidFill>
          <a:schemeClr val="accent4">
            <a:tint val="40000"/>
            <a:alpha val="90000"/>
            <a:hueOff val="-1315237"/>
            <a:satOff val="7386"/>
            <a:lumOff val="469"/>
            <a:alphaOff val="0"/>
          </a:schemeClr>
        </a:solidFill>
        <a:ln w="25400" cap="flat" cmpd="sng" algn="ctr">
          <a:solidFill>
            <a:schemeClr val="accent4">
              <a:tint val="40000"/>
              <a:alpha val="90000"/>
              <a:hueOff val="-1315237"/>
              <a:satOff val="7386"/>
              <a:lumOff val="4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Fácil de aprender, usar y recuperarse de errores. Diseño </a:t>
          </a:r>
          <a:r>
            <a:rPr lang="es-MX" sz="1300" kern="1200">
              <a:latin typeface="Arial Narrow" panose="020B0606020202030204" pitchFamily="34" charset="0"/>
            </a:rPr>
            <a:t>intuitivo.</a:t>
          </a:r>
          <a:endParaRPr lang="es-MX" sz="1300" kern="1200" dirty="0"/>
        </a:p>
      </dsp:txBody>
      <dsp:txXfrm>
        <a:off x="2079102" y="1074173"/>
        <a:ext cx="5325949" cy="376728"/>
      </dsp:txXfrm>
    </dsp:sp>
    <dsp:sp modelId="{DDE4B4AE-66C6-4C39-BE7F-FDF61C0275FE}">
      <dsp:nvSpPr>
        <dsp:cNvPr id="0" name=""/>
        <dsp:cNvSpPr/>
      </dsp:nvSpPr>
      <dsp:spPr>
        <a:xfrm>
          <a:off x="903528" y="1553027"/>
          <a:ext cx="1134723" cy="453889"/>
        </a:xfrm>
        <a:prstGeom prst="chevron">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Confiabilidad</a:t>
          </a:r>
          <a:endParaRPr lang="es-MX" sz="900" kern="1200" dirty="0"/>
        </a:p>
      </dsp:txBody>
      <dsp:txXfrm>
        <a:off x="1130473" y="1553027"/>
        <a:ext cx="680834" cy="453889"/>
      </dsp:txXfrm>
    </dsp:sp>
    <dsp:sp modelId="{0E7BF751-0307-4306-82FB-2D31E5F5D5AF}">
      <dsp:nvSpPr>
        <dsp:cNvPr id="0" name=""/>
        <dsp:cNvSpPr/>
      </dsp:nvSpPr>
      <dsp:spPr>
        <a:xfrm>
          <a:off x="1890738" y="1591607"/>
          <a:ext cx="5702677" cy="376728"/>
        </a:xfrm>
        <a:prstGeom prst="chevron">
          <a:avLst/>
        </a:prstGeom>
        <a:solidFill>
          <a:schemeClr val="accent4">
            <a:tint val="40000"/>
            <a:alpha val="90000"/>
            <a:hueOff val="-1972855"/>
            <a:satOff val="11079"/>
            <a:lumOff val="704"/>
            <a:alphaOff val="0"/>
          </a:schemeClr>
        </a:solidFill>
        <a:ln w="25400" cap="flat" cmpd="sng" algn="ctr">
          <a:solidFill>
            <a:schemeClr val="accent4">
              <a:tint val="40000"/>
              <a:alpha val="90000"/>
              <a:hueOff val="-1972855"/>
              <a:satOff val="11079"/>
              <a:lumOff val="7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a:latin typeface="Arial Narrow" panose="020B0606020202030204" pitchFamily="34" charset="0"/>
            </a:rPr>
            <a:t>Funciona sin fallos durante tiempo prolongado: disponibilidad, madurez, recuperación.</a:t>
          </a:r>
          <a:endParaRPr lang="es-MX" sz="1300" kern="1200" dirty="0"/>
        </a:p>
      </dsp:txBody>
      <dsp:txXfrm>
        <a:off x="2079102" y="1591607"/>
        <a:ext cx="5325949" cy="376728"/>
      </dsp:txXfrm>
    </dsp:sp>
    <dsp:sp modelId="{D7255DBB-B9ED-48A4-8293-B4703C5DE910}">
      <dsp:nvSpPr>
        <dsp:cNvPr id="0" name=""/>
        <dsp:cNvSpPr/>
      </dsp:nvSpPr>
      <dsp:spPr>
        <a:xfrm>
          <a:off x="903528" y="2070461"/>
          <a:ext cx="1134723" cy="453889"/>
        </a:xfrm>
        <a:prstGeom prst="chevron">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Seguridad (Protección)</a:t>
          </a:r>
          <a:endParaRPr lang="es-MX" sz="900" kern="1200" dirty="0"/>
        </a:p>
      </dsp:txBody>
      <dsp:txXfrm>
        <a:off x="1130473" y="2070461"/>
        <a:ext cx="680834" cy="453889"/>
      </dsp:txXfrm>
    </dsp:sp>
    <dsp:sp modelId="{B75FB051-C3E1-4B9C-BDA2-B927C53653AE}">
      <dsp:nvSpPr>
        <dsp:cNvPr id="0" name=""/>
        <dsp:cNvSpPr/>
      </dsp:nvSpPr>
      <dsp:spPr>
        <a:xfrm>
          <a:off x="1890738" y="2109041"/>
          <a:ext cx="5702677" cy="376728"/>
        </a:xfrm>
        <a:prstGeom prst="chevron">
          <a:avLst/>
        </a:prstGeom>
        <a:solidFill>
          <a:schemeClr val="accent4">
            <a:tint val="40000"/>
            <a:alpha val="90000"/>
            <a:hueOff val="-2630473"/>
            <a:satOff val="14771"/>
            <a:lumOff val="939"/>
            <a:alphaOff val="0"/>
          </a:schemeClr>
        </a:solidFill>
        <a:ln w="25400" cap="flat" cmpd="sng" algn="ctr">
          <a:solidFill>
            <a:schemeClr val="accent4">
              <a:tint val="40000"/>
              <a:alpha val="90000"/>
              <a:hueOff val="-2630473"/>
              <a:satOff val="14771"/>
              <a:lumOff val="9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Resiste accesos no autorizados: autenticación, cifrado, integridad de datos.</a:t>
          </a:r>
          <a:endParaRPr lang="es-MX" sz="1300" kern="1200" dirty="0"/>
        </a:p>
      </dsp:txBody>
      <dsp:txXfrm>
        <a:off x="2079102" y="2109041"/>
        <a:ext cx="5325949" cy="376728"/>
      </dsp:txXfrm>
    </dsp:sp>
    <dsp:sp modelId="{838CD230-037C-4AA9-B5DB-6C8410AD74B1}">
      <dsp:nvSpPr>
        <dsp:cNvPr id="0" name=""/>
        <dsp:cNvSpPr/>
      </dsp:nvSpPr>
      <dsp:spPr>
        <a:xfrm>
          <a:off x="903528" y="2587895"/>
          <a:ext cx="1134723" cy="453889"/>
        </a:xfrm>
        <a:prstGeom prst="chevron">
          <a:avLst/>
        </a:prstGeom>
        <a:solidFill>
          <a:schemeClr val="accent4">
            <a:hueOff val="-3720641"/>
            <a:satOff val="22416"/>
            <a:lumOff val="179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dirty="0">
              <a:latin typeface="Arial Narrow" panose="020B0606020202030204" pitchFamily="34" charset="0"/>
            </a:rPr>
            <a:t>Mantenibilidad</a:t>
          </a:r>
          <a:endParaRPr lang="es-MX" sz="900" kern="1200" dirty="0"/>
        </a:p>
      </dsp:txBody>
      <dsp:txXfrm>
        <a:off x="1130473" y="2587895"/>
        <a:ext cx="680834" cy="453889"/>
      </dsp:txXfrm>
    </dsp:sp>
    <dsp:sp modelId="{8132D976-CB73-4B45-995B-D60DF67CAB23}">
      <dsp:nvSpPr>
        <dsp:cNvPr id="0" name=""/>
        <dsp:cNvSpPr/>
      </dsp:nvSpPr>
      <dsp:spPr>
        <a:xfrm>
          <a:off x="1890738" y="2626475"/>
          <a:ext cx="5702677" cy="376728"/>
        </a:xfrm>
        <a:prstGeom prst="chevron">
          <a:avLst/>
        </a:prstGeom>
        <a:solidFill>
          <a:schemeClr val="accent4">
            <a:tint val="40000"/>
            <a:alpha val="90000"/>
            <a:hueOff val="-3288091"/>
            <a:satOff val="18464"/>
            <a:lumOff val="1173"/>
            <a:alphaOff val="0"/>
          </a:schemeClr>
        </a:solidFill>
        <a:ln w="25400" cap="flat" cmpd="sng" algn="ctr">
          <a:solidFill>
            <a:schemeClr val="accent4">
              <a:tint val="40000"/>
              <a:alpha val="90000"/>
              <a:hueOff val="-3288091"/>
              <a:satOff val="18464"/>
              <a:lumOff val="11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Fácil de modificar, corregir o mejorar: modularidad, reusabilidad, análisis de errores.</a:t>
          </a:r>
          <a:endParaRPr lang="es-MX" sz="1300" kern="1200" dirty="0"/>
        </a:p>
      </dsp:txBody>
      <dsp:txXfrm>
        <a:off x="2079102" y="2626475"/>
        <a:ext cx="5325949" cy="376728"/>
      </dsp:txXfrm>
    </dsp:sp>
    <dsp:sp modelId="{B0D06C48-7BD5-473A-B59E-C93A06EC2B9E}">
      <dsp:nvSpPr>
        <dsp:cNvPr id="0" name=""/>
        <dsp:cNvSpPr/>
      </dsp:nvSpPr>
      <dsp:spPr>
        <a:xfrm>
          <a:off x="903528" y="3105329"/>
          <a:ext cx="1134723" cy="453889"/>
        </a:xfrm>
        <a:prstGeom prst="chevron">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5715" rIns="0" bIns="5715" numCol="1" spcCol="1270" anchor="ctr" anchorCtr="0">
          <a:noAutofit/>
        </a:bodyPr>
        <a:lstStyle/>
        <a:p>
          <a:pPr marL="0" lvl="0" indent="0" algn="ctr" defTabSz="400050">
            <a:lnSpc>
              <a:spcPct val="90000"/>
            </a:lnSpc>
            <a:spcBef>
              <a:spcPct val="0"/>
            </a:spcBef>
            <a:spcAft>
              <a:spcPct val="35000"/>
            </a:spcAft>
            <a:buNone/>
          </a:pPr>
          <a:r>
            <a:rPr lang="es-MX" sz="900" kern="1200">
              <a:latin typeface="Arial Narrow" panose="020B0606020202030204" pitchFamily="34" charset="0"/>
            </a:rPr>
            <a:t>Portabilidad</a:t>
          </a:r>
          <a:endParaRPr lang="es-MX" sz="900" kern="1200" dirty="0"/>
        </a:p>
      </dsp:txBody>
      <dsp:txXfrm>
        <a:off x="1130473" y="3105329"/>
        <a:ext cx="680834" cy="453889"/>
      </dsp:txXfrm>
    </dsp:sp>
    <dsp:sp modelId="{7982D2A0-96F4-46A5-BC2F-A4C08EF8E8A2}">
      <dsp:nvSpPr>
        <dsp:cNvPr id="0" name=""/>
        <dsp:cNvSpPr/>
      </dsp:nvSpPr>
      <dsp:spPr>
        <a:xfrm>
          <a:off x="1890738" y="3143909"/>
          <a:ext cx="5702677" cy="376728"/>
        </a:xfrm>
        <a:prstGeom prst="chevron">
          <a:avLst/>
        </a:prstGeom>
        <a:solidFill>
          <a:schemeClr val="accent4">
            <a:tint val="40000"/>
            <a:alpha val="90000"/>
            <a:hueOff val="-3945710"/>
            <a:satOff val="22157"/>
            <a:lumOff val="1408"/>
            <a:alphaOff val="0"/>
          </a:schemeClr>
        </a:solidFill>
        <a:ln w="25400" cap="flat" cmpd="sng" algn="ctr">
          <a:solidFill>
            <a:schemeClr val="accent4">
              <a:tint val="40000"/>
              <a:alpha val="90000"/>
              <a:hueOff val="-3945710"/>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s-MX" sz="1300" kern="1200" dirty="0">
              <a:latin typeface="Arial Narrow" panose="020B0606020202030204" pitchFamily="34" charset="0"/>
            </a:rPr>
            <a:t>Se adapta a diferentes entornos: </a:t>
          </a:r>
          <a:r>
            <a:rPr lang="es-MX" sz="1300" kern="1200" dirty="0" err="1">
              <a:latin typeface="Arial Narrow" panose="020B0606020202030204" pitchFamily="34" charset="0"/>
            </a:rPr>
            <a:t>instalabilidad</a:t>
          </a:r>
          <a:r>
            <a:rPr lang="es-MX" sz="1300" kern="1200" dirty="0">
              <a:latin typeface="Arial Narrow" panose="020B0606020202030204" pitchFamily="34" charset="0"/>
            </a:rPr>
            <a:t>, compatibilidad, reemplazo.</a:t>
          </a:r>
          <a:endParaRPr lang="es-MX" sz="1300" kern="1200" dirty="0"/>
        </a:p>
      </dsp:txBody>
      <dsp:txXfrm>
        <a:off x="2079102" y="3143909"/>
        <a:ext cx="5325949" cy="3767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84021-9CE5-4940-92E5-8B0575FC2772}">
      <dsp:nvSpPr>
        <dsp:cNvPr id="0" name=""/>
        <dsp:cNvSpPr/>
      </dsp:nvSpPr>
      <dsp:spPr>
        <a:xfrm rot="16200000">
          <a:off x="-1013538" y="1015007"/>
          <a:ext cx="3472160" cy="1442144"/>
        </a:xfrm>
        <a:prstGeom prst="flowChartManualOperati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0" tIns="0" rIns="88912" bIns="0" numCol="1" spcCol="1270" anchor="t" anchorCtr="0">
          <a:noAutofit/>
        </a:bodyPr>
        <a:lstStyle/>
        <a:p>
          <a:pPr marL="0" lvl="0" indent="0" algn="l" defTabSz="622300">
            <a:lnSpc>
              <a:spcPct val="90000"/>
            </a:lnSpc>
            <a:spcBef>
              <a:spcPct val="0"/>
            </a:spcBef>
            <a:spcAft>
              <a:spcPct val="35000"/>
            </a:spcAft>
            <a:buNone/>
          </a:pPr>
          <a:r>
            <a:rPr lang="es-MX" sz="1400" b="0" i="0" kern="1200" dirty="0">
              <a:latin typeface="Arial Narrow" panose="020B0606020202030204" pitchFamily="34" charset="0"/>
            </a:rPr>
            <a:t>Pruebas Automatizadas</a:t>
          </a:r>
        </a:p>
        <a:p>
          <a:pPr marL="0" lvl="0" indent="0" algn="l" defTabSz="622300">
            <a:lnSpc>
              <a:spcPct val="90000"/>
            </a:lnSpc>
            <a:spcBef>
              <a:spcPct val="0"/>
            </a:spcBef>
            <a:spcAft>
              <a:spcPct val="35000"/>
            </a:spcAft>
            <a:buNone/>
          </a:pPr>
          <a:endParaRPr lang="es-MX" sz="14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pt-BR" sz="1100" b="0" i="0" kern="1200" dirty="0">
              <a:latin typeface="Arial Narrow" panose="020B0606020202030204" pitchFamily="34" charset="0"/>
            </a:rPr>
            <a:t>Cobertura de código (% de líneas </a:t>
          </a:r>
          <a:r>
            <a:rPr lang="pt-BR" sz="1100" b="0" i="0" kern="1200" dirty="0" err="1">
              <a:latin typeface="Arial Narrow" panose="020B0606020202030204" pitchFamily="34" charset="0"/>
            </a:rPr>
            <a:t>probadas</a:t>
          </a:r>
          <a:r>
            <a:rPr lang="pt-BR" sz="1100" b="0" i="0" kern="1200" dirty="0">
              <a:latin typeface="Arial Narrow" panose="020B0606020202030204" pitchFamily="34" charset="0"/>
            </a:rPr>
            <a:t>)</a:t>
          </a:r>
          <a:endParaRPr lang="es-MX" sz="11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a:latin typeface="Arial Narrow" panose="020B0606020202030204" pitchFamily="34" charset="0"/>
            </a:rPr>
            <a:t>Número de bugs encontrados vs. resueltos</a:t>
          </a:r>
        </a:p>
      </dsp:txBody>
      <dsp:txXfrm rot="5400000">
        <a:off x="1470" y="694431"/>
        <a:ext cx="1442144" cy="2083296"/>
      </dsp:txXfrm>
    </dsp:sp>
    <dsp:sp modelId="{7F6E6C7D-FCFA-45F9-AD9D-160BE2C372E1}">
      <dsp:nvSpPr>
        <dsp:cNvPr id="0" name=""/>
        <dsp:cNvSpPr/>
      </dsp:nvSpPr>
      <dsp:spPr>
        <a:xfrm rot="16200000">
          <a:off x="536767" y="1015007"/>
          <a:ext cx="3472160" cy="1442144"/>
        </a:xfrm>
        <a:prstGeom prst="flowChartManualOperation">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0" tIns="0" rIns="88912" bIns="0" numCol="1" spcCol="1270" anchor="t" anchorCtr="0">
          <a:noAutofit/>
        </a:bodyPr>
        <a:lstStyle/>
        <a:p>
          <a:pPr marL="0" lvl="0" indent="0" algn="l" defTabSz="622300">
            <a:lnSpc>
              <a:spcPct val="90000"/>
            </a:lnSpc>
            <a:spcBef>
              <a:spcPct val="0"/>
            </a:spcBef>
            <a:spcAft>
              <a:spcPct val="35000"/>
            </a:spcAft>
            <a:buNone/>
          </a:pPr>
          <a:r>
            <a:rPr lang="es-MX" sz="1400" b="0" i="0" kern="1200" dirty="0">
              <a:latin typeface="Arial Narrow" panose="020B0606020202030204" pitchFamily="34" charset="0"/>
            </a:rPr>
            <a:t>Métricas Técnicas</a:t>
          </a:r>
        </a:p>
        <a:p>
          <a:pPr marL="0" lvl="0" indent="0" algn="l" defTabSz="622300">
            <a:lnSpc>
              <a:spcPct val="90000"/>
            </a:lnSpc>
            <a:spcBef>
              <a:spcPct val="0"/>
            </a:spcBef>
            <a:spcAft>
              <a:spcPct val="35000"/>
            </a:spcAft>
            <a:buNone/>
          </a:pPr>
          <a:endParaRPr lang="es-MX" sz="14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dirty="0">
              <a:latin typeface="Arial Narrow" panose="020B0606020202030204" pitchFamily="34" charset="0"/>
            </a:rPr>
            <a:t>Tiempo de respuesta (&lt; 2 segundos ideal)</a:t>
          </a:r>
          <a:endParaRPr lang="es-MX" sz="11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a:latin typeface="Arial Narrow" panose="020B0606020202030204" pitchFamily="34" charset="0"/>
            </a:rPr>
            <a:t>Uso de CPU/memoria bajo condiciones máximas</a:t>
          </a: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a:latin typeface="Arial Narrow" panose="020B0606020202030204" pitchFamily="34" charset="0"/>
            </a:rPr>
            <a:t>Rendimiento en pruebas de carga (ej. 1000 usuarios simultáneos)</a:t>
          </a:r>
        </a:p>
      </dsp:txBody>
      <dsp:txXfrm rot="5400000">
        <a:off x="1551775" y="694431"/>
        <a:ext cx="1442144" cy="2083296"/>
      </dsp:txXfrm>
    </dsp:sp>
    <dsp:sp modelId="{27057722-A876-4771-B4AF-F083F3813334}">
      <dsp:nvSpPr>
        <dsp:cNvPr id="0" name=""/>
        <dsp:cNvSpPr/>
      </dsp:nvSpPr>
      <dsp:spPr>
        <a:xfrm rot="16200000">
          <a:off x="2087072" y="1015007"/>
          <a:ext cx="3472160" cy="1442144"/>
        </a:xfrm>
        <a:prstGeom prst="flowChartManualOperation">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0" tIns="0" rIns="88912" bIns="0" numCol="1" spcCol="1270" anchor="t" anchorCtr="0">
          <a:noAutofit/>
        </a:bodyPr>
        <a:lstStyle/>
        <a:p>
          <a:pPr marL="0" lvl="0" indent="0" algn="l" defTabSz="622300">
            <a:lnSpc>
              <a:spcPct val="90000"/>
            </a:lnSpc>
            <a:spcBef>
              <a:spcPct val="0"/>
            </a:spcBef>
            <a:spcAft>
              <a:spcPct val="35000"/>
            </a:spcAft>
            <a:buNone/>
          </a:pPr>
          <a:r>
            <a:rPr lang="es-MX" sz="1400" b="0" i="0" kern="1200" dirty="0">
              <a:latin typeface="Arial Narrow" panose="020B0606020202030204" pitchFamily="34" charset="0"/>
            </a:rPr>
            <a:t>Prácticas de Desarrollo</a:t>
          </a:r>
        </a:p>
        <a:p>
          <a:pPr marL="0" lvl="0" indent="0" algn="l" defTabSz="622300">
            <a:lnSpc>
              <a:spcPct val="90000"/>
            </a:lnSpc>
            <a:spcBef>
              <a:spcPct val="0"/>
            </a:spcBef>
            <a:spcAft>
              <a:spcPct val="35000"/>
            </a:spcAft>
            <a:buNone/>
          </a:pPr>
          <a:endParaRPr lang="es-MX" sz="14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dirty="0">
              <a:latin typeface="Arial Narrow" panose="020B0606020202030204" pitchFamily="34" charset="0"/>
            </a:rPr>
            <a:t>Integración continua (CI/CD)</a:t>
          </a:r>
          <a:endParaRPr lang="es-MX" sz="11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dirty="0">
              <a:latin typeface="Arial Narrow" panose="020B0606020202030204" pitchFamily="34" charset="0"/>
            </a:rPr>
            <a:t>Revisiones de código (</a:t>
          </a:r>
          <a:r>
            <a:rPr lang="es-MX" sz="1100" b="0" i="0" kern="1200" dirty="0" err="1">
              <a:latin typeface="Arial Narrow" panose="020B0606020202030204" pitchFamily="34" charset="0"/>
            </a:rPr>
            <a:t>code</a:t>
          </a:r>
          <a:r>
            <a:rPr lang="es-MX" sz="1100" b="0" i="0" kern="1200" dirty="0">
              <a:latin typeface="Arial Narrow" panose="020B0606020202030204" pitchFamily="34" charset="0"/>
            </a:rPr>
            <a:t> </a:t>
          </a:r>
          <a:r>
            <a:rPr lang="es-MX" sz="1100" b="0" i="0" kern="1200" dirty="0" err="1">
              <a:latin typeface="Arial Narrow" panose="020B0606020202030204" pitchFamily="34" charset="0"/>
            </a:rPr>
            <a:t>reviews</a:t>
          </a:r>
          <a:r>
            <a:rPr lang="es-MX" sz="1100" b="0" i="0" kern="1200" dirty="0">
              <a:latin typeface="Arial Narrow" panose="020B0606020202030204" pitchFamily="34" charset="0"/>
            </a:rPr>
            <a:t>)</a:t>
          </a: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dirty="0">
              <a:latin typeface="Arial Narrow" panose="020B0606020202030204" pitchFamily="34" charset="0"/>
            </a:rPr>
            <a:t>Uso de estándares (SOLID, limpieza de código)</a:t>
          </a:r>
        </a:p>
      </dsp:txBody>
      <dsp:txXfrm rot="5400000">
        <a:off x="3102080" y="694431"/>
        <a:ext cx="1442144" cy="2083296"/>
      </dsp:txXfrm>
    </dsp:sp>
    <dsp:sp modelId="{1059FD1E-8925-4339-83FF-1D59C05F3547}">
      <dsp:nvSpPr>
        <dsp:cNvPr id="0" name=""/>
        <dsp:cNvSpPr/>
      </dsp:nvSpPr>
      <dsp:spPr>
        <a:xfrm rot="16200000">
          <a:off x="3637378" y="1015007"/>
          <a:ext cx="3472160" cy="1442144"/>
        </a:xfrm>
        <a:prstGeom prst="flowChartManualOperation">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0" tIns="0" rIns="88912" bIns="0" numCol="1" spcCol="1270" anchor="t" anchorCtr="0">
          <a:noAutofit/>
        </a:bodyPr>
        <a:lstStyle/>
        <a:p>
          <a:pPr marL="0" lvl="0" indent="0" algn="l" defTabSz="622300">
            <a:lnSpc>
              <a:spcPct val="90000"/>
            </a:lnSpc>
            <a:spcBef>
              <a:spcPct val="0"/>
            </a:spcBef>
            <a:spcAft>
              <a:spcPct val="35000"/>
            </a:spcAft>
            <a:buNone/>
          </a:pPr>
          <a:r>
            <a:rPr lang="es-MX" sz="1400" b="0" i="0" kern="1200" dirty="0">
              <a:latin typeface="Arial Narrow" panose="020B0606020202030204" pitchFamily="34" charset="0"/>
            </a:rPr>
            <a:t>Experiencia del Usuario (UX)</a:t>
          </a:r>
        </a:p>
        <a:p>
          <a:pPr marL="0" lvl="0" indent="0" algn="l" defTabSz="622300">
            <a:lnSpc>
              <a:spcPct val="90000"/>
            </a:lnSpc>
            <a:spcBef>
              <a:spcPct val="0"/>
            </a:spcBef>
            <a:spcAft>
              <a:spcPct val="35000"/>
            </a:spcAft>
            <a:buNone/>
          </a:pPr>
          <a:endParaRPr lang="es-MX" sz="14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dirty="0">
              <a:latin typeface="Arial Narrow" panose="020B0606020202030204" pitchFamily="34" charset="0"/>
            </a:rPr>
            <a:t>Tiempo promedio para completar una tarea</a:t>
          </a:r>
          <a:endParaRPr lang="es-MX" sz="1100" kern="1200" dirty="0">
            <a:latin typeface="Arial Narrow" panose="020B0606020202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a:latin typeface="Arial Narrow" panose="020B0606020202030204" pitchFamily="34" charset="0"/>
            </a:rPr>
            <a:t>Tasa de abandono en procesos clave</a:t>
          </a:r>
        </a:p>
        <a:p>
          <a:pPr marL="57150" lvl="1" indent="-57150" algn="l" defTabSz="488950">
            <a:lnSpc>
              <a:spcPct val="90000"/>
            </a:lnSpc>
            <a:spcBef>
              <a:spcPct val="0"/>
            </a:spcBef>
            <a:spcAft>
              <a:spcPct val="15000"/>
            </a:spcAft>
            <a:buFont typeface="Arial" panose="020B0604020202020204" pitchFamily="34" charset="0"/>
            <a:buChar char="•"/>
          </a:pPr>
          <a:r>
            <a:rPr lang="es-MX" sz="1100" b="0" i="0" kern="1200">
              <a:latin typeface="Arial Narrow" panose="020B0606020202030204" pitchFamily="34" charset="0"/>
            </a:rPr>
            <a:t>Encuestas de satisfacción (NPS, CSAT)</a:t>
          </a:r>
        </a:p>
      </dsp:txBody>
      <dsp:txXfrm rot="5400000">
        <a:off x="4652386" y="694431"/>
        <a:ext cx="1442144" cy="2083296"/>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0773B-9661-48FD-A80A-96CC3513A32C}" type="datetimeFigureOut">
              <a:rPr lang="es-MX" smtClean="0"/>
              <a:t>08/10/2025</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2CCE7-5212-43A7-8614-AF823CD94E88}" type="slidenum">
              <a:rPr lang="es-MX" smtClean="0"/>
              <a:t>‹#›</a:t>
            </a:fld>
            <a:endParaRPr lang="es-MX"/>
          </a:p>
        </p:txBody>
      </p:sp>
    </p:spTree>
    <p:extLst>
      <p:ext uri="{BB962C8B-B14F-4D97-AF65-F5344CB8AC3E}">
        <p14:creationId xmlns:p14="http://schemas.microsoft.com/office/powerpoint/2010/main" val="475290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mailto:dlgamboa1@espe.edu.ec"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768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8446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395536" y="1131590"/>
            <a:ext cx="8496944"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405880" y="1808261"/>
            <a:ext cx="8496944" cy="29957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1146943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19672" y="0"/>
            <a:ext cx="7524328" cy="88446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1979712" y="987574"/>
            <a:ext cx="6912768"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1990056" y="1664245"/>
            <a:ext cx="6912768" cy="29957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922808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Contents slide layout">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C68F9F4F-59F9-4D80-0F8E-0EE7EB47E09C}"/>
              </a:ext>
            </a:extLst>
          </p:cNvPr>
          <p:cNvCxnSpPr/>
          <p:nvPr userDrawn="1"/>
        </p:nvCxnSpPr>
        <p:spPr>
          <a:xfrm>
            <a:off x="1558455" y="207785"/>
            <a:ext cx="7307249" cy="0"/>
          </a:xfrm>
          <a:prstGeom prst="line">
            <a:avLst/>
          </a:prstGeom>
          <a:ln w="28575">
            <a:solidFill>
              <a:srgbClr val="013857"/>
            </a:solidFill>
          </a:ln>
        </p:spPr>
        <p:style>
          <a:lnRef idx="1">
            <a:schemeClr val="accent1"/>
          </a:lnRef>
          <a:fillRef idx="0">
            <a:schemeClr val="accent1"/>
          </a:fillRef>
          <a:effectRef idx="0">
            <a:schemeClr val="accent1"/>
          </a:effectRef>
          <a:fontRef idx="minor">
            <a:schemeClr val="tx1"/>
          </a:fontRef>
        </p:style>
      </p:cxnSp>
      <p:cxnSp>
        <p:nvCxnSpPr>
          <p:cNvPr id="5" name="直接连接符 5">
            <a:extLst>
              <a:ext uri="{FF2B5EF4-FFF2-40B4-BE49-F238E27FC236}">
                <a16:creationId xmlns:a16="http://schemas.microsoft.com/office/drawing/2014/main" id="{04B4A941-B74D-5B47-102C-CDFD8863210B}"/>
              </a:ext>
            </a:extLst>
          </p:cNvPr>
          <p:cNvCxnSpPr/>
          <p:nvPr userDrawn="1"/>
        </p:nvCxnSpPr>
        <p:spPr>
          <a:xfrm>
            <a:off x="2563800" y="467882"/>
            <a:ext cx="6301904" cy="0"/>
          </a:xfrm>
          <a:prstGeom prst="line">
            <a:avLst/>
          </a:prstGeom>
          <a:ln w="28575">
            <a:solidFill>
              <a:srgbClr val="33AAB9"/>
            </a:solidFill>
          </a:ln>
        </p:spPr>
        <p:style>
          <a:lnRef idx="1">
            <a:schemeClr val="accent1"/>
          </a:lnRef>
          <a:fillRef idx="0">
            <a:schemeClr val="accent1"/>
          </a:fillRef>
          <a:effectRef idx="0">
            <a:schemeClr val="accent1"/>
          </a:effectRef>
          <a:fontRef idx="minor">
            <a:schemeClr val="tx1"/>
          </a:fontRef>
        </p:style>
      </p:cxnSp>
      <p:cxnSp>
        <p:nvCxnSpPr>
          <p:cNvPr id="6" name="直接连接符 7">
            <a:extLst>
              <a:ext uri="{FF2B5EF4-FFF2-40B4-BE49-F238E27FC236}">
                <a16:creationId xmlns:a16="http://schemas.microsoft.com/office/drawing/2014/main" id="{43B19AC1-DF7A-517B-4179-1E3A8E530E38}"/>
              </a:ext>
            </a:extLst>
          </p:cNvPr>
          <p:cNvCxnSpPr/>
          <p:nvPr userDrawn="1"/>
        </p:nvCxnSpPr>
        <p:spPr>
          <a:xfrm>
            <a:off x="3730175" y="727979"/>
            <a:ext cx="5135529" cy="0"/>
          </a:xfrm>
          <a:prstGeom prst="line">
            <a:avLst/>
          </a:prstGeom>
          <a:ln w="28575">
            <a:solidFill>
              <a:srgbClr val="013857"/>
            </a:solidFill>
          </a:ln>
        </p:spPr>
        <p:style>
          <a:lnRef idx="1">
            <a:schemeClr val="accent1"/>
          </a:lnRef>
          <a:fillRef idx="0">
            <a:schemeClr val="accent1"/>
          </a:fillRef>
          <a:effectRef idx="0">
            <a:schemeClr val="accent1"/>
          </a:effectRef>
          <a:fontRef idx="minor">
            <a:schemeClr val="tx1"/>
          </a:fontRef>
        </p:style>
      </p:cxnSp>
      <p:sp>
        <p:nvSpPr>
          <p:cNvPr id="8" name="任意多边形 12">
            <a:extLst>
              <a:ext uri="{FF2B5EF4-FFF2-40B4-BE49-F238E27FC236}">
                <a16:creationId xmlns:a16="http://schemas.microsoft.com/office/drawing/2014/main" id="{044FA9B8-F883-7FAD-A780-883482584150}"/>
              </a:ext>
            </a:extLst>
          </p:cNvPr>
          <p:cNvSpPr/>
          <p:nvPr userDrawn="1"/>
        </p:nvSpPr>
        <p:spPr>
          <a:xfrm>
            <a:off x="7502645" y="4007612"/>
            <a:ext cx="467403" cy="928104"/>
          </a:xfrm>
          <a:custGeom>
            <a:avLst/>
            <a:gdLst>
              <a:gd name="connsiteX0" fmla="*/ 260195 w 524147"/>
              <a:gd name="connsiteY0" fmla="*/ 0 h 1040778"/>
              <a:gd name="connsiteX1" fmla="*/ 524147 w 524147"/>
              <a:gd name="connsiteY1" fmla="*/ 0 h 1040778"/>
              <a:gd name="connsiteX2" fmla="*/ 263952 w 524147"/>
              <a:gd name="connsiteY2" fmla="*/ 1040778 h 1040778"/>
              <a:gd name="connsiteX3" fmla="*/ 0 w 524147"/>
              <a:gd name="connsiteY3" fmla="*/ 1040778 h 1040778"/>
            </a:gdLst>
            <a:ahLst/>
            <a:cxnLst>
              <a:cxn ang="0">
                <a:pos x="connsiteX0" y="connsiteY0"/>
              </a:cxn>
              <a:cxn ang="0">
                <a:pos x="connsiteX1" y="connsiteY1"/>
              </a:cxn>
              <a:cxn ang="0">
                <a:pos x="connsiteX2" y="connsiteY2"/>
              </a:cxn>
              <a:cxn ang="0">
                <a:pos x="connsiteX3" y="connsiteY3"/>
              </a:cxn>
            </a:cxnLst>
            <a:rect l="l" t="t" r="r" b="b"/>
            <a:pathLst>
              <a:path w="524147" h="1040778">
                <a:moveTo>
                  <a:pt x="260195" y="0"/>
                </a:moveTo>
                <a:lnTo>
                  <a:pt x="524147" y="0"/>
                </a:lnTo>
                <a:lnTo>
                  <a:pt x="263952" y="1040778"/>
                </a:lnTo>
                <a:lnTo>
                  <a:pt x="0" y="1040778"/>
                </a:lnTo>
                <a:close/>
              </a:path>
            </a:pathLst>
          </a:cu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13">
            <a:extLst>
              <a:ext uri="{FF2B5EF4-FFF2-40B4-BE49-F238E27FC236}">
                <a16:creationId xmlns:a16="http://schemas.microsoft.com/office/drawing/2014/main" id="{9AC9CB10-95FA-427B-B018-6169D853A7BF}"/>
              </a:ext>
            </a:extLst>
          </p:cNvPr>
          <p:cNvSpPr/>
          <p:nvPr userDrawn="1"/>
        </p:nvSpPr>
        <p:spPr>
          <a:xfrm>
            <a:off x="7801196" y="4007612"/>
            <a:ext cx="467403" cy="928104"/>
          </a:xfrm>
          <a:custGeom>
            <a:avLst/>
            <a:gdLst>
              <a:gd name="connsiteX0" fmla="*/ 260195 w 524147"/>
              <a:gd name="connsiteY0" fmla="*/ 0 h 1040778"/>
              <a:gd name="connsiteX1" fmla="*/ 524147 w 524147"/>
              <a:gd name="connsiteY1" fmla="*/ 0 h 1040778"/>
              <a:gd name="connsiteX2" fmla="*/ 263952 w 524147"/>
              <a:gd name="connsiteY2" fmla="*/ 1040778 h 1040778"/>
              <a:gd name="connsiteX3" fmla="*/ 0 w 524147"/>
              <a:gd name="connsiteY3" fmla="*/ 1040778 h 1040778"/>
            </a:gdLst>
            <a:ahLst/>
            <a:cxnLst>
              <a:cxn ang="0">
                <a:pos x="connsiteX0" y="connsiteY0"/>
              </a:cxn>
              <a:cxn ang="0">
                <a:pos x="connsiteX1" y="connsiteY1"/>
              </a:cxn>
              <a:cxn ang="0">
                <a:pos x="connsiteX2" y="connsiteY2"/>
              </a:cxn>
              <a:cxn ang="0">
                <a:pos x="connsiteX3" y="connsiteY3"/>
              </a:cxn>
            </a:cxnLst>
            <a:rect l="l" t="t" r="r" b="b"/>
            <a:pathLst>
              <a:path w="524147" h="1040778">
                <a:moveTo>
                  <a:pt x="260195" y="0"/>
                </a:moveTo>
                <a:lnTo>
                  <a:pt x="524147" y="0"/>
                </a:lnTo>
                <a:lnTo>
                  <a:pt x="263952" y="1040778"/>
                </a:lnTo>
                <a:lnTo>
                  <a:pt x="0" y="1040778"/>
                </a:lnTo>
                <a:close/>
              </a:path>
            </a:pathLst>
          </a:cu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14">
            <a:extLst>
              <a:ext uri="{FF2B5EF4-FFF2-40B4-BE49-F238E27FC236}">
                <a16:creationId xmlns:a16="http://schemas.microsoft.com/office/drawing/2014/main" id="{DB8B4677-7A78-EF79-4439-767D2FEEE227}"/>
              </a:ext>
            </a:extLst>
          </p:cNvPr>
          <p:cNvSpPr/>
          <p:nvPr userDrawn="1"/>
        </p:nvSpPr>
        <p:spPr>
          <a:xfrm>
            <a:off x="8099747" y="4007612"/>
            <a:ext cx="467403" cy="928104"/>
          </a:xfrm>
          <a:custGeom>
            <a:avLst/>
            <a:gdLst>
              <a:gd name="connsiteX0" fmla="*/ 260195 w 524147"/>
              <a:gd name="connsiteY0" fmla="*/ 0 h 1040778"/>
              <a:gd name="connsiteX1" fmla="*/ 524147 w 524147"/>
              <a:gd name="connsiteY1" fmla="*/ 0 h 1040778"/>
              <a:gd name="connsiteX2" fmla="*/ 263952 w 524147"/>
              <a:gd name="connsiteY2" fmla="*/ 1040778 h 1040778"/>
              <a:gd name="connsiteX3" fmla="*/ 0 w 524147"/>
              <a:gd name="connsiteY3" fmla="*/ 1040778 h 1040778"/>
            </a:gdLst>
            <a:ahLst/>
            <a:cxnLst>
              <a:cxn ang="0">
                <a:pos x="connsiteX0" y="connsiteY0"/>
              </a:cxn>
              <a:cxn ang="0">
                <a:pos x="connsiteX1" y="connsiteY1"/>
              </a:cxn>
              <a:cxn ang="0">
                <a:pos x="connsiteX2" y="connsiteY2"/>
              </a:cxn>
              <a:cxn ang="0">
                <a:pos x="connsiteX3" y="connsiteY3"/>
              </a:cxn>
            </a:cxnLst>
            <a:rect l="l" t="t" r="r" b="b"/>
            <a:pathLst>
              <a:path w="524147" h="1040778">
                <a:moveTo>
                  <a:pt x="260195" y="0"/>
                </a:moveTo>
                <a:lnTo>
                  <a:pt x="524147" y="0"/>
                </a:lnTo>
                <a:lnTo>
                  <a:pt x="263952" y="1040778"/>
                </a:lnTo>
                <a:lnTo>
                  <a:pt x="0" y="1040778"/>
                </a:lnTo>
                <a:close/>
              </a:path>
            </a:pathLst>
          </a:cu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5">
            <a:extLst>
              <a:ext uri="{FF2B5EF4-FFF2-40B4-BE49-F238E27FC236}">
                <a16:creationId xmlns:a16="http://schemas.microsoft.com/office/drawing/2014/main" id="{2C17C69D-1C23-BDDF-544D-19988481B08B}"/>
              </a:ext>
            </a:extLst>
          </p:cNvPr>
          <p:cNvSpPr/>
          <p:nvPr userDrawn="1"/>
        </p:nvSpPr>
        <p:spPr>
          <a:xfrm>
            <a:off x="8398301" y="4007612"/>
            <a:ext cx="467403" cy="928104"/>
          </a:xfrm>
          <a:custGeom>
            <a:avLst/>
            <a:gdLst>
              <a:gd name="connsiteX0" fmla="*/ 260195 w 524147"/>
              <a:gd name="connsiteY0" fmla="*/ 0 h 1040778"/>
              <a:gd name="connsiteX1" fmla="*/ 524147 w 524147"/>
              <a:gd name="connsiteY1" fmla="*/ 0 h 1040778"/>
              <a:gd name="connsiteX2" fmla="*/ 263952 w 524147"/>
              <a:gd name="connsiteY2" fmla="*/ 1040778 h 1040778"/>
              <a:gd name="connsiteX3" fmla="*/ 0 w 524147"/>
              <a:gd name="connsiteY3" fmla="*/ 1040778 h 1040778"/>
            </a:gdLst>
            <a:ahLst/>
            <a:cxnLst>
              <a:cxn ang="0">
                <a:pos x="connsiteX0" y="connsiteY0"/>
              </a:cxn>
              <a:cxn ang="0">
                <a:pos x="connsiteX1" y="connsiteY1"/>
              </a:cxn>
              <a:cxn ang="0">
                <a:pos x="connsiteX2" y="connsiteY2"/>
              </a:cxn>
              <a:cxn ang="0">
                <a:pos x="connsiteX3" y="connsiteY3"/>
              </a:cxn>
            </a:cxnLst>
            <a:rect l="l" t="t" r="r" b="b"/>
            <a:pathLst>
              <a:path w="524147" h="1040778">
                <a:moveTo>
                  <a:pt x="260195" y="0"/>
                </a:moveTo>
                <a:lnTo>
                  <a:pt x="524147" y="0"/>
                </a:lnTo>
                <a:lnTo>
                  <a:pt x="263952" y="1040778"/>
                </a:lnTo>
                <a:lnTo>
                  <a:pt x="0" y="1040778"/>
                </a:lnTo>
                <a:close/>
              </a:path>
            </a:pathLst>
          </a:cu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23">
            <a:extLst>
              <a:ext uri="{FF2B5EF4-FFF2-40B4-BE49-F238E27FC236}">
                <a16:creationId xmlns:a16="http://schemas.microsoft.com/office/drawing/2014/main" id="{17F4AB63-8A6B-602D-9223-219627CC0B78}"/>
              </a:ext>
            </a:extLst>
          </p:cNvPr>
          <p:cNvSpPr/>
          <p:nvPr userDrawn="1"/>
        </p:nvSpPr>
        <p:spPr>
          <a:xfrm>
            <a:off x="7394057"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24">
            <a:extLst>
              <a:ext uri="{FF2B5EF4-FFF2-40B4-BE49-F238E27FC236}">
                <a16:creationId xmlns:a16="http://schemas.microsoft.com/office/drawing/2014/main" id="{D6B24CF7-833B-6C6B-FB2A-0549FC73DDC0}"/>
              </a:ext>
            </a:extLst>
          </p:cNvPr>
          <p:cNvSpPr/>
          <p:nvPr userDrawn="1"/>
        </p:nvSpPr>
        <p:spPr>
          <a:xfrm>
            <a:off x="7315235"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25">
            <a:extLst>
              <a:ext uri="{FF2B5EF4-FFF2-40B4-BE49-F238E27FC236}">
                <a16:creationId xmlns:a16="http://schemas.microsoft.com/office/drawing/2014/main" id="{B5C7DAE8-7FB7-43CC-8D44-1B8C37CE28B0}"/>
              </a:ext>
            </a:extLst>
          </p:cNvPr>
          <p:cNvSpPr/>
          <p:nvPr userDrawn="1"/>
        </p:nvSpPr>
        <p:spPr>
          <a:xfrm>
            <a:off x="7236410"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26">
            <a:extLst>
              <a:ext uri="{FF2B5EF4-FFF2-40B4-BE49-F238E27FC236}">
                <a16:creationId xmlns:a16="http://schemas.microsoft.com/office/drawing/2014/main" id="{81ABE45D-A26D-4272-6EB4-502A143807CE}"/>
              </a:ext>
            </a:extLst>
          </p:cNvPr>
          <p:cNvSpPr/>
          <p:nvPr userDrawn="1"/>
        </p:nvSpPr>
        <p:spPr>
          <a:xfrm>
            <a:off x="7157586"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27">
            <a:extLst>
              <a:ext uri="{FF2B5EF4-FFF2-40B4-BE49-F238E27FC236}">
                <a16:creationId xmlns:a16="http://schemas.microsoft.com/office/drawing/2014/main" id="{F3BD7D99-95F7-2251-3201-CC2EF05B3D2A}"/>
              </a:ext>
            </a:extLst>
          </p:cNvPr>
          <p:cNvSpPr/>
          <p:nvPr userDrawn="1"/>
        </p:nvSpPr>
        <p:spPr>
          <a:xfrm>
            <a:off x="7078761"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28">
            <a:extLst>
              <a:ext uri="{FF2B5EF4-FFF2-40B4-BE49-F238E27FC236}">
                <a16:creationId xmlns:a16="http://schemas.microsoft.com/office/drawing/2014/main" id="{6916794D-627B-62B4-98F5-94CDDA0CCF6E}"/>
              </a:ext>
            </a:extLst>
          </p:cNvPr>
          <p:cNvSpPr/>
          <p:nvPr userDrawn="1"/>
        </p:nvSpPr>
        <p:spPr>
          <a:xfrm>
            <a:off x="6999937"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任意多边形 29">
            <a:extLst>
              <a:ext uri="{FF2B5EF4-FFF2-40B4-BE49-F238E27FC236}">
                <a16:creationId xmlns:a16="http://schemas.microsoft.com/office/drawing/2014/main" id="{91E4DF5B-B2F0-D4AA-C64A-0D6111A089A5}"/>
              </a:ext>
            </a:extLst>
          </p:cNvPr>
          <p:cNvSpPr/>
          <p:nvPr userDrawn="1"/>
        </p:nvSpPr>
        <p:spPr>
          <a:xfrm>
            <a:off x="6921112"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任意多边形 30">
            <a:extLst>
              <a:ext uri="{FF2B5EF4-FFF2-40B4-BE49-F238E27FC236}">
                <a16:creationId xmlns:a16="http://schemas.microsoft.com/office/drawing/2014/main" id="{85049E78-29D5-09CA-8D3F-0EA306484D98}"/>
              </a:ext>
            </a:extLst>
          </p:cNvPr>
          <p:cNvSpPr/>
          <p:nvPr userDrawn="1"/>
        </p:nvSpPr>
        <p:spPr>
          <a:xfrm>
            <a:off x="6842288"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任意多边形 31">
            <a:extLst>
              <a:ext uri="{FF2B5EF4-FFF2-40B4-BE49-F238E27FC236}">
                <a16:creationId xmlns:a16="http://schemas.microsoft.com/office/drawing/2014/main" id="{B4FE22BE-F65A-AB43-1429-B0D92F349714}"/>
              </a:ext>
            </a:extLst>
          </p:cNvPr>
          <p:cNvSpPr/>
          <p:nvPr userDrawn="1"/>
        </p:nvSpPr>
        <p:spPr>
          <a:xfrm>
            <a:off x="6763463"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任意多边形 32">
            <a:extLst>
              <a:ext uri="{FF2B5EF4-FFF2-40B4-BE49-F238E27FC236}">
                <a16:creationId xmlns:a16="http://schemas.microsoft.com/office/drawing/2014/main" id="{BE06ED34-2CD9-079E-E595-EA8666DE9031}"/>
              </a:ext>
            </a:extLst>
          </p:cNvPr>
          <p:cNvSpPr/>
          <p:nvPr userDrawn="1"/>
        </p:nvSpPr>
        <p:spPr>
          <a:xfrm>
            <a:off x="6684639"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任意多边形 33">
            <a:extLst>
              <a:ext uri="{FF2B5EF4-FFF2-40B4-BE49-F238E27FC236}">
                <a16:creationId xmlns:a16="http://schemas.microsoft.com/office/drawing/2014/main" id="{2A78FBCC-5C0D-04C4-081B-EF063BD76B65}"/>
              </a:ext>
            </a:extLst>
          </p:cNvPr>
          <p:cNvSpPr/>
          <p:nvPr userDrawn="1"/>
        </p:nvSpPr>
        <p:spPr>
          <a:xfrm>
            <a:off x="6605815"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任意多边形 34">
            <a:extLst>
              <a:ext uri="{FF2B5EF4-FFF2-40B4-BE49-F238E27FC236}">
                <a16:creationId xmlns:a16="http://schemas.microsoft.com/office/drawing/2014/main" id="{F3EF85F7-7AF3-C0C1-DEFA-1E5357CA692E}"/>
              </a:ext>
            </a:extLst>
          </p:cNvPr>
          <p:cNvSpPr/>
          <p:nvPr userDrawn="1"/>
        </p:nvSpPr>
        <p:spPr>
          <a:xfrm>
            <a:off x="6526990"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任意多边形 35">
            <a:extLst>
              <a:ext uri="{FF2B5EF4-FFF2-40B4-BE49-F238E27FC236}">
                <a16:creationId xmlns:a16="http://schemas.microsoft.com/office/drawing/2014/main" id="{2756CF1E-F407-A757-8715-88B745369421}"/>
              </a:ext>
            </a:extLst>
          </p:cNvPr>
          <p:cNvSpPr/>
          <p:nvPr userDrawn="1"/>
        </p:nvSpPr>
        <p:spPr>
          <a:xfrm>
            <a:off x="6448165"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任意多边形 36">
            <a:extLst>
              <a:ext uri="{FF2B5EF4-FFF2-40B4-BE49-F238E27FC236}">
                <a16:creationId xmlns:a16="http://schemas.microsoft.com/office/drawing/2014/main" id="{A652370F-C790-F32B-9D62-8F17F3995C07}"/>
              </a:ext>
            </a:extLst>
          </p:cNvPr>
          <p:cNvSpPr/>
          <p:nvPr userDrawn="1"/>
        </p:nvSpPr>
        <p:spPr>
          <a:xfrm>
            <a:off x="6369340"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任意多边形 37">
            <a:extLst>
              <a:ext uri="{FF2B5EF4-FFF2-40B4-BE49-F238E27FC236}">
                <a16:creationId xmlns:a16="http://schemas.microsoft.com/office/drawing/2014/main" id="{F2BDA48E-53AB-E484-A358-4D4E66DC300F}"/>
              </a:ext>
            </a:extLst>
          </p:cNvPr>
          <p:cNvSpPr/>
          <p:nvPr userDrawn="1"/>
        </p:nvSpPr>
        <p:spPr>
          <a:xfrm>
            <a:off x="6290516"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任意多边形 38">
            <a:extLst>
              <a:ext uri="{FF2B5EF4-FFF2-40B4-BE49-F238E27FC236}">
                <a16:creationId xmlns:a16="http://schemas.microsoft.com/office/drawing/2014/main" id="{DAE0FB34-A5A1-41F9-665A-C248F70A6CB6}"/>
              </a:ext>
            </a:extLst>
          </p:cNvPr>
          <p:cNvSpPr/>
          <p:nvPr userDrawn="1"/>
        </p:nvSpPr>
        <p:spPr>
          <a:xfrm>
            <a:off x="6211691"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任意多边形 39">
            <a:extLst>
              <a:ext uri="{FF2B5EF4-FFF2-40B4-BE49-F238E27FC236}">
                <a16:creationId xmlns:a16="http://schemas.microsoft.com/office/drawing/2014/main" id="{05BCAE7F-C1E6-3862-BA06-A8B8708D36D0}"/>
              </a:ext>
            </a:extLst>
          </p:cNvPr>
          <p:cNvSpPr/>
          <p:nvPr userDrawn="1"/>
        </p:nvSpPr>
        <p:spPr>
          <a:xfrm>
            <a:off x="6132867"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任意多边形 40">
            <a:extLst>
              <a:ext uri="{FF2B5EF4-FFF2-40B4-BE49-F238E27FC236}">
                <a16:creationId xmlns:a16="http://schemas.microsoft.com/office/drawing/2014/main" id="{EB7BFB27-1060-CE3D-5045-2E458DABE1A1}"/>
              </a:ext>
            </a:extLst>
          </p:cNvPr>
          <p:cNvSpPr/>
          <p:nvPr userDrawn="1"/>
        </p:nvSpPr>
        <p:spPr>
          <a:xfrm>
            <a:off x="6054042"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任意多边形 41">
            <a:extLst>
              <a:ext uri="{FF2B5EF4-FFF2-40B4-BE49-F238E27FC236}">
                <a16:creationId xmlns:a16="http://schemas.microsoft.com/office/drawing/2014/main" id="{D17DEF29-35F7-D8C2-4BFC-40AB55810D63}"/>
              </a:ext>
            </a:extLst>
          </p:cNvPr>
          <p:cNvSpPr/>
          <p:nvPr userDrawn="1"/>
        </p:nvSpPr>
        <p:spPr>
          <a:xfrm>
            <a:off x="5975218"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任意多边形 42">
            <a:extLst>
              <a:ext uri="{FF2B5EF4-FFF2-40B4-BE49-F238E27FC236}">
                <a16:creationId xmlns:a16="http://schemas.microsoft.com/office/drawing/2014/main" id="{F0F34ABE-8A34-4925-52A3-E12CB1E3DD7A}"/>
              </a:ext>
            </a:extLst>
          </p:cNvPr>
          <p:cNvSpPr/>
          <p:nvPr userDrawn="1"/>
        </p:nvSpPr>
        <p:spPr>
          <a:xfrm>
            <a:off x="5896393"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任意多边形 43">
            <a:extLst>
              <a:ext uri="{FF2B5EF4-FFF2-40B4-BE49-F238E27FC236}">
                <a16:creationId xmlns:a16="http://schemas.microsoft.com/office/drawing/2014/main" id="{E2F67CF9-A1E5-2D41-0F38-C988C6FA63AD}"/>
              </a:ext>
            </a:extLst>
          </p:cNvPr>
          <p:cNvSpPr/>
          <p:nvPr userDrawn="1"/>
        </p:nvSpPr>
        <p:spPr>
          <a:xfrm>
            <a:off x="5817568"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任意多边形 44">
            <a:extLst>
              <a:ext uri="{FF2B5EF4-FFF2-40B4-BE49-F238E27FC236}">
                <a16:creationId xmlns:a16="http://schemas.microsoft.com/office/drawing/2014/main" id="{DACA4110-ABB2-5595-C2D7-DCE857D4FA8D}"/>
              </a:ext>
            </a:extLst>
          </p:cNvPr>
          <p:cNvSpPr/>
          <p:nvPr userDrawn="1"/>
        </p:nvSpPr>
        <p:spPr>
          <a:xfrm>
            <a:off x="5738743"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任意多边形 45">
            <a:extLst>
              <a:ext uri="{FF2B5EF4-FFF2-40B4-BE49-F238E27FC236}">
                <a16:creationId xmlns:a16="http://schemas.microsoft.com/office/drawing/2014/main" id="{3CFFD2A3-9C9C-4EC7-7884-1A82F32A947C}"/>
              </a:ext>
            </a:extLst>
          </p:cNvPr>
          <p:cNvSpPr/>
          <p:nvPr userDrawn="1"/>
        </p:nvSpPr>
        <p:spPr>
          <a:xfrm>
            <a:off x="5659919"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5" name="任意多边形 46">
            <a:extLst>
              <a:ext uri="{FF2B5EF4-FFF2-40B4-BE49-F238E27FC236}">
                <a16:creationId xmlns:a16="http://schemas.microsoft.com/office/drawing/2014/main" id="{EFBE7983-87E9-D139-CDA7-E34196EE1869}"/>
              </a:ext>
            </a:extLst>
          </p:cNvPr>
          <p:cNvSpPr/>
          <p:nvPr userDrawn="1"/>
        </p:nvSpPr>
        <p:spPr>
          <a:xfrm>
            <a:off x="5581094"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任意多边形 47">
            <a:extLst>
              <a:ext uri="{FF2B5EF4-FFF2-40B4-BE49-F238E27FC236}">
                <a16:creationId xmlns:a16="http://schemas.microsoft.com/office/drawing/2014/main" id="{8A29669D-6A7C-14DF-56E0-67E9636B8B76}"/>
              </a:ext>
            </a:extLst>
          </p:cNvPr>
          <p:cNvSpPr/>
          <p:nvPr userDrawn="1"/>
        </p:nvSpPr>
        <p:spPr>
          <a:xfrm>
            <a:off x="5502270"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7" name="任意多边形 48">
            <a:extLst>
              <a:ext uri="{FF2B5EF4-FFF2-40B4-BE49-F238E27FC236}">
                <a16:creationId xmlns:a16="http://schemas.microsoft.com/office/drawing/2014/main" id="{997169CB-E4C8-149D-E401-547E22C7732F}"/>
              </a:ext>
            </a:extLst>
          </p:cNvPr>
          <p:cNvSpPr/>
          <p:nvPr userDrawn="1"/>
        </p:nvSpPr>
        <p:spPr>
          <a:xfrm>
            <a:off x="5423445"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8" name="任意多边形 49">
            <a:extLst>
              <a:ext uri="{FF2B5EF4-FFF2-40B4-BE49-F238E27FC236}">
                <a16:creationId xmlns:a16="http://schemas.microsoft.com/office/drawing/2014/main" id="{6496FE16-D1BA-AE4A-EE4B-A7A4EF61EA52}"/>
              </a:ext>
            </a:extLst>
          </p:cNvPr>
          <p:cNvSpPr/>
          <p:nvPr userDrawn="1"/>
        </p:nvSpPr>
        <p:spPr>
          <a:xfrm>
            <a:off x="5344621"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9" name="任意多边形 50">
            <a:extLst>
              <a:ext uri="{FF2B5EF4-FFF2-40B4-BE49-F238E27FC236}">
                <a16:creationId xmlns:a16="http://schemas.microsoft.com/office/drawing/2014/main" id="{BB32AE0B-4BFA-B6DF-D2DF-CBAB3C67E710}"/>
              </a:ext>
            </a:extLst>
          </p:cNvPr>
          <p:cNvSpPr/>
          <p:nvPr userDrawn="1"/>
        </p:nvSpPr>
        <p:spPr>
          <a:xfrm>
            <a:off x="5265796"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0" name="任意多边形 51">
            <a:extLst>
              <a:ext uri="{FF2B5EF4-FFF2-40B4-BE49-F238E27FC236}">
                <a16:creationId xmlns:a16="http://schemas.microsoft.com/office/drawing/2014/main" id="{7822426A-F467-D1D8-9459-5ED48884CB19}"/>
              </a:ext>
            </a:extLst>
          </p:cNvPr>
          <p:cNvSpPr/>
          <p:nvPr userDrawn="1"/>
        </p:nvSpPr>
        <p:spPr>
          <a:xfrm>
            <a:off x="5186971"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任意多边形 52">
            <a:extLst>
              <a:ext uri="{FF2B5EF4-FFF2-40B4-BE49-F238E27FC236}">
                <a16:creationId xmlns:a16="http://schemas.microsoft.com/office/drawing/2014/main" id="{5157896D-3F36-1810-247B-E0051BB50EAC}"/>
              </a:ext>
            </a:extLst>
          </p:cNvPr>
          <p:cNvSpPr/>
          <p:nvPr userDrawn="1"/>
        </p:nvSpPr>
        <p:spPr>
          <a:xfrm>
            <a:off x="5108146" y="4593245"/>
            <a:ext cx="130715" cy="342471"/>
          </a:xfrm>
          <a:custGeom>
            <a:avLst/>
            <a:gdLst>
              <a:gd name="connsiteX0" fmla="*/ 121201 w 185041"/>
              <a:gd name="connsiteY0" fmla="*/ 0 h 484806"/>
              <a:gd name="connsiteX1" fmla="*/ 185041 w 185041"/>
              <a:gd name="connsiteY1" fmla="*/ 0 h 484806"/>
              <a:gd name="connsiteX2" fmla="*/ 63840 w 185041"/>
              <a:gd name="connsiteY2" fmla="*/ 484806 h 484806"/>
              <a:gd name="connsiteX3" fmla="*/ 0 w 185041"/>
              <a:gd name="connsiteY3" fmla="*/ 484806 h 484806"/>
            </a:gdLst>
            <a:ahLst/>
            <a:cxnLst>
              <a:cxn ang="0">
                <a:pos x="connsiteX0" y="connsiteY0"/>
              </a:cxn>
              <a:cxn ang="0">
                <a:pos x="connsiteX1" y="connsiteY1"/>
              </a:cxn>
              <a:cxn ang="0">
                <a:pos x="connsiteX2" y="connsiteY2"/>
              </a:cxn>
              <a:cxn ang="0">
                <a:pos x="connsiteX3" y="connsiteY3"/>
              </a:cxn>
            </a:cxnLst>
            <a:rect l="l" t="t" r="r" b="b"/>
            <a:pathLst>
              <a:path w="185041" h="484806">
                <a:moveTo>
                  <a:pt x="121201" y="0"/>
                </a:moveTo>
                <a:lnTo>
                  <a:pt x="185041" y="0"/>
                </a:lnTo>
                <a:lnTo>
                  <a:pt x="63840" y="484806"/>
                </a:lnTo>
                <a:lnTo>
                  <a:pt x="0" y="484806"/>
                </a:lnTo>
                <a:close/>
              </a:path>
            </a:pathLst>
          </a:cu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Google Shape;2577;p124">
            <a:extLst>
              <a:ext uri="{FF2B5EF4-FFF2-40B4-BE49-F238E27FC236}">
                <a16:creationId xmlns:a16="http://schemas.microsoft.com/office/drawing/2014/main" id="{655D8A8E-73B1-BC6D-4A79-32B21283798E}"/>
              </a:ext>
            </a:extLst>
          </p:cNvPr>
          <p:cNvSpPr txBox="1">
            <a:spLocks/>
          </p:cNvSpPr>
          <p:nvPr userDrawn="1"/>
        </p:nvSpPr>
        <p:spPr>
          <a:xfrm>
            <a:off x="703999" y="4675619"/>
            <a:ext cx="4491347" cy="406125"/>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3600"/>
              <a:buFont typeface="Hammersmith One"/>
              <a:buNone/>
              <a:defRPr sz="5400" b="1" i="0" u="none" strike="noStrike" cap="none">
                <a:solidFill>
                  <a:schemeClr val="accent2"/>
                </a:solidFill>
                <a:latin typeface="Hammersmith One"/>
                <a:ea typeface="Hammersmith One"/>
                <a:cs typeface="Hammersmith One"/>
                <a:sym typeface="Hammersmith One"/>
              </a:defRPr>
            </a:lvl1pPr>
            <a:lvl2pPr marR="0" lvl="1"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2pPr>
            <a:lvl3pPr marR="0" lvl="2"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3pPr>
            <a:lvl4pPr marR="0" lvl="3"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4pPr>
            <a:lvl5pPr marR="0" lvl="4"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5pPr>
            <a:lvl6pPr marR="0" lvl="5"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6pPr>
            <a:lvl7pPr marR="0" lvl="6"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7pPr>
            <a:lvl8pPr marR="0" lvl="7"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8pPr>
            <a:lvl9pPr marR="0" lvl="8" algn="ctr" rtl="0">
              <a:lnSpc>
                <a:spcPct val="100000"/>
              </a:lnSpc>
              <a:spcBef>
                <a:spcPts val="0"/>
              </a:spcBef>
              <a:spcAft>
                <a:spcPts val="0"/>
              </a:spcAft>
              <a:buClr>
                <a:schemeClr val="accent2"/>
              </a:buClr>
              <a:buSzPts val="3600"/>
              <a:buFont typeface="Hammersmith One"/>
              <a:buNone/>
              <a:defRPr sz="3600" b="1" i="0" u="none" strike="noStrike" cap="none">
                <a:solidFill>
                  <a:schemeClr val="accent2"/>
                </a:solidFill>
                <a:latin typeface="Hammersmith One"/>
                <a:ea typeface="Hammersmith One"/>
                <a:cs typeface="Hammersmith One"/>
                <a:sym typeface="Hammersmith One"/>
              </a:defRPr>
            </a:lvl9pPr>
          </a:lstStyle>
          <a:p>
            <a:r>
              <a:rPr lang="es-PE" sz="2100" dirty="0">
                <a:solidFill>
                  <a:srgbClr val="013857"/>
                </a:solidFill>
                <a:hlinkClick r:id="rId2"/>
              </a:rPr>
              <a:t>dlgamboa1@espe.edu.ec</a:t>
            </a:r>
            <a:r>
              <a:rPr lang="es-PE" sz="2100" dirty="0">
                <a:solidFill>
                  <a:srgbClr val="013857"/>
                </a:solidFill>
              </a:rPr>
              <a:t>  ESPE</a:t>
            </a:r>
          </a:p>
        </p:txBody>
      </p:sp>
    </p:spTree>
    <p:extLst>
      <p:ext uri="{BB962C8B-B14F-4D97-AF65-F5344CB8AC3E}">
        <p14:creationId xmlns:p14="http://schemas.microsoft.com/office/powerpoint/2010/main" val="356011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937D59-5EDB-4C39-B697-625748F703B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95959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815133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937D59-5EDB-4C39-B697-625748F703B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60431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937D59-5EDB-4C39-B697-625748F703B6}"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05802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937D59-5EDB-4C39-B697-625748F703B6}"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38794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937D59-5EDB-4C39-B697-625748F703B6}"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15051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937D59-5EDB-4C39-B697-625748F703B6}"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403535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937D59-5EDB-4C39-B697-625748F703B6}"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501824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937D59-5EDB-4C39-B697-625748F703B6}"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722440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810871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42400912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391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Lst>
  <p:txStyles>
    <p:title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63937D59-5EDB-4C39-B697-625748F703B6}" type="datetimeFigureOut">
              <a:rPr lang="en-US" smtClean="0"/>
              <a:t>10/8/2025</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F31DC1F-5561-484E-AB46-68C682854F61}" type="slidenum">
              <a:rPr lang="en-US" smtClean="0"/>
              <a:t>‹#›</a:t>
            </a:fld>
            <a:endParaRPr lang="en-US"/>
          </a:p>
        </p:txBody>
      </p:sp>
    </p:spTree>
    <p:extLst>
      <p:ext uri="{BB962C8B-B14F-4D97-AF65-F5344CB8AC3E}">
        <p14:creationId xmlns:p14="http://schemas.microsoft.com/office/powerpoint/2010/main" val="26212399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free-powerpoint-templates-design.com/free-powerpoint-templates-design" TargetMode="Externa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7.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7958" y="2340917"/>
            <a:ext cx="4139950" cy="276999"/>
          </a:xfrm>
          <a:prstGeom prst="rect">
            <a:avLst/>
          </a:prstGeom>
          <a:noFill/>
        </p:spPr>
        <p:txBody>
          <a:bodyPr wrap="square">
            <a:spAutoFit/>
          </a:bodyPr>
          <a:lstStyle/>
          <a:p>
            <a:pPr algn="r" fontAlgn="auto">
              <a:spcBef>
                <a:spcPts val="0"/>
              </a:spcBef>
              <a:spcAft>
                <a:spcPts val="0"/>
              </a:spcAft>
              <a:defRPr/>
            </a:pPr>
            <a:r>
              <a:rPr kumimoji="0" lang="en-US" altLang="ko-KR" sz="1200" b="1" dirty="0">
                <a:solidFill>
                  <a:schemeClr val="tx1">
                    <a:lumMod val="75000"/>
                    <a:lumOff val="25000"/>
                  </a:schemeClr>
                </a:solidFill>
                <a:latin typeface="Arial" pitchFamily="34" charset="0"/>
                <a:cs typeface="Arial" pitchFamily="34" charset="0"/>
              </a:rPr>
              <a:t>UNIDAD 1</a:t>
            </a:r>
          </a:p>
        </p:txBody>
      </p:sp>
      <p:sp>
        <p:nvSpPr>
          <p:cNvPr id="5" name="TextBox 1"/>
          <p:cNvSpPr txBox="1">
            <a:spLocks noChangeArrowheads="1"/>
          </p:cNvSpPr>
          <p:nvPr/>
        </p:nvSpPr>
        <p:spPr bwMode="auto">
          <a:xfrm>
            <a:off x="3563888" y="1358386"/>
            <a:ext cx="5514061" cy="1077218"/>
          </a:xfrm>
          <a:prstGeom prst="rect">
            <a:avLst/>
          </a:prstGeom>
          <a:noFill/>
          <a:ln w="9525">
            <a:noFill/>
            <a:miter lim="800000"/>
            <a:headEnd/>
            <a:tailEnd/>
          </a:ln>
        </p:spPr>
        <p:txBody>
          <a:bodyPr wrap="square">
            <a:spAutoFit/>
          </a:bodyPr>
          <a:lstStyle/>
          <a:p>
            <a:pPr algn="r"/>
            <a:r>
              <a:rPr lang="en-US" altLang="ko-KR" sz="3200" b="1" dirty="0">
                <a:solidFill>
                  <a:schemeClr val="tx1">
                    <a:lumMod val="75000"/>
                    <a:lumOff val="25000"/>
                  </a:schemeClr>
                </a:solidFill>
                <a:latin typeface="Arial" pitchFamily="34" charset="0"/>
                <a:ea typeface="맑은 고딕" pitchFamily="50" charset="-127"/>
                <a:cs typeface="Arial" pitchFamily="34" charset="0"/>
              </a:rPr>
              <a:t>INTRODUCCIÓN A LA</a:t>
            </a:r>
          </a:p>
          <a:p>
            <a:pPr algn="r"/>
            <a:r>
              <a:rPr lang="en-US" altLang="ko-KR" sz="3200" b="1" dirty="0">
                <a:solidFill>
                  <a:schemeClr val="tx1">
                    <a:lumMod val="75000"/>
                    <a:lumOff val="25000"/>
                  </a:schemeClr>
                </a:solidFill>
                <a:latin typeface="Arial" pitchFamily="34" charset="0"/>
                <a:ea typeface="맑은 고딕" pitchFamily="50" charset="-127"/>
                <a:cs typeface="Arial" pitchFamily="34" charset="0"/>
              </a:rPr>
              <a:t>CALIDAD DEL SOFTWARE</a:t>
            </a:r>
          </a:p>
        </p:txBody>
      </p:sp>
      <p:sp>
        <p:nvSpPr>
          <p:cNvPr id="7" name="TextBox 6">
            <a:hlinkClick r:id="rId2"/>
          </p:cNvPr>
          <p:cNvSpPr txBox="1"/>
          <p:nvPr/>
        </p:nvSpPr>
        <p:spPr>
          <a:xfrm>
            <a:off x="0" y="4925734"/>
            <a:ext cx="9144000" cy="215444"/>
          </a:xfrm>
          <a:prstGeom prst="rect">
            <a:avLst/>
          </a:prstGeom>
          <a:noFill/>
        </p:spPr>
        <p:txBody>
          <a:bodyPr wrap="square" rtlCol="0">
            <a:spAutoFit/>
          </a:bodyPr>
          <a:lstStyle/>
          <a:p>
            <a:pPr algn="ctr"/>
            <a:r>
              <a:rPr lang="en-US" altLang="ko-KR" sz="800" dirty="0">
                <a:solidFill>
                  <a:schemeClr val="tx1">
                    <a:lumMod val="75000"/>
                    <a:lumOff val="25000"/>
                  </a:schemeClr>
                </a:solidFill>
                <a:latin typeface="Arial" pitchFamily="34" charset="0"/>
                <a:cs typeface="Arial" pitchFamily="34" charset="0"/>
              </a:rPr>
              <a:t>Ing. Diego Gamboa </a:t>
            </a:r>
            <a:r>
              <a:rPr lang="en-US" altLang="ko-KR" sz="800" dirty="0" err="1">
                <a:solidFill>
                  <a:schemeClr val="tx1">
                    <a:lumMod val="75000"/>
                    <a:lumOff val="25000"/>
                  </a:schemeClr>
                </a:solidFill>
                <a:latin typeface="Arial" pitchFamily="34" charset="0"/>
                <a:cs typeface="Arial" pitchFamily="34" charset="0"/>
              </a:rPr>
              <a:t>Mgtr</a:t>
            </a:r>
            <a:r>
              <a:rPr lang="en-US" altLang="ko-KR" sz="800" dirty="0">
                <a:solidFill>
                  <a:schemeClr val="tx1">
                    <a:lumMod val="75000"/>
                    <a:lumOff val="25000"/>
                  </a:schemeClr>
                </a:solidFill>
                <a:latin typeface="Arial" pitchFamily="34" charset="0"/>
                <a:cs typeface="Arial" pitchFamily="34" charset="0"/>
              </a:rPr>
              <a:t>.               dlgamboa1@espe.edu.ec </a:t>
            </a:r>
            <a:endParaRPr lang="ko-KR" altLang="en-US" sz="800" dirty="0">
              <a:solidFill>
                <a:schemeClr val="tx1">
                  <a:lumMod val="75000"/>
                  <a:lumOff val="25000"/>
                </a:schemeClr>
              </a:solidFill>
              <a:latin typeface="Arial" pitchFamily="34" charset="0"/>
              <a:cs typeface="Arial" pitchFamily="34" charset="0"/>
            </a:endParaRPr>
          </a:p>
        </p:txBody>
      </p:sp>
      <p:pic>
        <p:nvPicPr>
          <p:cNvPr id="3" name="Picture 2" descr="Mi ESPE">
            <a:extLst>
              <a:ext uri="{FF2B5EF4-FFF2-40B4-BE49-F238E27FC236}">
                <a16:creationId xmlns:a16="http://schemas.microsoft.com/office/drawing/2014/main" id="{F04F2875-C293-17C3-5A57-0AE5A76D1C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7745" y="134179"/>
            <a:ext cx="4680520" cy="8885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aper with a magnifying glass and tools&#10;&#10;AI-generated content may be incorrect.">
            <a:extLst>
              <a:ext uri="{FF2B5EF4-FFF2-40B4-BE49-F238E27FC236}">
                <a16:creationId xmlns:a16="http://schemas.microsoft.com/office/drawing/2014/main" id="{08B52E2F-D9B6-E9BD-AA87-497E457C66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60795" y="3626346"/>
            <a:ext cx="1517154" cy="1517154"/>
          </a:xfrm>
          <a:prstGeom prst="rect">
            <a:avLst/>
          </a:prstGeom>
        </p:spPr>
      </p:pic>
      <p:pic>
        <p:nvPicPr>
          <p:cNvPr id="10" name="Graphic 9" descr="Email with solid fill">
            <a:extLst>
              <a:ext uri="{FF2B5EF4-FFF2-40B4-BE49-F238E27FC236}">
                <a16:creationId xmlns:a16="http://schemas.microsoft.com/office/drawing/2014/main" id="{44432089-C10B-90FD-95BB-7E0252D86C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4427984" y="4865305"/>
            <a:ext cx="288032" cy="288032"/>
          </a:xfrm>
          <a:prstGeom prst="rect">
            <a:avLst/>
          </a:prstGeom>
        </p:spPr>
      </p:pic>
    </p:spTree>
    <p:extLst>
      <p:ext uri="{BB962C8B-B14F-4D97-AF65-F5344CB8AC3E}">
        <p14:creationId xmlns:p14="http://schemas.microsoft.com/office/powerpoint/2010/main" val="303447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87164" y="267958"/>
            <a:ext cx="4680520" cy="460648"/>
          </a:xfrm>
        </p:spPr>
        <p:txBody>
          <a:bodyPr/>
          <a:lstStyle/>
          <a:p>
            <a:r>
              <a:rPr lang="en-US" b="1" dirty="0" err="1">
                <a:solidFill>
                  <a:schemeClr val="bg1">
                    <a:lumMod val="95000"/>
                  </a:schemeClr>
                </a:solidFill>
                <a:latin typeface="Arial" pitchFamily="34" charset="0"/>
                <a:cs typeface="Arial" pitchFamily="34" charset="0"/>
              </a:rPr>
              <a:t>Temario</a:t>
            </a:r>
            <a:endParaRPr lang="en-US" b="1" dirty="0">
              <a:solidFill>
                <a:schemeClr val="bg1">
                  <a:lumMod val="95000"/>
                </a:schemeClr>
              </a:solidFill>
              <a:latin typeface="Arial" pitchFamily="34" charset="0"/>
              <a:cs typeface="Arial" pitchFamily="34" charset="0"/>
            </a:endParaRPr>
          </a:p>
        </p:txBody>
      </p:sp>
      <p:pic>
        <p:nvPicPr>
          <p:cNvPr id="4" name="object 2">
            <a:extLst>
              <a:ext uri="{FF2B5EF4-FFF2-40B4-BE49-F238E27FC236}">
                <a16:creationId xmlns:a16="http://schemas.microsoft.com/office/drawing/2014/main" id="{A1121680-C649-8120-9EB3-276E84E05551}"/>
              </a:ext>
            </a:extLst>
          </p:cNvPr>
          <p:cNvPicPr/>
          <p:nvPr/>
        </p:nvPicPr>
        <p:blipFill>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0" y="3149"/>
            <a:ext cx="4211960" cy="5140352"/>
          </a:xfrm>
          <a:prstGeom prst="rect">
            <a:avLst/>
          </a:prstGeom>
        </p:spPr>
      </p:pic>
      <p:sp>
        <p:nvSpPr>
          <p:cNvPr id="8" name="object 3">
            <a:extLst>
              <a:ext uri="{FF2B5EF4-FFF2-40B4-BE49-F238E27FC236}">
                <a16:creationId xmlns:a16="http://schemas.microsoft.com/office/drawing/2014/main" id="{21ED591D-47E8-DB2D-44FD-4ED17FFA241F}"/>
              </a:ext>
            </a:extLst>
          </p:cNvPr>
          <p:cNvSpPr txBox="1"/>
          <p:nvPr/>
        </p:nvSpPr>
        <p:spPr>
          <a:xfrm>
            <a:off x="539552" y="2139702"/>
            <a:ext cx="3012503" cy="1010533"/>
          </a:xfrm>
          <a:prstGeom prst="rect">
            <a:avLst/>
          </a:prstGeom>
        </p:spPr>
        <p:txBody>
          <a:bodyPr vert="horz" wrap="square" lIns="0" tIns="12700" rIns="0" bIns="0" rtlCol="0">
            <a:spAutoFit/>
          </a:bodyPr>
          <a:lstStyle/>
          <a:p>
            <a:pPr marL="12700" algn="ctr">
              <a:lnSpc>
                <a:spcPct val="100000"/>
              </a:lnSpc>
              <a:spcBef>
                <a:spcPts val="100"/>
              </a:spcBef>
            </a:pPr>
            <a:r>
              <a:rPr lang="es-MX" sz="3200" b="1" spc="-10" dirty="0">
                <a:solidFill>
                  <a:srgbClr val="FFFFFF"/>
                </a:solidFill>
                <a:latin typeface="Arial"/>
                <a:cs typeface="Arial"/>
              </a:rPr>
              <a:t>Introducción</a:t>
            </a:r>
          </a:p>
          <a:p>
            <a:pPr marL="12700" algn="ctr">
              <a:lnSpc>
                <a:spcPct val="100000"/>
              </a:lnSpc>
              <a:spcBef>
                <a:spcPts val="100"/>
              </a:spcBef>
            </a:pPr>
            <a:r>
              <a:rPr lang="es-MX" sz="3200" b="1" spc="-10" dirty="0">
                <a:solidFill>
                  <a:srgbClr val="FFFFFF"/>
                </a:solidFill>
                <a:latin typeface="Arial"/>
                <a:cs typeface="Arial"/>
              </a:rPr>
              <a:t>a la calidad</a:t>
            </a:r>
            <a:endParaRPr sz="3200" dirty="0">
              <a:latin typeface="Arial"/>
              <a:cs typeface="Arial"/>
            </a:endParaRPr>
          </a:p>
        </p:txBody>
      </p:sp>
      <p:pic>
        <p:nvPicPr>
          <p:cNvPr id="10" name="Picture 9" descr="Mi ESPE">
            <a:extLst>
              <a:ext uri="{FF2B5EF4-FFF2-40B4-BE49-F238E27FC236}">
                <a16:creationId xmlns:a16="http://schemas.microsoft.com/office/drawing/2014/main" id="{AA10760D-69AA-CDF0-51F7-186EB89FCB1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7251" y="4483211"/>
            <a:ext cx="2057169" cy="612248"/>
          </a:xfrm>
          <a:prstGeom prst="rect">
            <a:avLst/>
          </a:prstGeom>
          <a:noFill/>
          <a:extLst>
            <a:ext uri="{909E8E84-426E-40DD-AFC4-6F175D3DCCD1}">
              <a14:hiddenFill xmlns:a14="http://schemas.microsoft.com/office/drawing/2010/main">
                <a:solidFill>
                  <a:srgbClr val="FFFFFF"/>
                </a:solidFill>
              </a14:hiddenFill>
            </a:ext>
          </a:extLst>
        </p:spPr>
      </p:pic>
      <p:sp>
        <p:nvSpPr>
          <p:cNvPr id="120" name="Rectangle 3">
            <a:extLst>
              <a:ext uri="{FF2B5EF4-FFF2-40B4-BE49-F238E27FC236}">
                <a16:creationId xmlns:a16="http://schemas.microsoft.com/office/drawing/2014/main" id="{DE35181F-3768-7B58-69C9-66497E16C5B9}"/>
              </a:ext>
            </a:extLst>
          </p:cNvPr>
          <p:cNvSpPr/>
          <p:nvPr/>
        </p:nvSpPr>
        <p:spPr>
          <a:xfrm>
            <a:off x="4187960" y="0"/>
            <a:ext cx="66088" cy="5211479"/>
          </a:xfrm>
          <a:prstGeom prst="rect">
            <a:avLst/>
          </a:prstGeom>
          <a:solidFill>
            <a:srgbClr val="013857"/>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prstClr val="white"/>
              </a:solidFill>
              <a:effectLst/>
              <a:uLnTx/>
              <a:uFillTx/>
              <a:latin typeface="Arial"/>
              <a:cs typeface="+mn-cs"/>
            </a:endParaRPr>
          </a:p>
        </p:txBody>
      </p:sp>
      <p:sp>
        <p:nvSpPr>
          <p:cNvPr id="122" name="Oval 5">
            <a:extLst>
              <a:ext uri="{FF2B5EF4-FFF2-40B4-BE49-F238E27FC236}">
                <a16:creationId xmlns:a16="http://schemas.microsoft.com/office/drawing/2014/main" id="{84D9C254-CA13-E711-E9C5-5CAA30DEB0FB}"/>
              </a:ext>
            </a:extLst>
          </p:cNvPr>
          <p:cNvSpPr/>
          <p:nvPr/>
        </p:nvSpPr>
        <p:spPr>
          <a:xfrm>
            <a:off x="4458994" y="1482766"/>
            <a:ext cx="288000" cy="288000"/>
          </a:xfrm>
          <a:prstGeom prst="ellipse">
            <a:avLst/>
          </a:prstGeom>
          <a:solidFill>
            <a:srgbClr val="33AAB9"/>
          </a:solidFill>
          <a:ln w="12700" cap="flat" cmpd="sng" algn="ctr">
            <a:solidFill>
              <a:sysClr val="window" lastClr="FFFFFF"/>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prstClr val="white"/>
              </a:solidFill>
              <a:effectLst/>
              <a:uLnTx/>
              <a:uFillTx/>
              <a:latin typeface="Arial"/>
              <a:cs typeface="+mn-cs"/>
            </a:endParaRPr>
          </a:p>
        </p:txBody>
      </p:sp>
      <p:sp>
        <p:nvSpPr>
          <p:cNvPr id="123" name="Oval 6">
            <a:extLst>
              <a:ext uri="{FF2B5EF4-FFF2-40B4-BE49-F238E27FC236}">
                <a16:creationId xmlns:a16="http://schemas.microsoft.com/office/drawing/2014/main" id="{41C04F99-48A3-C660-D3CD-5332A7C48F4F}"/>
              </a:ext>
            </a:extLst>
          </p:cNvPr>
          <p:cNvSpPr/>
          <p:nvPr/>
        </p:nvSpPr>
        <p:spPr>
          <a:xfrm>
            <a:off x="4458994" y="2490886"/>
            <a:ext cx="288000" cy="288000"/>
          </a:xfrm>
          <a:prstGeom prst="ellipse">
            <a:avLst/>
          </a:prstGeom>
          <a:solidFill>
            <a:srgbClr val="013857"/>
          </a:solidFill>
          <a:ln w="12700" cap="flat" cmpd="sng" algn="ctr">
            <a:solidFill>
              <a:sysClr val="window" lastClr="FFFFFF"/>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prstClr val="white"/>
              </a:solidFill>
              <a:effectLst/>
              <a:uLnTx/>
              <a:uFillTx/>
              <a:latin typeface="Arial"/>
              <a:cs typeface="+mn-cs"/>
            </a:endParaRPr>
          </a:p>
        </p:txBody>
      </p:sp>
      <p:sp>
        <p:nvSpPr>
          <p:cNvPr id="124" name="Oval 7">
            <a:extLst>
              <a:ext uri="{FF2B5EF4-FFF2-40B4-BE49-F238E27FC236}">
                <a16:creationId xmlns:a16="http://schemas.microsoft.com/office/drawing/2014/main" id="{29EC70DA-100A-0E0B-C514-7EEEF222DB91}"/>
              </a:ext>
            </a:extLst>
          </p:cNvPr>
          <p:cNvSpPr/>
          <p:nvPr/>
        </p:nvSpPr>
        <p:spPr>
          <a:xfrm>
            <a:off x="4458994" y="3499006"/>
            <a:ext cx="288000" cy="288000"/>
          </a:xfrm>
          <a:prstGeom prst="ellipse">
            <a:avLst/>
          </a:prstGeom>
          <a:solidFill>
            <a:srgbClr val="33AAB9"/>
          </a:solidFill>
          <a:ln w="12700" cap="flat" cmpd="sng" algn="ctr">
            <a:solidFill>
              <a:sysClr val="window" lastClr="FFFFFF"/>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prstClr val="white"/>
              </a:solidFill>
              <a:effectLst/>
              <a:uLnTx/>
              <a:uFillTx/>
              <a:latin typeface="Arial"/>
              <a:cs typeface="+mn-cs"/>
            </a:endParaRPr>
          </a:p>
        </p:txBody>
      </p:sp>
      <p:sp>
        <p:nvSpPr>
          <p:cNvPr id="125" name="Oval 8">
            <a:extLst>
              <a:ext uri="{FF2B5EF4-FFF2-40B4-BE49-F238E27FC236}">
                <a16:creationId xmlns:a16="http://schemas.microsoft.com/office/drawing/2014/main" id="{1B20FFCC-9849-1FD5-3424-9FC824A94B55}"/>
              </a:ext>
            </a:extLst>
          </p:cNvPr>
          <p:cNvSpPr/>
          <p:nvPr/>
        </p:nvSpPr>
        <p:spPr>
          <a:xfrm>
            <a:off x="4458994" y="4507126"/>
            <a:ext cx="288000" cy="288000"/>
          </a:xfrm>
          <a:prstGeom prst="ellipse">
            <a:avLst/>
          </a:prstGeom>
          <a:solidFill>
            <a:srgbClr val="013857"/>
          </a:solidFill>
          <a:ln w="12700" cap="flat" cmpd="sng" algn="ctr">
            <a:solidFill>
              <a:sysClr val="window" lastClr="FFFFFF"/>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prstClr val="white"/>
              </a:solidFill>
              <a:effectLst/>
              <a:uLnTx/>
              <a:uFillTx/>
              <a:latin typeface="Arial"/>
              <a:cs typeface="+mn-cs"/>
            </a:endParaRPr>
          </a:p>
        </p:txBody>
      </p:sp>
      <p:sp>
        <p:nvSpPr>
          <p:cNvPr id="127" name="TextBox 10">
            <a:extLst>
              <a:ext uri="{FF2B5EF4-FFF2-40B4-BE49-F238E27FC236}">
                <a16:creationId xmlns:a16="http://schemas.microsoft.com/office/drawing/2014/main" id="{A7DF0E44-DF31-3A56-4FA2-3551FD55415E}"/>
              </a:ext>
            </a:extLst>
          </p:cNvPr>
          <p:cNvSpPr txBox="1"/>
          <p:nvPr/>
        </p:nvSpPr>
        <p:spPr>
          <a:xfrm>
            <a:off x="4921143" y="1318990"/>
            <a:ext cx="803599" cy="584775"/>
          </a:xfrm>
          <a:prstGeom prst="rect">
            <a:avLst/>
          </a:prstGeom>
          <a:solidFill>
            <a:srgbClr val="33AAB9"/>
          </a:solidFill>
        </p:spPr>
        <p:txBody>
          <a:bodyPr wrap="square" rtlCol="0">
            <a:spAutoFit/>
          </a:bodyPr>
          <a:lstStyle/>
          <a:p>
            <a:pPr algn="ctr" latinLnBrk="0"/>
            <a:r>
              <a:rPr lang="en-US" altLang="ko-KR" sz="3200" b="1" dirty="0">
                <a:solidFill>
                  <a:prstClr val="white"/>
                </a:solidFill>
                <a:latin typeface="Arial"/>
                <a:cs typeface="Arial" pitchFamily="34" charset="0"/>
              </a:rPr>
              <a:t>01</a:t>
            </a:r>
            <a:endParaRPr lang="ko-KR" altLang="en-US" sz="3200" b="1" dirty="0">
              <a:solidFill>
                <a:prstClr val="white"/>
              </a:solidFill>
              <a:latin typeface="Arial"/>
              <a:cs typeface="Arial" pitchFamily="34" charset="0"/>
            </a:endParaRPr>
          </a:p>
        </p:txBody>
      </p:sp>
      <p:sp>
        <p:nvSpPr>
          <p:cNvPr id="128" name="TextBox 11">
            <a:extLst>
              <a:ext uri="{FF2B5EF4-FFF2-40B4-BE49-F238E27FC236}">
                <a16:creationId xmlns:a16="http://schemas.microsoft.com/office/drawing/2014/main" id="{05DC3E29-4878-E646-A8B5-8BDE16018591}"/>
              </a:ext>
            </a:extLst>
          </p:cNvPr>
          <p:cNvSpPr txBox="1"/>
          <p:nvPr/>
        </p:nvSpPr>
        <p:spPr>
          <a:xfrm>
            <a:off x="4929212" y="2327110"/>
            <a:ext cx="803599" cy="584775"/>
          </a:xfrm>
          <a:prstGeom prst="rect">
            <a:avLst/>
          </a:prstGeom>
          <a:solidFill>
            <a:srgbClr val="013857"/>
          </a:solidFill>
        </p:spPr>
        <p:txBody>
          <a:bodyPr wrap="square" rtlCol="0">
            <a:spAutoFit/>
          </a:bodyPr>
          <a:lstStyle/>
          <a:p>
            <a:pPr algn="ctr" latinLnBrk="0"/>
            <a:r>
              <a:rPr lang="en-US" altLang="ko-KR" sz="3200" b="1" dirty="0">
                <a:solidFill>
                  <a:prstClr val="white"/>
                </a:solidFill>
                <a:latin typeface="Arial"/>
                <a:cs typeface="Arial" pitchFamily="34" charset="0"/>
              </a:rPr>
              <a:t>02</a:t>
            </a:r>
            <a:endParaRPr lang="ko-KR" altLang="en-US" sz="3200" b="1" dirty="0">
              <a:solidFill>
                <a:prstClr val="white"/>
              </a:solidFill>
              <a:latin typeface="Arial"/>
              <a:cs typeface="Arial" pitchFamily="34" charset="0"/>
            </a:endParaRPr>
          </a:p>
        </p:txBody>
      </p:sp>
      <p:sp>
        <p:nvSpPr>
          <p:cNvPr id="129" name="TextBox 12">
            <a:extLst>
              <a:ext uri="{FF2B5EF4-FFF2-40B4-BE49-F238E27FC236}">
                <a16:creationId xmlns:a16="http://schemas.microsoft.com/office/drawing/2014/main" id="{D228F476-C08B-1873-998C-81DFF8B3CED5}"/>
              </a:ext>
            </a:extLst>
          </p:cNvPr>
          <p:cNvSpPr txBox="1"/>
          <p:nvPr/>
        </p:nvSpPr>
        <p:spPr>
          <a:xfrm>
            <a:off x="4937281" y="3335230"/>
            <a:ext cx="803599" cy="584775"/>
          </a:xfrm>
          <a:prstGeom prst="rect">
            <a:avLst/>
          </a:prstGeom>
          <a:solidFill>
            <a:srgbClr val="33AAB9"/>
          </a:solidFill>
        </p:spPr>
        <p:txBody>
          <a:bodyPr wrap="square" rtlCol="0">
            <a:spAutoFit/>
          </a:bodyPr>
          <a:lstStyle/>
          <a:p>
            <a:pPr algn="ctr" latinLnBrk="0"/>
            <a:r>
              <a:rPr lang="en-US" altLang="ko-KR" sz="3200" b="1" dirty="0">
                <a:solidFill>
                  <a:prstClr val="white"/>
                </a:solidFill>
                <a:latin typeface="Arial"/>
                <a:cs typeface="Arial" pitchFamily="34" charset="0"/>
              </a:rPr>
              <a:t>03</a:t>
            </a:r>
            <a:endParaRPr lang="ko-KR" altLang="en-US" sz="3200" b="1" dirty="0">
              <a:solidFill>
                <a:prstClr val="white"/>
              </a:solidFill>
              <a:latin typeface="Arial"/>
              <a:cs typeface="Arial" pitchFamily="34" charset="0"/>
            </a:endParaRPr>
          </a:p>
        </p:txBody>
      </p:sp>
      <p:sp>
        <p:nvSpPr>
          <p:cNvPr id="130" name="TextBox 13">
            <a:extLst>
              <a:ext uri="{FF2B5EF4-FFF2-40B4-BE49-F238E27FC236}">
                <a16:creationId xmlns:a16="http://schemas.microsoft.com/office/drawing/2014/main" id="{7E17C827-3790-014A-035B-3798E155F7CB}"/>
              </a:ext>
            </a:extLst>
          </p:cNvPr>
          <p:cNvSpPr txBox="1"/>
          <p:nvPr/>
        </p:nvSpPr>
        <p:spPr>
          <a:xfrm>
            <a:off x="4889953" y="4368550"/>
            <a:ext cx="803599" cy="584775"/>
          </a:xfrm>
          <a:prstGeom prst="rect">
            <a:avLst/>
          </a:prstGeom>
          <a:solidFill>
            <a:srgbClr val="013857"/>
          </a:solidFill>
        </p:spPr>
        <p:txBody>
          <a:bodyPr wrap="square" rtlCol="0">
            <a:spAutoFit/>
          </a:bodyPr>
          <a:lstStyle/>
          <a:p>
            <a:pPr algn="ctr" latinLnBrk="0"/>
            <a:r>
              <a:rPr lang="en-US" altLang="ko-KR" sz="3200" b="1" dirty="0">
                <a:solidFill>
                  <a:prstClr val="white"/>
                </a:solidFill>
                <a:latin typeface="Arial"/>
                <a:cs typeface="Arial" pitchFamily="34" charset="0"/>
              </a:rPr>
              <a:t>04</a:t>
            </a:r>
            <a:endParaRPr lang="ko-KR" altLang="en-US" sz="3200" b="1" dirty="0">
              <a:solidFill>
                <a:prstClr val="white"/>
              </a:solidFill>
              <a:latin typeface="Arial"/>
              <a:cs typeface="Arial" pitchFamily="34" charset="0"/>
            </a:endParaRPr>
          </a:p>
        </p:txBody>
      </p:sp>
      <p:sp>
        <p:nvSpPr>
          <p:cNvPr id="136" name="TextBox 19">
            <a:extLst>
              <a:ext uri="{FF2B5EF4-FFF2-40B4-BE49-F238E27FC236}">
                <a16:creationId xmlns:a16="http://schemas.microsoft.com/office/drawing/2014/main" id="{1F22B35F-CE45-53B2-E5D8-17D642ED6C0E}"/>
              </a:ext>
            </a:extLst>
          </p:cNvPr>
          <p:cNvSpPr txBox="1"/>
          <p:nvPr/>
        </p:nvSpPr>
        <p:spPr>
          <a:xfrm>
            <a:off x="5827233" y="1319897"/>
            <a:ext cx="3274363" cy="584775"/>
          </a:xfrm>
          <a:prstGeom prst="rect">
            <a:avLst/>
          </a:prstGeom>
          <a:noFill/>
        </p:spPr>
        <p:txBody>
          <a:bodyPr wrap="square" rtlCol="0">
            <a:spAutoFit/>
          </a:bodyPr>
          <a:lstStyle/>
          <a:p>
            <a:pPr latinLnBrk="0"/>
            <a:r>
              <a:rPr lang="en-US" altLang="ko-KR" sz="1600" b="1" dirty="0" err="1">
                <a:solidFill>
                  <a:srgbClr val="787878"/>
                </a:solidFill>
                <a:latin typeface="Arial"/>
                <a:cs typeface="Arial" pitchFamily="34" charset="0"/>
              </a:rPr>
              <a:t>Conceptos</a:t>
            </a:r>
            <a:r>
              <a:rPr lang="en-US" altLang="ko-KR" sz="1600" b="1" dirty="0">
                <a:solidFill>
                  <a:srgbClr val="787878"/>
                </a:solidFill>
                <a:latin typeface="Arial"/>
                <a:cs typeface="Arial" pitchFamily="34" charset="0"/>
              </a:rPr>
              <a:t> de Calidad del Software</a:t>
            </a:r>
            <a:endParaRPr lang="ko-KR" altLang="en-US" sz="1600" b="1" dirty="0">
              <a:solidFill>
                <a:srgbClr val="787878"/>
              </a:solidFill>
              <a:latin typeface="Arial"/>
              <a:cs typeface="Arial" pitchFamily="34" charset="0"/>
            </a:endParaRPr>
          </a:p>
        </p:txBody>
      </p:sp>
      <p:sp>
        <p:nvSpPr>
          <p:cNvPr id="139" name="TextBox 22">
            <a:extLst>
              <a:ext uri="{FF2B5EF4-FFF2-40B4-BE49-F238E27FC236}">
                <a16:creationId xmlns:a16="http://schemas.microsoft.com/office/drawing/2014/main" id="{2E397C52-0B7A-1299-C376-F9511E53D133}"/>
              </a:ext>
            </a:extLst>
          </p:cNvPr>
          <p:cNvSpPr txBox="1"/>
          <p:nvPr/>
        </p:nvSpPr>
        <p:spPr>
          <a:xfrm>
            <a:off x="5827233" y="2430255"/>
            <a:ext cx="4032448" cy="338555"/>
          </a:xfrm>
          <a:prstGeom prst="rect">
            <a:avLst/>
          </a:prstGeom>
          <a:noFill/>
        </p:spPr>
        <p:txBody>
          <a:bodyPr wrap="square" rtlCol="0">
            <a:spAutoFit/>
          </a:bodyPr>
          <a:lstStyle/>
          <a:p>
            <a:pPr latinLnBrk="0"/>
            <a:r>
              <a:rPr lang="en-US" altLang="ko-KR" sz="1600" b="1" dirty="0" err="1">
                <a:solidFill>
                  <a:srgbClr val="787878"/>
                </a:solidFill>
                <a:latin typeface="Arial"/>
                <a:cs typeface="Arial" pitchFamily="34" charset="0"/>
              </a:rPr>
              <a:t>Evolución</a:t>
            </a:r>
            <a:r>
              <a:rPr lang="en-US" altLang="ko-KR" sz="1600" b="1" dirty="0">
                <a:solidFill>
                  <a:srgbClr val="787878"/>
                </a:solidFill>
                <a:latin typeface="Arial"/>
                <a:cs typeface="Arial" pitchFamily="34" charset="0"/>
              </a:rPr>
              <a:t> de la Calidad</a:t>
            </a:r>
            <a:endParaRPr lang="ko-KR" altLang="en-US" sz="1600" b="1" dirty="0">
              <a:solidFill>
                <a:srgbClr val="787878"/>
              </a:solidFill>
              <a:latin typeface="Arial"/>
              <a:cs typeface="Arial" pitchFamily="34" charset="0"/>
            </a:endParaRPr>
          </a:p>
        </p:txBody>
      </p:sp>
      <p:sp>
        <p:nvSpPr>
          <p:cNvPr id="142" name="TextBox 25">
            <a:extLst>
              <a:ext uri="{FF2B5EF4-FFF2-40B4-BE49-F238E27FC236}">
                <a16:creationId xmlns:a16="http://schemas.microsoft.com/office/drawing/2014/main" id="{F254AEB4-0084-1499-35FA-935FF6DB992E}"/>
              </a:ext>
            </a:extLst>
          </p:cNvPr>
          <p:cNvSpPr txBox="1"/>
          <p:nvPr/>
        </p:nvSpPr>
        <p:spPr>
          <a:xfrm>
            <a:off x="5827233" y="3414891"/>
            <a:ext cx="4032448" cy="338555"/>
          </a:xfrm>
          <a:prstGeom prst="rect">
            <a:avLst/>
          </a:prstGeom>
          <a:noFill/>
        </p:spPr>
        <p:txBody>
          <a:bodyPr wrap="square" rtlCol="0">
            <a:spAutoFit/>
          </a:bodyPr>
          <a:lstStyle/>
          <a:p>
            <a:pPr latinLnBrk="0"/>
            <a:r>
              <a:rPr lang="en-US" altLang="ko-KR" sz="1600" b="1" dirty="0">
                <a:solidFill>
                  <a:srgbClr val="787878"/>
                </a:solidFill>
                <a:latin typeface="Arial"/>
                <a:cs typeface="Arial" pitchFamily="34" charset="0"/>
              </a:rPr>
              <a:t>Costos de la </a:t>
            </a:r>
            <a:r>
              <a:rPr lang="en-US" altLang="ko-KR" sz="1600" b="1" dirty="0" err="1">
                <a:solidFill>
                  <a:srgbClr val="787878"/>
                </a:solidFill>
                <a:latin typeface="Arial"/>
                <a:cs typeface="Arial" pitchFamily="34" charset="0"/>
              </a:rPr>
              <a:t>calidad</a:t>
            </a:r>
            <a:endParaRPr lang="ko-KR" altLang="en-US" sz="1600" b="1" dirty="0">
              <a:solidFill>
                <a:srgbClr val="787878"/>
              </a:solidFill>
              <a:latin typeface="Arial"/>
              <a:cs typeface="Arial" pitchFamily="34" charset="0"/>
            </a:endParaRPr>
          </a:p>
        </p:txBody>
      </p:sp>
      <p:sp>
        <p:nvSpPr>
          <p:cNvPr id="145" name="TextBox 28">
            <a:extLst>
              <a:ext uri="{FF2B5EF4-FFF2-40B4-BE49-F238E27FC236}">
                <a16:creationId xmlns:a16="http://schemas.microsoft.com/office/drawing/2014/main" id="{E18BD694-E538-1924-1E11-B93B95D3CCCD}"/>
              </a:ext>
            </a:extLst>
          </p:cNvPr>
          <p:cNvSpPr txBox="1"/>
          <p:nvPr/>
        </p:nvSpPr>
        <p:spPr>
          <a:xfrm>
            <a:off x="5827233" y="4346976"/>
            <a:ext cx="3274363" cy="584775"/>
          </a:xfrm>
          <a:prstGeom prst="rect">
            <a:avLst/>
          </a:prstGeom>
          <a:noFill/>
        </p:spPr>
        <p:txBody>
          <a:bodyPr wrap="square" rtlCol="0">
            <a:spAutoFit/>
          </a:bodyPr>
          <a:lstStyle/>
          <a:p>
            <a:pPr latinLnBrk="0"/>
            <a:r>
              <a:rPr lang="en-US" altLang="ko-KR" sz="1600" b="1" dirty="0" err="1">
                <a:solidFill>
                  <a:srgbClr val="787878"/>
                </a:solidFill>
                <a:latin typeface="Arial"/>
                <a:cs typeface="Arial" pitchFamily="34" charset="0"/>
              </a:rPr>
              <a:t>Factores</a:t>
            </a:r>
            <a:r>
              <a:rPr lang="en-US" altLang="ko-KR" sz="1600" b="1" dirty="0">
                <a:solidFill>
                  <a:srgbClr val="787878"/>
                </a:solidFill>
                <a:latin typeface="Arial"/>
                <a:cs typeface="Arial" pitchFamily="34" charset="0"/>
              </a:rPr>
              <a:t> y </a:t>
            </a:r>
            <a:r>
              <a:rPr lang="en-US" altLang="ko-KR" sz="1600" b="1" dirty="0" err="1">
                <a:solidFill>
                  <a:srgbClr val="787878"/>
                </a:solidFill>
                <a:latin typeface="Arial"/>
                <a:cs typeface="Arial" pitchFamily="34" charset="0"/>
              </a:rPr>
              <a:t>criterios</a:t>
            </a:r>
            <a:r>
              <a:rPr lang="en-US" altLang="ko-KR" sz="1600" b="1" dirty="0">
                <a:solidFill>
                  <a:srgbClr val="787878"/>
                </a:solidFill>
                <a:latin typeface="Arial"/>
                <a:cs typeface="Arial" pitchFamily="34" charset="0"/>
              </a:rPr>
              <a:t> de Calidad de Software</a:t>
            </a:r>
            <a:endParaRPr lang="ko-KR" altLang="en-US" sz="1600" b="1" dirty="0">
              <a:solidFill>
                <a:srgbClr val="787878"/>
              </a:solidFill>
              <a:latin typeface="Arial"/>
              <a:cs typeface="Arial" pitchFamily="34" charset="0"/>
            </a:endParaRPr>
          </a:p>
        </p:txBody>
      </p:sp>
      <p:sp>
        <p:nvSpPr>
          <p:cNvPr id="146" name="Pentagon 50">
            <a:extLst>
              <a:ext uri="{FF2B5EF4-FFF2-40B4-BE49-F238E27FC236}">
                <a16:creationId xmlns:a16="http://schemas.microsoft.com/office/drawing/2014/main" id="{BC9DECC7-5BAE-E780-77B4-A0B5067560D7}"/>
              </a:ext>
            </a:extLst>
          </p:cNvPr>
          <p:cNvSpPr/>
          <p:nvPr/>
        </p:nvSpPr>
        <p:spPr>
          <a:xfrm rot="5400000">
            <a:off x="1431893" y="-622525"/>
            <a:ext cx="1346950" cy="2592000"/>
          </a:xfrm>
          <a:prstGeom prst="homePlate">
            <a:avLst>
              <a:gd name="adj" fmla="val 34833"/>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48" name="Group 147">
            <a:extLst>
              <a:ext uri="{FF2B5EF4-FFF2-40B4-BE49-F238E27FC236}">
                <a16:creationId xmlns:a16="http://schemas.microsoft.com/office/drawing/2014/main" id="{C07CF6C8-3D98-F68F-9CB4-A52C9B0929C0}"/>
              </a:ext>
            </a:extLst>
          </p:cNvPr>
          <p:cNvGrpSpPr/>
          <p:nvPr/>
        </p:nvGrpSpPr>
        <p:grpSpPr>
          <a:xfrm>
            <a:off x="1136764" y="86620"/>
            <a:ext cx="1937208" cy="557984"/>
            <a:chOff x="568120" y="1217156"/>
            <a:chExt cx="1937208" cy="557984"/>
          </a:xfrm>
        </p:grpSpPr>
        <p:sp>
          <p:nvSpPr>
            <p:cNvPr id="149" name="TextBox 148">
              <a:extLst>
                <a:ext uri="{FF2B5EF4-FFF2-40B4-BE49-F238E27FC236}">
                  <a16:creationId xmlns:a16="http://schemas.microsoft.com/office/drawing/2014/main" id="{40DDC393-03B4-42CA-9BD9-2DA9B17FAE40}"/>
                </a:ext>
              </a:extLst>
            </p:cNvPr>
            <p:cNvSpPr txBox="1"/>
            <p:nvPr/>
          </p:nvSpPr>
          <p:spPr>
            <a:xfrm>
              <a:off x="568120" y="1217156"/>
              <a:ext cx="1937208" cy="307777"/>
            </a:xfrm>
            <a:prstGeom prst="rect">
              <a:avLst/>
            </a:prstGeom>
            <a:noFill/>
          </p:spPr>
          <p:txBody>
            <a:bodyPr wrap="square" rtlCol="0">
              <a:spAutoFit/>
            </a:bodyPr>
            <a:lstStyle/>
            <a:p>
              <a:pPr algn="ctr"/>
              <a:r>
                <a:rPr lang="en-US" altLang="ko-KR" sz="1400" b="1" dirty="0">
                  <a:solidFill>
                    <a:schemeClr val="bg1"/>
                  </a:solidFill>
                  <a:latin typeface="Arial" pitchFamily="34" charset="0"/>
                  <a:cs typeface="Arial" pitchFamily="34" charset="0"/>
                </a:rPr>
                <a:t>Unidad</a:t>
              </a:r>
              <a:endParaRPr lang="ko-KR" altLang="en-US" sz="1400" b="1" dirty="0">
                <a:solidFill>
                  <a:schemeClr val="bg1"/>
                </a:solidFill>
                <a:latin typeface="Arial" pitchFamily="34" charset="0"/>
                <a:cs typeface="Arial" pitchFamily="34" charset="0"/>
              </a:endParaRPr>
            </a:p>
          </p:txBody>
        </p:sp>
        <p:sp>
          <p:nvSpPr>
            <p:cNvPr id="150" name="TextBox 149">
              <a:extLst>
                <a:ext uri="{FF2B5EF4-FFF2-40B4-BE49-F238E27FC236}">
                  <a16:creationId xmlns:a16="http://schemas.microsoft.com/office/drawing/2014/main" id="{AFAAC5AE-5F80-3ACB-9AC8-B8F60D765E43}"/>
                </a:ext>
              </a:extLst>
            </p:cNvPr>
            <p:cNvSpPr txBox="1"/>
            <p:nvPr/>
          </p:nvSpPr>
          <p:spPr>
            <a:xfrm>
              <a:off x="587633" y="1467363"/>
              <a:ext cx="1917695" cy="307777"/>
            </a:xfrm>
            <a:prstGeom prst="rect">
              <a:avLst/>
            </a:prstGeom>
            <a:noFill/>
          </p:spPr>
          <p:txBody>
            <a:bodyPr wrap="square" rtlCol="0">
              <a:spAutoFit/>
            </a:bodyPr>
            <a:lstStyle/>
            <a:p>
              <a:pPr algn="ctr"/>
              <a:r>
                <a:rPr lang="en-US" altLang="ko-KR" sz="1400" dirty="0">
                  <a:solidFill>
                    <a:schemeClr val="bg1"/>
                  </a:solidFill>
                  <a:latin typeface="Arial" pitchFamily="34" charset="0"/>
                  <a:cs typeface="Arial" pitchFamily="34" charset="0"/>
                </a:rPr>
                <a:t>1</a:t>
              </a:r>
              <a:endParaRPr lang="ko-KR" altLang="en-US" sz="1400" b="1" dirty="0">
                <a:solidFill>
                  <a:schemeClr val="bg1"/>
                </a:solidFill>
                <a:latin typeface="Arial" pitchFamily="34" charset="0"/>
                <a:cs typeface="Arial" pitchFamily="34" charset="0"/>
              </a:endParaRPr>
            </a:p>
          </p:txBody>
        </p:sp>
      </p:grpSp>
      <p:pic>
        <p:nvPicPr>
          <p:cNvPr id="152" name="Graphic 151" descr="Clipboard Badge outline">
            <a:extLst>
              <a:ext uri="{FF2B5EF4-FFF2-40B4-BE49-F238E27FC236}">
                <a16:creationId xmlns:a16="http://schemas.microsoft.com/office/drawing/2014/main" id="{658AFF8C-51EA-BBD1-06FE-5BAF49C87D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6361" y="541813"/>
            <a:ext cx="707407" cy="707407"/>
          </a:xfrm>
          <a:prstGeom prst="rect">
            <a:avLst/>
          </a:prstGeom>
        </p:spPr>
      </p:pic>
    </p:spTree>
    <p:extLst>
      <p:ext uri="{BB962C8B-B14F-4D97-AF65-F5344CB8AC3E}">
        <p14:creationId xmlns:p14="http://schemas.microsoft.com/office/powerpoint/2010/main" val="2090594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464C-724A-B430-6E59-5E70E95FA1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41D918-9504-C3F9-49D9-11B67FBF69B0}"/>
              </a:ext>
            </a:extLst>
          </p:cNvPr>
          <p:cNvSpPr>
            <a:spLocks noGrp="1"/>
          </p:cNvSpPr>
          <p:nvPr>
            <p:ph idx="1"/>
          </p:nvPr>
        </p:nvSpPr>
        <p:spPr/>
        <p:txBody>
          <a:bodyPr/>
          <a:lstStyle/>
          <a:p>
            <a:r>
              <a:rPr lang="en-US" b="1" dirty="0">
                <a:latin typeface="Arial" pitchFamily="34" charset="0"/>
                <a:cs typeface="Arial" pitchFamily="34" charset="0"/>
              </a:rPr>
              <a:t>Que es Calidad ?</a:t>
            </a:r>
          </a:p>
        </p:txBody>
      </p:sp>
      <p:sp>
        <p:nvSpPr>
          <p:cNvPr id="3" name="Title 2">
            <a:extLst>
              <a:ext uri="{FF2B5EF4-FFF2-40B4-BE49-F238E27FC236}">
                <a16:creationId xmlns:a16="http://schemas.microsoft.com/office/drawing/2014/main" id="{DC35026F-868E-613F-C266-2171C3EBC410}"/>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88" name="Arc 37">
            <a:extLst>
              <a:ext uri="{FF2B5EF4-FFF2-40B4-BE49-F238E27FC236}">
                <a16:creationId xmlns:a16="http://schemas.microsoft.com/office/drawing/2014/main" id="{829A7DB6-5222-1F8B-F08C-947230DC8BA4}"/>
              </a:ext>
            </a:extLst>
          </p:cNvPr>
          <p:cNvSpPr/>
          <p:nvPr/>
        </p:nvSpPr>
        <p:spPr>
          <a:xfrm flipH="1">
            <a:off x="5640011" y="1823231"/>
            <a:ext cx="2977613" cy="2977613"/>
          </a:xfrm>
          <a:prstGeom prst="arc">
            <a:avLst>
              <a:gd name="adj1" fmla="val 16200000"/>
              <a:gd name="adj2" fmla="val 5433205"/>
            </a:avLst>
          </a:prstGeom>
          <a:ln w="53975">
            <a:gradFill>
              <a:gsLst>
                <a:gs pos="82000">
                  <a:srgbClr val="D9D9D9"/>
                </a:gs>
                <a:gs pos="0">
                  <a:schemeClr val="bg1">
                    <a:lumMod val="85000"/>
                    <a:alpha val="0"/>
                  </a:schemeClr>
                </a:gs>
                <a:gs pos="20000">
                  <a:schemeClr val="bg1">
                    <a:lumMod val="85000"/>
                  </a:schemeClr>
                </a:gs>
                <a:gs pos="100000">
                  <a:schemeClr val="bg1">
                    <a:lumMod val="85000"/>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25"/>
          </a:p>
        </p:txBody>
      </p:sp>
      <p:sp>
        <p:nvSpPr>
          <p:cNvPr id="89" name="Oval 2">
            <a:extLst>
              <a:ext uri="{FF2B5EF4-FFF2-40B4-BE49-F238E27FC236}">
                <a16:creationId xmlns:a16="http://schemas.microsoft.com/office/drawing/2014/main" id="{68165572-694C-1390-4B67-7200D26A7ED4}"/>
              </a:ext>
            </a:extLst>
          </p:cNvPr>
          <p:cNvSpPr/>
          <p:nvPr/>
        </p:nvSpPr>
        <p:spPr>
          <a:xfrm flipH="1">
            <a:off x="6494757" y="1865954"/>
            <a:ext cx="162089" cy="16208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90" name="Oval 3">
            <a:extLst>
              <a:ext uri="{FF2B5EF4-FFF2-40B4-BE49-F238E27FC236}">
                <a16:creationId xmlns:a16="http://schemas.microsoft.com/office/drawing/2014/main" id="{C2480E09-A5F6-2AFA-AADF-52334C6180F3}"/>
              </a:ext>
            </a:extLst>
          </p:cNvPr>
          <p:cNvSpPr/>
          <p:nvPr/>
        </p:nvSpPr>
        <p:spPr>
          <a:xfrm flipH="1">
            <a:off x="4799387" y="1758636"/>
            <a:ext cx="412210" cy="41221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solidFill>
                <a:schemeClr val="tx1">
                  <a:lumMod val="75000"/>
                  <a:lumOff val="25000"/>
                </a:schemeClr>
              </a:solidFill>
            </a:endParaRPr>
          </a:p>
        </p:txBody>
      </p:sp>
      <p:sp>
        <p:nvSpPr>
          <p:cNvPr id="91" name="TextBox 5">
            <a:extLst>
              <a:ext uri="{FF2B5EF4-FFF2-40B4-BE49-F238E27FC236}">
                <a16:creationId xmlns:a16="http://schemas.microsoft.com/office/drawing/2014/main" id="{F8D2486E-1052-65F9-9EFB-2C8B963382AD}"/>
              </a:ext>
            </a:extLst>
          </p:cNvPr>
          <p:cNvSpPr txBox="1"/>
          <p:nvPr/>
        </p:nvSpPr>
        <p:spPr>
          <a:xfrm flipH="1">
            <a:off x="695444" y="1707654"/>
            <a:ext cx="3985671" cy="507831"/>
          </a:xfrm>
          <a:prstGeom prst="rect">
            <a:avLst/>
          </a:prstGeom>
          <a:noFill/>
        </p:spPr>
        <p:txBody>
          <a:bodyPr wrap="square" rtlCol="0">
            <a:spAutoFit/>
          </a:bodyPr>
          <a:lstStyle/>
          <a:p>
            <a:pPr algn="just" latinLnBrk="0">
              <a:spcBef>
                <a:spcPct val="20000"/>
              </a:spcBef>
            </a:pPr>
            <a:r>
              <a:rPr lang="es-MX" sz="900" dirty="0">
                <a:solidFill>
                  <a:schemeClr val="tx1">
                    <a:lumMod val="75000"/>
                    <a:lumOff val="25000"/>
                  </a:schemeClr>
                </a:solidFill>
              </a:rPr>
              <a:t>Capacidad de desarrollar, diseñar, manufacturar y mantener un producto de valor. Este producto debe ser el más económico, el más útil y satisfactorio para el consumidor final. (Kaoru Ishikawa, 1988)</a:t>
            </a:r>
            <a:endParaRPr lang="ko-KR" altLang="en-US" sz="900" dirty="0">
              <a:solidFill>
                <a:schemeClr val="tx1">
                  <a:lumMod val="75000"/>
                  <a:lumOff val="25000"/>
                </a:schemeClr>
              </a:solidFill>
            </a:endParaRPr>
          </a:p>
        </p:txBody>
      </p:sp>
      <p:sp>
        <p:nvSpPr>
          <p:cNvPr id="92" name="Oval 7">
            <a:extLst>
              <a:ext uri="{FF2B5EF4-FFF2-40B4-BE49-F238E27FC236}">
                <a16:creationId xmlns:a16="http://schemas.microsoft.com/office/drawing/2014/main" id="{5770855F-1DB4-E137-7A6D-788AE3FE5C35}"/>
              </a:ext>
            </a:extLst>
          </p:cNvPr>
          <p:cNvSpPr/>
          <p:nvPr/>
        </p:nvSpPr>
        <p:spPr>
          <a:xfrm flipH="1">
            <a:off x="4090166" y="3135821"/>
            <a:ext cx="412210" cy="412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solidFill>
                <a:schemeClr val="tx1">
                  <a:lumMod val="75000"/>
                  <a:lumOff val="25000"/>
                </a:schemeClr>
              </a:solidFill>
            </a:endParaRPr>
          </a:p>
        </p:txBody>
      </p:sp>
      <p:sp>
        <p:nvSpPr>
          <p:cNvPr id="94" name="TextBox 9">
            <a:extLst>
              <a:ext uri="{FF2B5EF4-FFF2-40B4-BE49-F238E27FC236}">
                <a16:creationId xmlns:a16="http://schemas.microsoft.com/office/drawing/2014/main" id="{3CFAC365-FC51-84D9-5E2C-5C00EB0028D7}"/>
              </a:ext>
            </a:extLst>
          </p:cNvPr>
          <p:cNvSpPr txBox="1"/>
          <p:nvPr/>
        </p:nvSpPr>
        <p:spPr>
          <a:xfrm flipH="1">
            <a:off x="506297" y="2961476"/>
            <a:ext cx="3462404" cy="646331"/>
          </a:xfrm>
          <a:prstGeom prst="rect">
            <a:avLst/>
          </a:prstGeom>
          <a:noFill/>
        </p:spPr>
        <p:txBody>
          <a:bodyPr wrap="square" rtlCol="0">
            <a:spAutoFit/>
          </a:bodyPr>
          <a:lstStyle/>
          <a:p>
            <a:pPr algn="just" latinLnBrk="0">
              <a:spcBef>
                <a:spcPct val="20000"/>
              </a:spcBef>
            </a:pPr>
            <a:r>
              <a:rPr lang="es-MX" altLang="ko-KR" sz="900" dirty="0">
                <a:solidFill>
                  <a:schemeClr val="tx1">
                    <a:lumMod val="75000"/>
                    <a:lumOff val="25000"/>
                  </a:schemeClr>
                </a:solidFill>
              </a:rPr>
              <a:t>La calidad de producto de software implica que hay un modelo de calidad subyacente que define un conjunto de características de producto (García-Mireles et al., 2015; ISO, 2011).</a:t>
            </a:r>
            <a:endParaRPr lang="ko-KR" altLang="en-US" sz="900" dirty="0">
              <a:solidFill>
                <a:schemeClr val="tx1">
                  <a:lumMod val="75000"/>
                  <a:lumOff val="25000"/>
                </a:schemeClr>
              </a:solidFill>
            </a:endParaRPr>
          </a:p>
        </p:txBody>
      </p:sp>
      <p:sp>
        <p:nvSpPr>
          <p:cNvPr id="96" name="Oval 11">
            <a:extLst>
              <a:ext uri="{FF2B5EF4-FFF2-40B4-BE49-F238E27FC236}">
                <a16:creationId xmlns:a16="http://schemas.microsoft.com/office/drawing/2014/main" id="{A9CC5E37-E607-85F2-BA0A-7B5793ACE2C2}"/>
              </a:ext>
            </a:extLst>
          </p:cNvPr>
          <p:cNvSpPr/>
          <p:nvPr/>
        </p:nvSpPr>
        <p:spPr>
          <a:xfrm flipH="1">
            <a:off x="4892257" y="4513005"/>
            <a:ext cx="412210" cy="4122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solidFill>
                <a:schemeClr val="tx1">
                  <a:lumMod val="75000"/>
                  <a:lumOff val="25000"/>
                </a:schemeClr>
              </a:solidFill>
            </a:endParaRPr>
          </a:p>
        </p:txBody>
      </p:sp>
      <p:sp>
        <p:nvSpPr>
          <p:cNvPr id="98" name="TextBox 13">
            <a:extLst>
              <a:ext uri="{FF2B5EF4-FFF2-40B4-BE49-F238E27FC236}">
                <a16:creationId xmlns:a16="http://schemas.microsoft.com/office/drawing/2014/main" id="{498F2F85-C8E2-3D5C-E049-C78DA5D31CCC}"/>
              </a:ext>
            </a:extLst>
          </p:cNvPr>
          <p:cNvSpPr txBox="1"/>
          <p:nvPr/>
        </p:nvSpPr>
        <p:spPr>
          <a:xfrm flipH="1">
            <a:off x="179512" y="4374737"/>
            <a:ext cx="4613754" cy="646331"/>
          </a:xfrm>
          <a:prstGeom prst="rect">
            <a:avLst/>
          </a:prstGeom>
          <a:noFill/>
        </p:spPr>
        <p:txBody>
          <a:bodyPr wrap="square" rtlCol="0">
            <a:spAutoFit/>
          </a:bodyPr>
          <a:lstStyle/>
          <a:p>
            <a:pPr algn="just" latinLnBrk="0">
              <a:spcBef>
                <a:spcPct val="20000"/>
              </a:spcBef>
            </a:pPr>
            <a:r>
              <a:rPr lang="es-MX" sz="900" dirty="0">
                <a:solidFill>
                  <a:schemeClr val="tx1">
                    <a:lumMod val="75000"/>
                    <a:lumOff val="25000"/>
                  </a:schemeClr>
                </a:solidFill>
              </a:rPr>
              <a:t>Conjunto de características que determinan la capacidad de un producto de software para satisfacer necesidades explícitas e implícitas, incluyendo funcionalidad, fiabilidad, usabilidad, eficiencia, mantenibilidad y portabilidad, evaluadas bajo condiciones específicas y alineadas con estándares como ISO 25010.</a:t>
            </a:r>
          </a:p>
        </p:txBody>
      </p:sp>
      <p:sp>
        <p:nvSpPr>
          <p:cNvPr id="100" name="Oval 15">
            <a:extLst>
              <a:ext uri="{FF2B5EF4-FFF2-40B4-BE49-F238E27FC236}">
                <a16:creationId xmlns:a16="http://schemas.microsoft.com/office/drawing/2014/main" id="{D827314D-CFC4-A2E3-2F2A-570635D13171}"/>
              </a:ext>
            </a:extLst>
          </p:cNvPr>
          <p:cNvSpPr/>
          <p:nvPr/>
        </p:nvSpPr>
        <p:spPr>
          <a:xfrm flipH="1">
            <a:off x="4277615" y="2447228"/>
            <a:ext cx="412210" cy="4122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dirty="0">
              <a:solidFill>
                <a:schemeClr val="tx1">
                  <a:lumMod val="75000"/>
                  <a:lumOff val="25000"/>
                </a:schemeClr>
              </a:solidFill>
            </a:endParaRPr>
          </a:p>
        </p:txBody>
      </p:sp>
      <p:sp>
        <p:nvSpPr>
          <p:cNvPr id="102" name="TextBox 17">
            <a:extLst>
              <a:ext uri="{FF2B5EF4-FFF2-40B4-BE49-F238E27FC236}">
                <a16:creationId xmlns:a16="http://schemas.microsoft.com/office/drawing/2014/main" id="{334A84A1-5B17-E40C-CE71-BA358299D008}"/>
              </a:ext>
            </a:extLst>
          </p:cNvPr>
          <p:cNvSpPr txBox="1"/>
          <p:nvPr/>
        </p:nvSpPr>
        <p:spPr>
          <a:xfrm flipH="1">
            <a:off x="639991" y="2379642"/>
            <a:ext cx="3462404" cy="507831"/>
          </a:xfrm>
          <a:prstGeom prst="rect">
            <a:avLst/>
          </a:prstGeom>
          <a:noFill/>
        </p:spPr>
        <p:txBody>
          <a:bodyPr wrap="square" rtlCol="0">
            <a:spAutoFit/>
          </a:bodyPr>
          <a:lstStyle/>
          <a:p>
            <a:pPr algn="just" latinLnBrk="0">
              <a:spcBef>
                <a:spcPct val="20000"/>
              </a:spcBef>
            </a:pPr>
            <a:r>
              <a:rPr lang="es-MX" altLang="ko-KR" sz="900" dirty="0">
                <a:solidFill>
                  <a:schemeClr val="tx1">
                    <a:lumMod val="75000"/>
                    <a:lumOff val="25000"/>
                  </a:schemeClr>
                </a:solidFill>
              </a:rPr>
              <a:t>La calidad del software muestra qué tan bueno y confiable es un producto. Para transmitir un ejemplo de título asociado, piense en un software funcionalmente correcto.</a:t>
            </a:r>
            <a:endParaRPr lang="ko-KR" altLang="en-US" sz="900" dirty="0">
              <a:solidFill>
                <a:schemeClr val="tx1">
                  <a:lumMod val="75000"/>
                  <a:lumOff val="25000"/>
                </a:schemeClr>
              </a:solidFill>
            </a:endParaRPr>
          </a:p>
        </p:txBody>
      </p:sp>
      <p:sp>
        <p:nvSpPr>
          <p:cNvPr id="104" name="Oval 19">
            <a:extLst>
              <a:ext uri="{FF2B5EF4-FFF2-40B4-BE49-F238E27FC236}">
                <a16:creationId xmlns:a16="http://schemas.microsoft.com/office/drawing/2014/main" id="{C898C3CB-DBD0-98A8-6E4C-AD970C9E2C00}"/>
              </a:ext>
            </a:extLst>
          </p:cNvPr>
          <p:cNvSpPr/>
          <p:nvPr/>
        </p:nvSpPr>
        <p:spPr>
          <a:xfrm flipH="1">
            <a:off x="4259328" y="3824413"/>
            <a:ext cx="412210" cy="4122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solidFill>
                <a:schemeClr val="tx1">
                  <a:lumMod val="75000"/>
                  <a:lumOff val="25000"/>
                </a:schemeClr>
              </a:solidFill>
            </a:endParaRPr>
          </a:p>
        </p:txBody>
      </p:sp>
      <p:sp>
        <p:nvSpPr>
          <p:cNvPr id="106" name="TextBox 21">
            <a:extLst>
              <a:ext uri="{FF2B5EF4-FFF2-40B4-BE49-F238E27FC236}">
                <a16:creationId xmlns:a16="http://schemas.microsoft.com/office/drawing/2014/main" id="{404635EF-B367-FAB2-7BE2-8AACFCC317B7}"/>
              </a:ext>
            </a:extLst>
          </p:cNvPr>
          <p:cNvSpPr txBox="1"/>
          <p:nvPr/>
        </p:nvSpPr>
        <p:spPr>
          <a:xfrm flipH="1">
            <a:off x="639991" y="3761950"/>
            <a:ext cx="3517857" cy="507831"/>
          </a:xfrm>
          <a:prstGeom prst="rect">
            <a:avLst/>
          </a:prstGeom>
          <a:noFill/>
        </p:spPr>
        <p:txBody>
          <a:bodyPr wrap="square" rtlCol="0">
            <a:spAutoFit/>
          </a:bodyPr>
          <a:lstStyle/>
          <a:p>
            <a:pPr algn="just" latinLnBrk="0">
              <a:spcBef>
                <a:spcPct val="20000"/>
              </a:spcBef>
            </a:pPr>
            <a:r>
              <a:rPr lang="es-MX" sz="900" dirty="0">
                <a:solidFill>
                  <a:schemeClr val="tx1">
                    <a:lumMod val="75000"/>
                    <a:lumOff val="25000"/>
                  </a:schemeClr>
                </a:solidFill>
              </a:rPr>
              <a:t>"Capacidad de un producto de software para cumplir funciones esperadas bajo condiciones definidas." Pressman, R. S. (2014), Software </a:t>
            </a:r>
            <a:r>
              <a:rPr lang="es-MX" sz="900" dirty="0" err="1">
                <a:solidFill>
                  <a:schemeClr val="tx1">
                    <a:lumMod val="75000"/>
                    <a:lumOff val="25000"/>
                  </a:schemeClr>
                </a:solidFill>
              </a:rPr>
              <a:t>Engineering</a:t>
            </a:r>
            <a:r>
              <a:rPr lang="es-MX" sz="900" dirty="0">
                <a:solidFill>
                  <a:schemeClr val="tx1">
                    <a:lumMod val="75000"/>
                    <a:lumOff val="25000"/>
                  </a:schemeClr>
                </a:solidFill>
              </a:rPr>
              <a:t>: A </a:t>
            </a:r>
            <a:r>
              <a:rPr lang="es-MX" sz="900" dirty="0" err="1">
                <a:solidFill>
                  <a:schemeClr val="tx1">
                    <a:lumMod val="75000"/>
                    <a:lumOff val="25000"/>
                  </a:schemeClr>
                </a:solidFill>
              </a:rPr>
              <a:t>Practitioner's</a:t>
            </a:r>
            <a:r>
              <a:rPr lang="es-MX" sz="900" dirty="0">
                <a:solidFill>
                  <a:schemeClr val="tx1">
                    <a:lumMod val="75000"/>
                    <a:lumOff val="25000"/>
                  </a:schemeClr>
                </a:solidFill>
              </a:rPr>
              <a:t> </a:t>
            </a:r>
            <a:r>
              <a:rPr lang="es-MX" sz="900" dirty="0" err="1">
                <a:solidFill>
                  <a:schemeClr val="tx1">
                    <a:lumMod val="75000"/>
                    <a:lumOff val="25000"/>
                  </a:schemeClr>
                </a:solidFill>
              </a:rPr>
              <a:t>Approach</a:t>
            </a:r>
            <a:r>
              <a:rPr lang="es-MX" sz="900" dirty="0">
                <a:solidFill>
                  <a:schemeClr val="tx1">
                    <a:lumMod val="75000"/>
                    <a:lumOff val="25000"/>
                  </a:schemeClr>
                </a:solidFill>
              </a:rPr>
              <a:t>, 8va ed.</a:t>
            </a:r>
          </a:p>
        </p:txBody>
      </p:sp>
      <p:sp>
        <p:nvSpPr>
          <p:cNvPr id="108" name="Oval 23">
            <a:extLst>
              <a:ext uri="{FF2B5EF4-FFF2-40B4-BE49-F238E27FC236}">
                <a16:creationId xmlns:a16="http://schemas.microsoft.com/office/drawing/2014/main" id="{349E2908-2C6B-EB22-2957-91CD1054DDCC}"/>
              </a:ext>
            </a:extLst>
          </p:cNvPr>
          <p:cNvSpPr/>
          <p:nvPr/>
        </p:nvSpPr>
        <p:spPr>
          <a:xfrm flipH="1">
            <a:off x="5722965" y="2554547"/>
            <a:ext cx="162089" cy="1620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9" name="Oval 24">
            <a:extLst>
              <a:ext uri="{FF2B5EF4-FFF2-40B4-BE49-F238E27FC236}">
                <a16:creationId xmlns:a16="http://schemas.microsoft.com/office/drawing/2014/main" id="{7B88F61C-CD6F-59E4-21A9-E0E91A3C6CBB}"/>
              </a:ext>
            </a:extLst>
          </p:cNvPr>
          <p:cNvSpPr/>
          <p:nvPr/>
        </p:nvSpPr>
        <p:spPr>
          <a:xfrm flipH="1">
            <a:off x="5548308" y="3243138"/>
            <a:ext cx="162089" cy="1620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0" name="Oval 25">
            <a:extLst>
              <a:ext uri="{FF2B5EF4-FFF2-40B4-BE49-F238E27FC236}">
                <a16:creationId xmlns:a16="http://schemas.microsoft.com/office/drawing/2014/main" id="{719C5EBE-559A-789A-5FE8-BD1E02225C56}"/>
              </a:ext>
            </a:extLst>
          </p:cNvPr>
          <p:cNvSpPr/>
          <p:nvPr/>
        </p:nvSpPr>
        <p:spPr>
          <a:xfrm flipH="1">
            <a:off x="5738304" y="3931731"/>
            <a:ext cx="162089" cy="1620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1" name="Oval 26">
            <a:extLst>
              <a:ext uri="{FF2B5EF4-FFF2-40B4-BE49-F238E27FC236}">
                <a16:creationId xmlns:a16="http://schemas.microsoft.com/office/drawing/2014/main" id="{9E32A12D-8FBD-7963-B66B-48372B3779ED}"/>
              </a:ext>
            </a:extLst>
          </p:cNvPr>
          <p:cNvSpPr/>
          <p:nvPr/>
        </p:nvSpPr>
        <p:spPr>
          <a:xfrm flipH="1">
            <a:off x="6494757" y="4620323"/>
            <a:ext cx="162089" cy="1620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cxnSp>
        <p:nvCxnSpPr>
          <p:cNvPr id="112" name="Straight Connector 27">
            <a:extLst>
              <a:ext uri="{FF2B5EF4-FFF2-40B4-BE49-F238E27FC236}">
                <a16:creationId xmlns:a16="http://schemas.microsoft.com/office/drawing/2014/main" id="{21ACC807-CCFE-AC11-0B66-B53AAF53E5ED}"/>
              </a:ext>
            </a:extLst>
          </p:cNvPr>
          <p:cNvCxnSpPr>
            <a:cxnSpLocks/>
          </p:cNvCxnSpPr>
          <p:nvPr/>
        </p:nvCxnSpPr>
        <p:spPr>
          <a:xfrm flipH="1">
            <a:off x="5447859" y="1947035"/>
            <a:ext cx="810353"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3" name="Straight Connector 28">
            <a:extLst>
              <a:ext uri="{FF2B5EF4-FFF2-40B4-BE49-F238E27FC236}">
                <a16:creationId xmlns:a16="http://schemas.microsoft.com/office/drawing/2014/main" id="{54DBFC8C-F4C5-A8B1-8AD4-25D8182AD3B9}"/>
              </a:ext>
            </a:extLst>
          </p:cNvPr>
          <p:cNvCxnSpPr>
            <a:cxnSpLocks/>
          </p:cNvCxnSpPr>
          <p:nvPr/>
        </p:nvCxnSpPr>
        <p:spPr>
          <a:xfrm flipH="1">
            <a:off x="4801077" y="2635627"/>
            <a:ext cx="810353"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4" name="Straight Connector 29">
            <a:extLst>
              <a:ext uri="{FF2B5EF4-FFF2-40B4-BE49-F238E27FC236}">
                <a16:creationId xmlns:a16="http://schemas.microsoft.com/office/drawing/2014/main" id="{5ABDC27C-AA15-BC7A-F6FA-C36CA3500A5B}"/>
              </a:ext>
            </a:extLst>
          </p:cNvPr>
          <p:cNvCxnSpPr>
            <a:cxnSpLocks/>
          </p:cNvCxnSpPr>
          <p:nvPr/>
        </p:nvCxnSpPr>
        <p:spPr>
          <a:xfrm flipH="1">
            <a:off x="4620024" y="3324219"/>
            <a:ext cx="810353"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5" name="Straight Connector 30">
            <a:extLst>
              <a:ext uri="{FF2B5EF4-FFF2-40B4-BE49-F238E27FC236}">
                <a16:creationId xmlns:a16="http://schemas.microsoft.com/office/drawing/2014/main" id="{F9668078-C0DB-5FA2-D205-ED0D030A58DE}"/>
              </a:ext>
            </a:extLst>
          </p:cNvPr>
          <p:cNvCxnSpPr>
            <a:cxnSpLocks/>
          </p:cNvCxnSpPr>
          <p:nvPr/>
        </p:nvCxnSpPr>
        <p:spPr>
          <a:xfrm flipH="1">
            <a:off x="4799603" y="4012811"/>
            <a:ext cx="810353"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6" name="Straight Connector 31">
            <a:extLst>
              <a:ext uri="{FF2B5EF4-FFF2-40B4-BE49-F238E27FC236}">
                <a16:creationId xmlns:a16="http://schemas.microsoft.com/office/drawing/2014/main" id="{0BF3054B-78EE-2CB1-9B4D-D4BBC2C8F045}"/>
              </a:ext>
            </a:extLst>
          </p:cNvPr>
          <p:cNvCxnSpPr>
            <a:cxnSpLocks/>
          </p:cNvCxnSpPr>
          <p:nvPr/>
        </p:nvCxnSpPr>
        <p:spPr>
          <a:xfrm flipH="1">
            <a:off x="5494295" y="4701404"/>
            <a:ext cx="810353"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7" name="Parallelogram 30">
            <a:extLst>
              <a:ext uri="{FF2B5EF4-FFF2-40B4-BE49-F238E27FC236}">
                <a16:creationId xmlns:a16="http://schemas.microsoft.com/office/drawing/2014/main" id="{C2AC53A6-1E82-2F7C-9560-674C69C63DAD}"/>
              </a:ext>
            </a:extLst>
          </p:cNvPr>
          <p:cNvSpPr/>
          <p:nvPr/>
        </p:nvSpPr>
        <p:spPr>
          <a:xfrm>
            <a:off x="4978818" y="4610703"/>
            <a:ext cx="219590" cy="220133"/>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p>
        </p:txBody>
      </p:sp>
      <p:sp>
        <p:nvSpPr>
          <p:cNvPr id="118" name="Freeform 18">
            <a:extLst>
              <a:ext uri="{FF2B5EF4-FFF2-40B4-BE49-F238E27FC236}">
                <a16:creationId xmlns:a16="http://schemas.microsoft.com/office/drawing/2014/main" id="{C09A81A2-2EEF-7AC7-CDF4-C5C836CC8964}"/>
              </a:ext>
            </a:extLst>
          </p:cNvPr>
          <p:cNvSpPr/>
          <p:nvPr/>
        </p:nvSpPr>
        <p:spPr>
          <a:xfrm flipH="1">
            <a:off x="4874528" y="1851335"/>
            <a:ext cx="266889" cy="215399"/>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p>
        </p:txBody>
      </p:sp>
      <p:pic>
        <p:nvPicPr>
          <p:cNvPr id="122" name="Graphic 121">
            <a:extLst>
              <a:ext uri="{FF2B5EF4-FFF2-40B4-BE49-F238E27FC236}">
                <a16:creationId xmlns:a16="http://schemas.microsoft.com/office/drawing/2014/main" id="{4191D99C-82B0-E492-847D-C284758670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3527" y="2716636"/>
            <a:ext cx="1137471" cy="766959"/>
          </a:xfrm>
          <a:prstGeom prst="rect">
            <a:avLst/>
          </a:prstGeom>
        </p:spPr>
      </p:pic>
      <p:grpSp>
        <p:nvGrpSpPr>
          <p:cNvPr id="123" name="Group 122">
            <a:extLst>
              <a:ext uri="{FF2B5EF4-FFF2-40B4-BE49-F238E27FC236}">
                <a16:creationId xmlns:a16="http://schemas.microsoft.com/office/drawing/2014/main" id="{A96FDCB6-AB36-491E-DBCC-4E8AF0C0B3F0}"/>
              </a:ext>
            </a:extLst>
          </p:cNvPr>
          <p:cNvGrpSpPr/>
          <p:nvPr/>
        </p:nvGrpSpPr>
        <p:grpSpPr>
          <a:xfrm>
            <a:off x="6812727" y="1930880"/>
            <a:ext cx="2154301" cy="2162940"/>
            <a:chOff x="7087599" y="2415878"/>
            <a:chExt cx="654335" cy="699853"/>
          </a:xfrm>
        </p:grpSpPr>
        <p:sp>
          <p:nvSpPr>
            <p:cNvPr id="124" name="Google Shape;10354;p74">
              <a:extLst>
                <a:ext uri="{FF2B5EF4-FFF2-40B4-BE49-F238E27FC236}">
                  <a16:creationId xmlns:a16="http://schemas.microsoft.com/office/drawing/2014/main" id="{D3DC2682-6873-A011-65A5-158F04BAF0C3}"/>
                </a:ext>
              </a:extLst>
            </p:cNvPr>
            <p:cNvSpPr/>
            <p:nvPr/>
          </p:nvSpPr>
          <p:spPr>
            <a:xfrm>
              <a:off x="7374696" y="2663467"/>
              <a:ext cx="78374" cy="83530"/>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013857"/>
            </a:solidFill>
            <a:ln>
              <a:noFill/>
            </a:ln>
          </p:spPr>
          <p:txBody>
            <a:bodyPr spcFirstLastPara="1" wrap="square" lIns="68569" tIns="68569" rIns="68569" bIns="68569" anchor="ctr" anchorCtr="0">
              <a:noAutofit/>
            </a:bodyPr>
            <a:lstStyle/>
            <a:p>
              <a:endParaRPr sz="1400"/>
            </a:p>
          </p:txBody>
        </p:sp>
        <p:sp>
          <p:nvSpPr>
            <p:cNvPr id="125" name="Google Shape;10355;p74">
              <a:extLst>
                <a:ext uri="{FF2B5EF4-FFF2-40B4-BE49-F238E27FC236}">
                  <a16:creationId xmlns:a16="http://schemas.microsoft.com/office/drawing/2014/main" id="{D20B0AE2-B257-014D-8F66-A3368A729578}"/>
                </a:ext>
              </a:extLst>
            </p:cNvPr>
            <p:cNvSpPr/>
            <p:nvPr/>
          </p:nvSpPr>
          <p:spPr>
            <a:xfrm>
              <a:off x="7127642" y="2415878"/>
              <a:ext cx="572536" cy="614851"/>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013857"/>
            </a:solidFill>
            <a:ln>
              <a:noFill/>
            </a:ln>
          </p:spPr>
          <p:txBody>
            <a:bodyPr spcFirstLastPara="1" wrap="square" lIns="68569" tIns="68569" rIns="68569" bIns="68569" anchor="ctr" anchorCtr="0">
              <a:noAutofit/>
            </a:bodyPr>
            <a:lstStyle/>
            <a:p>
              <a:endParaRPr sz="1400" dirty="0"/>
            </a:p>
          </p:txBody>
        </p:sp>
        <p:sp>
          <p:nvSpPr>
            <p:cNvPr id="126" name="Google Shape;10356;p74">
              <a:extLst>
                <a:ext uri="{FF2B5EF4-FFF2-40B4-BE49-F238E27FC236}">
                  <a16:creationId xmlns:a16="http://schemas.microsoft.com/office/drawing/2014/main" id="{F705A472-D278-FEA9-7238-25A035E6518E}"/>
                </a:ext>
              </a:extLst>
            </p:cNvPr>
            <p:cNvSpPr/>
            <p:nvPr/>
          </p:nvSpPr>
          <p:spPr>
            <a:xfrm>
              <a:off x="7339899" y="2785907"/>
              <a:ext cx="147967" cy="81647"/>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013857"/>
            </a:solidFill>
            <a:ln>
              <a:noFill/>
            </a:ln>
          </p:spPr>
          <p:txBody>
            <a:bodyPr spcFirstLastPara="1" wrap="square" lIns="68569" tIns="68569" rIns="68569" bIns="68569" anchor="ctr" anchorCtr="0">
              <a:noAutofit/>
            </a:bodyPr>
            <a:lstStyle/>
            <a:p>
              <a:endParaRPr sz="1400" dirty="0"/>
            </a:p>
          </p:txBody>
        </p:sp>
        <p:sp>
          <p:nvSpPr>
            <p:cNvPr id="127" name="Google Shape;10357;p74">
              <a:extLst>
                <a:ext uri="{FF2B5EF4-FFF2-40B4-BE49-F238E27FC236}">
                  <a16:creationId xmlns:a16="http://schemas.microsoft.com/office/drawing/2014/main" id="{49DFB07B-09E3-48E2-34D2-65E5B6AC9500}"/>
                </a:ext>
              </a:extLst>
            </p:cNvPr>
            <p:cNvSpPr/>
            <p:nvPr/>
          </p:nvSpPr>
          <p:spPr>
            <a:xfrm>
              <a:off x="7531334" y="2906405"/>
              <a:ext cx="210600" cy="204793"/>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013857"/>
            </a:solidFill>
            <a:ln>
              <a:noFill/>
            </a:ln>
          </p:spPr>
          <p:txBody>
            <a:bodyPr spcFirstLastPara="1" wrap="square" lIns="68569" tIns="68569" rIns="68569" bIns="68569" anchor="ctr" anchorCtr="0">
              <a:noAutofit/>
            </a:bodyPr>
            <a:lstStyle/>
            <a:p>
              <a:endParaRPr sz="1400"/>
            </a:p>
          </p:txBody>
        </p:sp>
        <p:sp>
          <p:nvSpPr>
            <p:cNvPr id="128" name="Google Shape;10358;p74">
              <a:extLst>
                <a:ext uri="{FF2B5EF4-FFF2-40B4-BE49-F238E27FC236}">
                  <a16:creationId xmlns:a16="http://schemas.microsoft.com/office/drawing/2014/main" id="{66C3392A-FC9D-93A5-C82B-A07558E04D08}"/>
                </a:ext>
              </a:extLst>
            </p:cNvPr>
            <p:cNvSpPr/>
            <p:nvPr/>
          </p:nvSpPr>
          <p:spPr>
            <a:xfrm>
              <a:off x="7087599" y="2910113"/>
              <a:ext cx="210600" cy="205618"/>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013857"/>
            </a:solidFill>
            <a:ln>
              <a:noFill/>
            </a:ln>
          </p:spPr>
          <p:txBody>
            <a:bodyPr spcFirstLastPara="1" wrap="square" lIns="68569" tIns="68569" rIns="68569" bIns="68569" anchor="ctr" anchorCtr="0">
              <a:noAutofit/>
            </a:bodyPr>
            <a:lstStyle/>
            <a:p>
              <a:endParaRPr sz="1400"/>
            </a:p>
          </p:txBody>
        </p:sp>
        <p:sp>
          <p:nvSpPr>
            <p:cNvPr id="129" name="Google Shape;10353;p74">
              <a:extLst>
                <a:ext uri="{FF2B5EF4-FFF2-40B4-BE49-F238E27FC236}">
                  <a16:creationId xmlns:a16="http://schemas.microsoft.com/office/drawing/2014/main" id="{EEEA97AE-90C8-4842-5A86-C204AFCA6D07}"/>
                </a:ext>
              </a:extLst>
            </p:cNvPr>
            <p:cNvSpPr/>
            <p:nvPr/>
          </p:nvSpPr>
          <p:spPr>
            <a:xfrm>
              <a:off x="7277266" y="2579995"/>
              <a:ext cx="269754" cy="23375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013857"/>
            </a:solidFill>
            <a:ln>
              <a:noFill/>
            </a:ln>
          </p:spPr>
          <p:txBody>
            <a:bodyPr spcFirstLastPara="1" wrap="square" lIns="68569" tIns="68569" rIns="68569" bIns="68569" anchor="ctr" anchorCtr="0">
              <a:noAutofit/>
            </a:bodyPr>
            <a:lstStyle/>
            <a:p>
              <a:endParaRPr sz="1400"/>
            </a:p>
          </p:txBody>
        </p:sp>
      </p:grpSp>
      <p:sp>
        <p:nvSpPr>
          <p:cNvPr id="130" name="TextBox 129">
            <a:extLst>
              <a:ext uri="{FF2B5EF4-FFF2-40B4-BE49-F238E27FC236}">
                <a16:creationId xmlns:a16="http://schemas.microsoft.com/office/drawing/2014/main" id="{F770C5F6-A7CA-E840-7ED9-D08D7E331FDE}"/>
              </a:ext>
            </a:extLst>
          </p:cNvPr>
          <p:cNvSpPr txBox="1"/>
          <p:nvPr/>
        </p:nvSpPr>
        <p:spPr>
          <a:xfrm flipH="1">
            <a:off x="7036948" y="4144324"/>
            <a:ext cx="1868594" cy="461665"/>
          </a:xfrm>
          <a:prstGeom prst="rect">
            <a:avLst/>
          </a:prstGeom>
          <a:solidFill>
            <a:srgbClr val="013857"/>
          </a:solidFill>
        </p:spPr>
        <p:txBody>
          <a:bodyPr wrap="square" rtlCol="0">
            <a:spAutoFit/>
          </a:bodyPr>
          <a:lstStyle/>
          <a:p>
            <a:pPr algn="ctr"/>
            <a:r>
              <a:rPr lang="en-US" altLang="ko-KR" sz="2400" b="1" dirty="0">
                <a:solidFill>
                  <a:schemeClr val="bg1"/>
                </a:solidFill>
              </a:rPr>
              <a:t>Quality</a:t>
            </a:r>
            <a:endParaRPr lang="ko-KR" altLang="en-US" sz="2400" b="1" dirty="0">
              <a:solidFill>
                <a:schemeClr val="bg1"/>
              </a:solidFill>
            </a:endParaRPr>
          </a:p>
        </p:txBody>
      </p:sp>
      <p:sp>
        <p:nvSpPr>
          <p:cNvPr id="131" name="Frame 17">
            <a:extLst>
              <a:ext uri="{FF2B5EF4-FFF2-40B4-BE49-F238E27FC236}">
                <a16:creationId xmlns:a16="http://schemas.microsoft.com/office/drawing/2014/main" id="{F209D8DE-0C57-C509-B37D-5C9D6FD7E6D2}"/>
              </a:ext>
            </a:extLst>
          </p:cNvPr>
          <p:cNvSpPr/>
          <p:nvPr/>
        </p:nvSpPr>
        <p:spPr>
          <a:xfrm>
            <a:off x="4355446" y="2531577"/>
            <a:ext cx="272630" cy="222355"/>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50">
              <a:solidFill>
                <a:schemeClr val="tx1"/>
              </a:solidFill>
            </a:endParaRPr>
          </a:p>
        </p:txBody>
      </p:sp>
      <p:grpSp>
        <p:nvGrpSpPr>
          <p:cNvPr id="134" name="Group 133">
            <a:extLst>
              <a:ext uri="{FF2B5EF4-FFF2-40B4-BE49-F238E27FC236}">
                <a16:creationId xmlns:a16="http://schemas.microsoft.com/office/drawing/2014/main" id="{C29A7427-1D7A-1CBC-DC47-1E88341EF43D}"/>
              </a:ext>
            </a:extLst>
          </p:cNvPr>
          <p:cNvGrpSpPr/>
          <p:nvPr/>
        </p:nvGrpSpPr>
        <p:grpSpPr>
          <a:xfrm>
            <a:off x="4172124" y="3219822"/>
            <a:ext cx="271084" cy="254665"/>
            <a:chOff x="10875266" y="2206091"/>
            <a:chExt cx="663974" cy="660965"/>
          </a:xfrm>
          <a:solidFill>
            <a:schemeClr val="bg1"/>
          </a:solidFill>
        </p:grpSpPr>
        <p:sp>
          <p:nvSpPr>
            <p:cNvPr id="132" name="Google Shape;7016;p88">
              <a:extLst>
                <a:ext uri="{FF2B5EF4-FFF2-40B4-BE49-F238E27FC236}">
                  <a16:creationId xmlns:a16="http://schemas.microsoft.com/office/drawing/2014/main" id="{9CA00B51-82AF-BAF1-0FE9-6D0BF5EBCC77}"/>
                </a:ext>
              </a:extLst>
            </p:cNvPr>
            <p:cNvSpPr/>
            <p:nvPr/>
          </p:nvSpPr>
          <p:spPr>
            <a:xfrm>
              <a:off x="11150910" y="2440555"/>
              <a:ext cx="388330" cy="426501"/>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grpFill/>
            <a:ln>
              <a:noFill/>
            </a:ln>
          </p:spPr>
          <p:txBody>
            <a:bodyPr spcFirstLastPara="1" wrap="square" lIns="68569" tIns="68569" rIns="68569" bIns="68569" anchor="ctr" anchorCtr="0">
              <a:noAutofit/>
            </a:bodyPr>
            <a:lstStyle/>
            <a:p>
              <a:endParaRPr sz="1050" dirty="0"/>
            </a:p>
          </p:txBody>
        </p:sp>
        <p:sp>
          <p:nvSpPr>
            <p:cNvPr id="133" name="Google Shape;7017;p88">
              <a:extLst>
                <a:ext uri="{FF2B5EF4-FFF2-40B4-BE49-F238E27FC236}">
                  <a16:creationId xmlns:a16="http://schemas.microsoft.com/office/drawing/2014/main" id="{41213306-3063-748E-D761-A9AAC60B9EC1}"/>
                </a:ext>
              </a:extLst>
            </p:cNvPr>
            <p:cNvSpPr/>
            <p:nvPr/>
          </p:nvSpPr>
          <p:spPr>
            <a:xfrm>
              <a:off x="10875266" y="2206091"/>
              <a:ext cx="427748" cy="465917"/>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grpFill/>
            <a:ln>
              <a:noFill/>
            </a:ln>
          </p:spPr>
          <p:txBody>
            <a:bodyPr spcFirstLastPara="1" wrap="square" lIns="68569" tIns="68569" rIns="68569" bIns="68569" anchor="ctr" anchorCtr="0">
              <a:noAutofit/>
            </a:bodyPr>
            <a:lstStyle/>
            <a:p>
              <a:endParaRPr sz="1050"/>
            </a:p>
          </p:txBody>
        </p:sp>
      </p:grpSp>
      <p:sp>
        <p:nvSpPr>
          <p:cNvPr id="135" name="Rectangle 9">
            <a:extLst>
              <a:ext uri="{FF2B5EF4-FFF2-40B4-BE49-F238E27FC236}">
                <a16:creationId xmlns:a16="http://schemas.microsoft.com/office/drawing/2014/main" id="{4C212155-5473-BA5F-7E03-00973BE51A77}"/>
              </a:ext>
            </a:extLst>
          </p:cNvPr>
          <p:cNvSpPr/>
          <p:nvPr/>
        </p:nvSpPr>
        <p:spPr>
          <a:xfrm>
            <a:off x="4338468" y="3932154"/>
            <a:ext cx="233532" cy="223772"/>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50" dirty="0"/>
          </a:p>
        </p:txBody>
      </p:sp>
    </p:spTree>
    <p:extLst>
      <p:ext uri="{BB962C8B-B14F-4D97-AF65-F5344CB8AC3E}">
        <p14:creationId xmlns:p14="http://schemas.microsoft.com/office/powerpoint/2010/main" val="4098198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4E1E6-2447-2E84-4DA1-7E1EB45E42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460B6-52CF-ACC5-0E60-B9A3EFF18012}"/>
              </a:ext>
            </a:extLst>
          </p:cNvPr>
          <p:cNvSpPr>
            <a:spLocks noGrp="1"/>
          </p:cNvSpPr>
          <p:nvPr>
            <p:ph idx="1"/>
          </p:nvPr>
        </p:nvSpPr>
        <p:spPr/>
        <p:txBody>
          <a:bodyPr/>
          <a:lstStyle/>
          <a:p>
            <a:r>
              <a:rPr lang="en-US" b="1" dirty="0">
                <a:latin typeface="Arial" pitchFamily="34" charset="0"/>
                <a:cs typeface="Arial" pitchFamily="34" charset="0"/>
              </a:rPr>
              <a:t>Que es Calidad ?</a:t>
            </a:r>
          </a:p>
          <a:p>
            <a:r>
              <a:rPr lang="es-MX" sz="1200" dirty="0">
                <a:latin typeface="Arial" pitchFamily="34" charset="0"/>
                <a:cs typeface="Arial" pitchFamily="34" charset="0"/>
              </a:rPr>
              <a:t>Según la norma ISO/IEC 25010, el concepto de calidad del software se divide en varias características.</a:t>
            </a:r>
            <a:endParaRPr lang="en-US" dirty="0">
              <a:latin typeface="Arial" pitchFamily="34" charset="0"/>
              <a:cs typeface="Arial" pitchFamily="34" charset="0"/>
            </a:endParaRPr>
          </a:p>
        </p:txBody>
      </p:sp>
      <p:sp>
        <p:nvSpPr>
          <p:cNvPr id="3" name="Title 2">
            <a:extLst>
              <a:ext uri="{FF2B5EF4-FFF2-40B4-BE49-F238E27FC236}">
                <a16:creationId xmlns:a16="http://schemas.microsoft.com/office/drawing/2014/main" id="{0838D670-09FB-724C-48E1-75FA4F80C803}"/>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grpSp>
        <p:nvGrpSpPr>
          <p:cNvPr id="4" name="d66cb5dc-e914-47bf-b05a-4657a1599031">
            <a:extLst>
              <a:ext uri="{FF2B5EF4-FFF2-40B4-BE49-F238E27FC236}">
                <a16:creationId xmlns:a16="http://schemas.microsoft.com/office/drawing/2014/main" id="{A27F741E-A4D7-88F0-3A52-F42F355B79B3}"/>
              </a:ext>
            </a:extLst>
          </p:cNvPr>
          <p:cNvGrpSpPr>
            <a:grpSpLocks noChangeAspect="1"/>
          </p:cNvGrpSpPr>
          <p:nvPr/>
        </p:nvGrpSpPr>
        <p:grpSpPr>
          <a:xfrm>
            <a:off x="580075" y="1779662"/>
            <a:ext cx="8127865" cy="2983967"/>
            <a:chOff x="858810" y="1816006"/>
            <a:chExt cx="10473535" cy="3845127"/>
          </a:xfrm>
        </p:grpSpPr>
        <p:grpSp>
          <p:nvGrpSpPr>
            <p:cNvPr id="5" name="Group 3">
              <a:extLst>
                <a:ext uri="{FF2B5EF4-FFF2-40B4-BE49-F238E27FC236}">
                  <a16:creationId xmlns:a16="http://schemas.microsoft.com/office/drawing/2014/main" id="{59F5D434-BF62-0E82-C6B2-F6958C09BCF7}"/>
                </a:ext>
              </a:extLst>
            </p:cNvPr>
            <p:cNvGrpSpPr/>
            <p:nvPr/>
          </p:nvGrpSpPr>
          <p:grpSpPr>
            <a:xfrm>
              <a:off x="858810" y="1816006"/>
              <a:ext cx="5166071" cy="1016146"/>
              <a:chOff x="644107" y="1330751"/>
              <a:chExt cx="3874553" cy="762109"/>
            </a:xfrm>
          </p:grpSpPr>
          <p:sp>
            <p:nvSpPr>
              <p:cNvPr id="58" name="Rectangle: Rounded Corners 5">
                <a:extLst>
                  <a:ext uri="{FF2B5EF4-FFF2-40B4-BE49-F238E27FC236}">
                    <a16:creationId xmlns:a16="http://schemas.microsoft.com/office/drawing/2014/main" id="{41E8E263-E848-8743-A594-6D02D55F1DC5}"/>
                  </a:ext>
                </a:extLst>
              </p:cNvPr>
              <p:cNvSpPr/>
              <p:nvPr/>
            </p:nvSpPr>
            <p:spPr>
              <a:xfrm>
                <a:off x="644107" y="1330751"/>
                <a:ext cx="3725972" cy="762109"/>
              </a:xfrm>
              <a:prstGeom prst="roundRect">
                <a:avLst>
                  <a:gd name="adj" fmla="val 50000"/>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59" name="Isosceles Triangle 6">
                <a:extLst>
                  <a:ext uri="{FF2B5EF4-FFF2-40B4-BE49-F238E27FC236}">
                    <a16:creationId xmlns:a16="http://schemas.microsoft.com/office/drawing/2014/main" id="{4D256BE8-19C6-D45C-053D-BD85F0586DFE}"/>
                  </a:ext>
                </a:extLst>
              </p:cNvPr>
              <p:cNvSpPr/>
              <p:nvPr/>
            </p:nvSpPr>
            <p:spPr>
              <a:xfrm rot="5400000">
                <a:off x="4322531" y="1607670"/>
                <a:ext cx="183987" cy="2082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6" name="Group 1">
              <a:extLst>
                <a:ext uri="{FF2B5EF4-FFF2-40B4-BE49-F238E27FC236}">
                  <a16:creationId xmlns:a16="http://schemas.microsoft.com/office/drawing/2014/main" id="{8667C7BD-E178-CAEE-87EB-9BCD3E6AE1FD}"/>
                </a:ext>
              </a:extLst>
            </p:cNvPr>
            <p:cNvGrpSpPr/>
            <p:nvPr/>
          </p:nvGrpSpPr>
          <p:grpSpPr>
            <a:xfrm>
              <a:off x="1991647" y="2018284"/>
              <a:ext cx="3495536" cy="677109"/>
              <a:chOff x="1991647" y="2018284"/>
              <a:chExt cx="3495536" cy="677109"/>
            </a:xfrm>
          </p:grpSpPr>
          <p:sp>
            <p:nvSpPr>
              <p:cNvPr id="56" name="TextBox 8">
                <a:extLst>
                  <a:ext uri="{FF2B5EF4-FFF2-40B4-BE49-F238E27FC236}">
                    <a16:creationId xmlns:a16="http://schemas.microsoft.com/office/drawing/2014/main" id="{46EA3CE4-ACD6-2274-E4F2-DC78FD902EF9}"/>
                  </a:ext>
                </a:extLst>
              </p:cNvPr>
              <p:cNvSpPr txBox="1"/>
              <p:nvPr/>
            </p:nvSpPr>
            <p:spPr>
              <a:xfrm>
                <a:off x="1991647" y="2018284"/>
                <a:ext cx="3495536" cy="215444"/>
              </a:xfrm>
              <a:prstGeom prst="rect">
                <a:avLst/>
              </a:prstGeom>
              <a:noFill/>
            </p:spPr>
            <p:txBody>
              <a:bodyPr wrap="none" lIns="0" tIns="0" rIns="0" bIns="0" anchor="ctr">
                <a:normAutofit/>
              </a:bodyPr>
              <a:lstStyle/>
              <a:p>
                <a:r>
                  <a:rPr lang="en-US" altLang="zh-CN" sz="1050" b="1" dirty="0" err="1">
                    <a:solidFill>
                      <a:schemeClr val="bg1"/>
                    </a:solidFill>
                  </a:rPr>
                  <a:t>Funcionalidad</a:t>
                </a:r>
                <a:endParaRPr lang="zh-CN" altLang="en-US" sz="1050" b="1" dirty="0">
                  <a:solidFill>
                    <a:schemeClr val="bg1"/>
                  </a:solidFill>
                </a:endParaRPr>
              </a:p>
            </p:txBody>
          </p:sp>
          <p:sp>
            <p:nvSpPr>
              <p:cNvPr id="57" name="TextBox 9">
                <a:extLst>
                  <a:ext uri="{FF2B5EF4-FFF2-40B4-BE49-F238E27FC236}">
                    <a16:creationId xmlns:a16="http://schemas.microsoft.com/office/drawing/2014/main" id="{A8FAA832-3123-06CC-00FE-ED4055ED8E07}"/>
                  </a:ext>
                </a:extLst>
              </p:cNvPr>
              <p:cNvSpPr txBox="1"/>
              <p:nvPr/>
            </p:nvSpPr>
            <p:spPr>
              <a:xfrm>
                <a:off x="1991647" y="2233728"/>
                <a:ext cx="3495536" cy="461665"/>
              </a:xfrm>
              <a:prstGeom prst="rect">
                <a:avLst/>
              </a:prstGeom>
              <a:noFill/>
            </p:spPr>
            <p:txBody>
              <a:bodyPr wrap="square" lIns="0" tIns="0" rIns="0" bIns="0" anchor="t">
                <a:normAutofit/>
              </a:bodyPr>
              <a:lstStyle/>
              <a:p>
                <a:pPr algn="just" latinLnBrk="0">
                  <a:lnSpc>
                    <a:spcPct val="120000"/>
                  </a:lnSpc>
                  <a:spcBef>
                    <a:spcPct val="20000"/>
                  </a:spcBef>
                  <a:defRPr/>
                </a:pPr>
                <a:r>
                  <a:rPr lang="es-MX" altLang="zh-CN" sz="1000" dirty="0">
                    <a:solidFill>
                      <a:schemeClr val="bg1">
                        <a:lumMod val="95000"/>
                      </a:schemeClr>
                    </a:solidFill>
                  </a:rPr>
                  <a:t>El software hace lo que se supone que debe hacer</a:t>
                </a:r>
                <a:endParaRPr lang="zh-CN" altLang="en-US" sz="1000" dirty="0">
                  <a:solidFill>
                    <a:schemeClr val="bg1">
                      <a:lumMod val="95000"/>
                    </a:schemeClr>
                  </a:solidFill>
                </a:endParaRPr>
              </a:p>
            </p:txBody>
          </p:sp>
        </p:grpSp>
        <p:cxnSp>
          <p:nvCxnSpPr>
            <p:cNvPr id="7" name="Straight Connector 10">
              <a:extLst>
                <a:ext uri="{FF2B5EF4-FFF2-40B4-BE49-F238E27FC236}">
                  <a16:creationId xmlns:a16="http://schemas.microsoft.com/office/drawing/2014/main" id="{2B57B772-ED6E-067B-52B7-4ED5BD343450}"/>
                </a:ext>
              </a:extLst>
            </p:cNvPr>
            <p:cNvCxnSpPr/>
            <p:nvPr/>
          </p:nvCxnSpPr>
          <p:spPr>
            <a:xfrm flipV="1">
              <a:off x="6096000" y="1927955"/>
              <a:ext cx="0" cy="3661543"/>
            </a:xfrm>
            <a:prstGeom prst="line">
              <a:avLst/>
            </a:prstGeom>
            <a:ln w="19050">
              <a:solidFill>
                <a:schemeClr val="bg1">
                  <a:lumMod val="75000"/>
                </a:schemeClr>
              </a:solidFill>
              <a:prstDash val="sysDot"/>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8" name="Group 11">
              <a:extLst>
                <a:ext uri="{FF2B5EF4-FFF2-40B4-BE49-F238E27FC236}">
                  <a16:creationId xmlns:a16="http://schemas.microsoft.com/office/drawing/2014/main" id="{CEDCBFB5-A70F-9BCA-5E9F-C7F32CC7C710}"/>
                </a:ext>
              </a:extLst>
            </p:cNvPr>
            <p:cNvGrpSpPr/>
            <p:nvPr/>
          </p:nvGrpSpPr>
          <p:grpSpPr>
            <a:xfrm>
              <a:off x="858810" y="3225231"/>
              <a:ext cx="5166071" cy="1016146"/>
              <a:chOff x="644107" y="1330751"/>
              <a:chExt cx="3874553" cy="762109"/>
            </a:xfrm>
          </p:grpSpPr>
          <p:sp>
            <p:nvSpPr>
              <p:cNvPr id="54" name="Rectangle: Rounded Corners 13">
                <a:extLst>
                  <a:ext uri="{FF2B5EF4-FFF2-40B4-BE49-F238E27FC236}">
                    <a16:creationId xmlns:a16="http://schemas.microsoft.com/office/drawing/2014/main" id="{FDEA317B-7788-6D86-F0A9-BADB5002CD30}"/>
                  </a:ext>
                </a:extLst>
              </p:cNvPr>
              <p:cNvSpPr/>
              <p:nvPr/>
            </p:nvSpPr>
            <p:spPr>
              <a:xfrm>
                <a:off x="644107" y="1330751"/>
                <a:ext cx="3725972" cy="762109"/>
              </a:xfrm>
              <a:prstGeom prst="roundRect">
                <a:avLst>
                  <a:gd name="adj" fmla="val 50000"/>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55" name="Isosceles Triangle 14">
                <a:extLst>
                  <a:ext uri="{FF2B5EF4-FFF2-40B4-BE49-F238E27FC236}">
                    <a16:creationId xmlns:a16="http://schemas.microsoft.com/office/drawing/2014/main" id="{3D1D9D6D-314B-C5E4-9089-0AACD1147BD8}"/>
                  </a:ext>
                </a:extLst>
              </p:cNvPr>
              <p:cNvSpPr/>
              <p:nvPr/>
            </p:nvSpPr>
            <p:spPr>
              <a:xfrm rot="5400000">
                <a:off x="4322531" y="1607670"/>
                <a:ext cx="183987" cy="20827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9" name="Group 64">
              <a:extLst>
                <a:ext uri="{FF2B5EF4-FFF2-40B4-BE49-F238E27FC236}">
                  <a16:creationId xmlns:a16="http://schemas.microsoft.com/office/drawing/2014/main" id="{430A2F20-B32C-87F3-BE16-92CE5816EC15}"/>
                </a:ext>
              </a:extLst>
            </p:cNvPr>
            <p:cNvGrpSpPr/>
            <p:nvPr/>
          </p:nvGrpSpPr>
          <p:grpSpPr>
            <a:xfrm>
              <a:off x="1991647" y="3412561"/>
              <a:ext cx="3495536" cy="677109"/>
              <a:chOff x="1991647" y="3412561"/>
              <a:chExt cx="3495536" cy="677109"/>
            </a:xfrm>
          </p:grpSpPr>
          <p:sp>
            <p:nvSpPr>
              <p:cNvPr id="52" name="TextBox 16">
                <a:extLst>
                  <a:ext uri="{FF2B5EF4-FFF2-40B4-BE49-F238E27FC236}">
                    <a16:creationId xmlns:a16="http://schemas.microsoft.com/office/drawing/2014/main" id="{75A8A141-0AFD-7E6A-FD88-7FEF4FD6A24F}"/>
                  </a:ext>
                </a:extLst>
              </p:cNvPr>
              <p:cNvSpPr txBox="1"/>
              <p:nvPr/>
            </p:nvSpPr>
            <p:spPr>
              <a:xfrm>
                <a:off x="1991647" y="3412561"/>
                <a:ext cx="3495536" cy="215444"/>
              </a:xfrm>
              <a:prstGeom prst="rect">
                <a:avLst/>
              </a:prstGeom>
              <a:noFill/>
            </p:spPr>
            <p:txBody>
              <a:bodyPr wrap="none" lIns="0" tIns="0" rIns="0" bIns="0" anchor="ctr">
                <a:normAutofit/>
              </a:bodyPr>
              <a:lstStyle/>
              <a:p>
                <a:r>
                  <a:rPr lang="en-US" altLang="zh-CN" sz="1050" b="1" dirty="0" err="1">
                    <a:solidFill>
                      <a:schemeClr val="bg1"/>
                    </a:solidFill>
                  </a:rPr>
                  <a:t>Usabilidad</a:t>
                </a:r>
                <a:endParaRPr lang="en-US" altLang="zh-CN" sz="1050" b="1" dirty="0">
                  <a:solidFill>
                    <a:schemeClr val="bg1"/>
                  </a:solidFill>
                </a:endParaRPr>
              </a:p>
            </p:txBody>
          </p:sp>
          <p:sp>
            <p:nvSpPr>
              <p:cNvPr id="53" name="TextBox 17">
                <a:extLst>
                  <a:ext uri="{FF2B5EF4-FFF2-40B4-BE49-F238E27FC236}">
                    <a16:creationId xmlns:a16="http://schemas.microsoft.com/office/drawing/2014/main" id="{436BFD18-AE6D-0A6A-00D4-392EEB96C44B}"/>
                  </a:ext>
                </a:extLst>
              </p:cNvPr>
              <p:cNvSpPr txBox="1"/>
              <p:nvPr/>
            </p:nvSpPr>
            <p:spPr>
              <a:xfrm>
                <a:off x="1991647" y="3628005"/>
                <a:ext cx="3495536" cy="461665"/>
              </a:xfrm>
              <a:prstGeom prst="rect">
                <a:avLst/>
              </a:prstGeom>
              <a:noFill/>
            </p:spPr>
            <p:txBody>
              <a:bodyPr wrap="square" lIns="0" tIns="0" rIns="0" bIns="0" anchor="t">
                <a:normAutofit/>
              </a:bodyPr>
              <a:lstStyle/>
              <a:p>
                <a:pPr algn="just" latinLnBrk="0">
                  <a:lnSpc>
                    <a:spcPct val="120000"/>
                  </a:lnSpc>
                  <a:spcBef>
                    <a:spcPct val="20000"/>
                  </a:spcBef>
                  <a:defRPr/>
                </a:pPr>
                <a:r>
                  <a:rPr lang="es-MX" altLang="zh-CN" sz="1000" dirty="0">
                    <a:solidFill>
                      <a:schemeClr val="bg1">
                        <a:lumMod val="95000"/>
                      </a:schemeClr>
                    </a:solidFill>
                  </a:rPr>
                  <a:t>Es fácil de entender, aprender y usar.</a:t>
                </a:r>
                <a:endParaRPr lang="zh-CN" altLang="en-US" sz="1000" dirty="0">
                  <a:solidFill>
                    <a:schemeClr val="bg1">
                      <a:lumMod val="95000"/>
                    </a:schemeClr>
                  </a:solidFill>
                </a:endParaRPr>
              </a:p>
            </p:txBody>
          </p:sp>
        </p:grpSp>
        <p:grpSp>
          <p:nvGrpSpPr>
            <p:cNvPr id="10" name="Group 18">
              <a:extLst>
                <a:ext uri="{FF2B5EF4-FFF2-40B4-BE49-F238E27FC236}">
                  <a16:creationId xmlns:a16="http://schemas.microsoft.com/office/drawing/2014/main" id="{3953C190-F482-37CC-5271-9A48140671F6}"/>
                </a:ext>
              </a:extLst>
            </p:cNvPr>
            <p:cNvGrpSpPr/>
            <p:nvPr/>
          </p:nvGrpSpPr>
          <p:grpSpPr>
            <a:xfrm>
              <a:off x="858810" y="4644987"/>
              <a:ext cx="5166071" cy="1016146"/>
              <a:chOff x="644107" y="1330751"/>
              <a:chExt cx="3874553" cy="762109"/>
            </a:xfrm>
          </p:grpSpPr>
          <p:sp>
            <p:nvSpPr>
              <p:cNvPr id="50" name="Rectangle: Rounded Corners 20">
                <a:extLst>
                  <a:ext uri="{FF2B5EF4-FFF2-40B4-BE49-F238E27FC236}">
                    <a16:creationId xmlns:a16="http://schemas.microsoft.com/office/drawing/2014/main" id="{95A2255E-B5AF-F231-F6AD-60F4FA3D4B9E}"/>
                  </a:ext>
                </a:extLst>
              </p:cNvPr>
              <p:cNvSpPr/>
              <p:nvPr/>
            </p:nvSpPr>
            <p:spPr>
              <a:xfrm>
                <a:off x="644107" y="1330751"/>
                <a:ext cx="3725972" cy="762109"/>
              </a:xfrm>
              <a:prstGeom prst="roundRect">
                <a:avLst>
                  <a:gd name="adj" fmla="val 50000"/>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51" name="Isosceles Triangle 21">
                <a:extLst>
                  <a:ext uri="{FF2B5EF4-FFF2-40B4-BE49-F238E27FC236}">
                    <a16:creationId xmlns:a16="http://schemas.microsoft.com/office/drawing/2014/main" id="{A1F9B468-2940-3ECB-19DE-64E409D5EDA9}"/>
                  </a:ext>
                </a:extLst>
              </p:cNvPr>
              <p:cNvSpPr/>
              <p:nvPr/>
            </p:nvSpPr>
            <p:spPr>
              <a:xfrm rot="5400000">
                <a:off x="4322531" y="1607670"/>
                <a:ext cx="183987" cy="20827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11" name="Group 65">
              <a:extLst>
                <a:ext uri="{FF2B5EF4-FFF2-40B4-BE49-F238E27FC236}">
                  <a16:creationId xmlns:a16="http://schemas.microsoft.com/office/drawing/2014/main" id="{1E365302-0EE6-2312-2C46-1912E3C285E3}"/>
                </a:ext>
              </a:extLst>
            </p:cNvPr>
            <p:cNvGrpSpPr/>
            <p:nvPr/>
          </p:nvGrpSpPr>
          <p:grpSpPr>
            <a:xfrm>
              <a:off x="1991647" y="4852857"/>
              <a:ext cx="3495536" cy="677109"/>
              <a:chOff x="1991647" y="4852857"/>
              <a:chExt cx="3495536" cy="677109"/>
            </a:xfrm>
          </p:grpSpPr>
          <p:sp>
            <p:nvSpPr>
              <p:cNvPr id="48" name="TextBox 23">
                <a:extLst>
                  <a:ext uri="{FF2B5EF4-FFF2-40B4-BE49-F238E27FC236}">
                    <a16:creationId xmlns:a16="http://schemas.microsoft.com/office/drawing/2014/main" id="{3C5E687C-E55B-F0EA-C6FD-98EDFE748393}"/>
                  </a:ext>
                </a:extLst>
              </p:cNvPr>
              <p:cNvSpPr txBox="1"/>
              <p:nvPr/>
            </p:nvSpPr>
            <p:spPr>
              <a:xfrm>
                <a:off x="1991647" y="4852857"/>
                <a:ext cx="3495536" cy="215444"/>
              </a:xfrm>
              <a:prstGeom prst="rect">
                <a:avLst/>
              </a:prstGeom>
              <a:noFill/>
            </p:spPr>
            <p:txBody>
              <a:bodyPr wrap="none" lIns="0" tIns="0" rIns="0" bIns="0" anchor="ctr">
                <a:normAutofit/>
              </a:bodyPr>
              <a:lstStyle/>
              <a:p>
                <a:r>
                  <a:rPr lang="en-US" altLang="zh-CN" sz="1050" b="1" dirty="0" err="1">
                    <a:solidFill>
                      <a:schemeClr val="bg1"/>
                    </a:solidFill>
                  </a:rPr>
                  <a:t>Mantenibilidad</a:t>
                </a:r>
                <a:endParaRPr lang="zh-CN" altLang="en-US" sz="1050" b="1" dirty="0">
                  <a:solidFill>
                    <a:schemeClr val="bg1"/>
                  </a:solidFill>
                </a:endParaRPr>
              </a:p>
            </p:txBody>
          </p:sp>
          <p:sp>
            <p:nvSpPr>
              <p:cNvPr id="49" name="TextBox 24">
                <a:extLst>
                  <a:ext uri="{FF2B5EF4-FFF2-40B4-BE49-F238E27FC236}">
                    <a16:creationId xmlns:a16="http://schemas.microsoft.com/office/drawing/2014/main" id="{241EE5A4-5BAC-1E42-91B6-83CACBF83E2A}"/>
                  </a:ext>
                </a:extLst>
              </p:cNvPr>
              <p:cNvSpPr txBox="1"/>
              <p:nvPr/>
            </p:nvSpPr>
            <p:spPr>
              <a:xfrm>
                <a:off x="1991647" y="5068301"/>
                <a:ext cx="3495536" cy="461665"/>
              </a:xfrm>
              <a:prstGeom prst="rect">
                <a:avLst/>
              </a:prstGeom>
              <a:noFill/>
            </p:spPr>
            <p:txBody>
              <a:bodyPr wrap="square" lIns="0" tIns="0" rIns="0" bIns="0" anchor="t">
                <a:normAutofit/>
              </a:bodyPr>
              <a:lstStyle/>
              <a:p>
                <a:pPr defTabSz="914378">
                  <a:lnSpc>
                    <a:spcPct val="120000"/>
                  </a:lnSpc>
                  <a:spcBef>
                    <a:spcPct val="0"/>
                  </a:spcBef>
                  <a:defRPr/>
                </a:pPr>
                <a:r>
                  <a:rPr lang="es-MX" altLang="zh-CN" sz="1000" dirty="0">
                    <a:solidFill>
                      <a:schemeClr val="bg1">
                        <a:lumMod val="95000"/>
                      </a:schemeClr>
                    </a:solidFill>
                  </a:rPr>
                  <a:t>Es fácil de modificar, corregir y mejorar.</a:t>
                </a:r>
                <a:endParaRPr lang="zh-CN" altLang="en-US" sz="1000" dirty="0">
                  <a:solidFill>
                    <a:schemeClr val="bg1">
                      <a:lumMod val="95000"/>
                    </a:schemeClr>
                  </a:solidFill>
                </a:endParaRPr>
              </a:p>
            </p:txBody>
          </p:sp>
        </p:grpSp>
        <p:grpSp>
          <p:nvGrpSpPr>
            <p:cNvPr id="12" name="Group 25">
              <a:extLst>
                <a:ext uri="{FF2B5EF4-FFF2-40B4-BE49-F238E27FC236}">
                  <a16:creationId xmlns:a16="http://schemas.microsoft.com/office/drawing/2014/main" id="{E434FF1B-F9AA-EAF3-F9BD-1AD00F132632}"/>
                </a:ext>
              </a:extLst>
            </p:cNvPr>
            <p:cNvGrpSpPr/>
            <p:nvPr/>
          </p:nvGrpSpPr>
          <p:grpSpPr>
            <a:xfrm flipH="1">
              <a:off x="6166274" y="1816006"/>
              <a:ext cx="5166071" cy="1016146"/>
              <a:chOff x="644107" y="1330751"/>
              <a:chExt cx="3874553" cy="762109"/>
            </a:xfrm>
          </p:grpSpPr>
          <p:sp>
            <p:nvSpPr>
              <p:cNvPr id="46" name="Rectangle: Rounded Corners 27">
                <a:extLst>
                  <a:ext uri="{FF2B5EF4-FFF2-40B4-BE49-F238E27FC236}">
                    <a16:creationId xmlns:a16="http://schemas.microsoft.com/office/drawing/2014/main" id="{BA192A02-CC69-56BF-3977-8E5DC2538DD6}"/>
                  </a:ext>
                </a:extLst>
              </p:cNvPr>
              <p:cNvSpPr/>
              <p:nvPr/>
            </p:nvSpPr>
            <p:spPr>
              <a:xfrm>
                <a:off x="644107" y="1330751"/>
                <a:ext cx="3725972" cy="762109"/>
              </a:xfrm>
              <a:prstGeom prst="roundRect">
                <a:avLst>
                  <a:gd name="adj" fmla="val 50000"/>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47" name="Isosceles Triangle 28">
                <a:extLst>
                  <a:ext uri="{FF2B5EF4-FFF2-40B4-BE49-F238E27FC236}">
                    <a16:creationId xmlns:a16="http://schemas.microsoft.com/office/drawing/2014/main" id="{276115B6-605D-016C-EE7A-5B5D1D6F4161}"/>
                  </a:ext>
                </a:extLst>
              </p:cNvPr>
              <p:cNvSpPr/>
              <p:nvPr/>
            </p:nvSpPr>
            <p:spPr>
              <a:xfrm rot="5400000">
                <a:off x="4322531" y="1607670"/>
                <a:ext cx="183987" cy="208271"/>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13" name="Group 66">
              <a:extLst>
                <a:ext uri="{FF2B5EF4-FFF2-40B4-BE49-F238E27FC236}">
                  <a16:creationId xmlns:a16="http://schemas.microsoft.com/office/drawing/2014/main" id="{65C8540E-1F17-9493-14FE-0EBF1DAD980D}"/>
                </a:ext>
              </a:extLst>
            </p:cNvPr>
            <p:cNvGrpSpPr/>
            <p:nvPr/>
          </p:nvGrpSpPr>
          <p:grpSpPr>
            <a:xfrm>
              <a:off x="6745103" y="2010911"/>
              <a:ext cx="3673539" cy="677109"/>
              <a:chOff x="6745103" y="2010911"/>
              <a:chExt cx="3673539" cy="677109"/>
            </a:xfrm>
          </p:grpSpPr>
          <p:sp>
            <p:nvSpPr>
              <p:cNvPr id="44" name="TextBox 30">
                <a:extLst>
                  <a:ext uri="{FF2B5EF4-FFF2-40B4-BE49-F238E27FC236}">
                    <a16:creationId xmlns:a16="http://schemas.microsoft.com/office/drawing/2014/main" id="{83FB1D08-047D-4CB7-3E33-82D187E42998}"/>
                  </a:ext>
                </a:extLst>
              </p:cNvPr>
              <p:cNvSpPr txBox="1"/>
              <p:nvPr/>
            </p:nvSpPr>
            <p:spPr>
              <a:xfrm flipH="1">
                <a:off x="6780748" y="2010911"/>
                <a:ext cx="3495536" cy="215444"/>
              </a:xfrm>
              <a:prstGeom prst="rect">
                <a:avLst/>
              </a:prstGeom>
              <a:noFill/>
            </p:spPr>
            <p:txBody>
              <a:bodyPr wrap="none" lIns="0" tIns="0" rIns="0" bIns="0" anchor="ctr">
                <a:normAutofit/>
              </a:bodyPr>
              <a:lstStyle/>
              <a:p>
                <a:pPr algn="r"/>
                <a:r>
                  <a:rPr lang="en-US" altLang="zh-CN" sz="1050" b="1" dirty="0" err="1">
                    <a:solidFill>
                      <a:schemeClr val="bg1"/>
                    </a:solidFill>
                  </a:rPr>
                  <a:t>Fiabilidad</a:t>
                </a:r>
                <a:endParaRPr lang="zh-CN" altLang="en-US" sz="1050" b="1" dirty="0">
                  <a:solidFill>
                    <a:schemeClr val="bg1"/>
                  </a:solidFill>
                </a:endParaRPr>
              </a:p>
            </p:txBody>
          </p:sp>
          <p:sp>
            <p:nvSpPr>
              <p:cNvPr id="45" name="TextBox 31">
                <a:extLst>
                  <a:ext uri="{FF2B5EF4-FFF2-40B4-BE49-F238E27FC236}">
                    <a16:creationId xmlns:a16="http://schemas.microsoft.com/office/drawing/2014/main" id="{A4BAA2F0-A333-F81A-57EB-BF5AE3454AC5}"/>
                  </a:ext>
                </a:extLst>
              </p:cNvPr>
              <p:cNvSpPr txBox="1"/>
              <p:nvPr/>
            </p:nvSpPr>
            <p:spPr>
              <a:xfrm flipH="1">
                <a:off x="6745103" y="2226355"/>
                <a:ext cx="3673539" cy="461665"/>
              </a:xfrm>
              <a:prstGeom prst="rect">
                <a:avLst/>
              </a:prstGeom>
              <a:noFill/>
            </p:spPr>
            <p:txBody>
              <a:bodyPr wrap="square" lIns="0" tIns="0" rIns="0" bIns="0" anchor="t">
                <a:noAutofit/>
              </a:bodyPr>
              <a:lstStyle/>
              <a:p>
                <a:pPr algn="just" latinLnBrk="0">
                  <a:lnSpc>
                    <a:spcPct val="120000"/>
                  </a:lnSpc>
                  <a:spcBef>
                    <a:spcPct val="20000"/>
                  </a:spcBef>
                  <a:defRPr/>
                </a:pPr>
                <a:r>
                  <a:rPr lang="es-MX" altLang="zh-CN" sz="1000" dirty="0">
                    <a:solidFill>
                      <a:schemeClr val="bg1">
                        <a:lumMod val="95000"/>
                      </a:schemeClr>
                    </a:solidFill>
                  </a:rPr>
                  <a:t>El software mantiene un nivel de rendimiento especificado, sin fallos, en condiciones normales.</a:t>
                </a:r>
                <a:endParaRPr lang="zh-CN" altLang="en-US" sz="1000" dirty="0">
                  <a:solidFill>
                    <a:schemeClr val="bg1">
                      <a:lumMod val="95000"/>
                    </a:schemeClr>
                  </a:solidFill>
                </a:endParaRPr>
              </a:p>
            </p:txBody>
          </p:sp>
        </p:grpSp>
        <p:grpSp>
          <p:nvGrpSpPr>
            <p:cNvPr id="14" name="Group 32">
              <a:extLst>
                <a:ext uri="{FF2B5EF4-FFF2-40B4-BE49-F238E27FC236}">
                  <a16:creationId xmlns:a16="http://schemas.microsoft.com/office/drawing/2014/main" id="{576E5F5B-339E-BD5E-68E1-B9655A5BA743}"/>
                </a:ext>
              </a:extLst>
            </p:cNvPr>
            <p:cNvGrpSpPr/>
            <p:nvPr/>
          </p:nvGrpSpPr>
          <p:grpSpPr>
            <a:xfrm flipH="1">
              <a:off x="6166274" y="3225232"/>
              <a:ext cx="5166071" cy="1016146"/>
              <a:chOff x="644107" y="1330751"/>
              <a:chExt cx="3874553" cy="762109"/>
            </a:xfrm>
          </p:grpSpPr>
          <p:sp>
            <p:nvSpPr>
              <p:cNvPr id="42" name="Rectangle: Rounded Corners 34">
                <a:extLst>
                  <a:ext uri="{FF2B5EF4-FFF2-40B4-BE49-F238E27FC236}">
                    <a16:creationId xmlns:a16="http://schemas.microsoft.com/office/drawing/2014/main" id="{63A14F5D-CC76-1CBF-C235-DAB1499F19D3}"/>
                  </a:ext>
                </a:extLst>
              </p:cNvPr>
              <p:cNvSpPr/>
              <p:nvPr/>
            </p:nvSpPr>
            <p:spPr>
              <a:xfrm>
                <a:off x="644107" y="1330751"/>
                <a:ext cx="3725972" cy="762109"/>
              </a:xfrm>
              <a:prstGeom prst="roundRect">
                <a:avLst>
                  <a:gd name="adj" fmla="val 50000"/>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43" name="Isosceles Triangle 35">
                <a:extLst>
                  <a:ext uri="{FF2B5EF4-FFF2-40B4-BE49-F238E27FC236}">
                    <a16:creationId xmlns:a16="http://schemas.microsoft.com/office/drawing/2014/main" id="{C55CBAD5-7509-3717-3ED3-7CCA6F334FB1}"/>
                  </a:ext>
                </a:extLst>
              </p:cNvPr>
              <p:cNvSpPr/>
              <p:nvPr/>
            </p:nvSpPr>
            <p:spPr>
              <a:xfrm rot="5400000">
                <a:off x="4322531" y="1607670"/>
                <a:ext cx="183987" cy="20827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15" name="Group 67">
              <a:extLst>
                <a:ext uri="{FF2B5EF4-FFF2-40B4-BE49-F238E27FC236}">
                  <a16:creationId xmlns:a16="http://schemas.microsoft.com/office/drawing/2014/main" id="{5503E4A1-93FA-8193-BF1E-DC9A80D23FC8}"/>
                </a:ext>
              </a:extLst>
            </p:cNvPr>
            <p:cNvGrpSpPr/>
            <p:nvPr/>
          </p:nvGrpSpPr>
          <p:grpSpPr>
            <a:xfrm>
              <a:off x="6780748" y="3432838"/>
              <a:ext cx="3495536" cy="677109"/>
              <a:chOff x="6780748" y="3432838"/>
              <a:chExt cx="3495536" cy="677109"/>
            </a:xfrm>
          </p:grpSpPr>
          <p:sp>
            <p:nvSpPr>
              <p:cNvPr id="40" name="TextBox 37">
                <a:extLst>
                  <a:ext uri="{FF2B5EF4-FFF2-40B4-BE49-F238E27FC236}">
                    <a16:creationId xmlns:a16="http://schemas.microsoft.com/office/drawing/2014/main" id="{B3FE16D2-3434-09FB-9F8A-67733EE4DB1C}"/>
                  </a:ext>
                </a:extLst>
              </p:cNvPr>
              <p:cNvSpPr txBox="1"/>
              <p:nvPr/>
            </p:nvSpPr>
            <p:spPr>
              <a:xfrm flipH="1">
                <a:off x="6780748" y="3432838"/>
                <a:ext cx="3495536" cy="215444"/>
              </a:xfrm>
              <a:prstGeom prst="rect">
                <a:avLst/>
              </a:prstGeom>
              <a:noFill/>
            </p:spPr>
            <p:txBody>
              <a:bodyPr wrap="none" lIns="0" tIns="0" rIns="0" bIns="0" anchor="ctr">
                <a:normAutofit/>
              </a:bodyPr>
              <a:lstStyle/>
              <a:p>
                <a:pPr algn="r"/>
                <a:r>
                  <a:rPr lang="en-US" altLang="zh-CN" sz="1050" b="1" dirty="0" err="1">
                    <a:solidFill>
                      <a:schemeClr val="bg1"/>
                    </a:solidFill>
                  </a:rPr>
                  <a:t>Rendimiento</a:t>
                </a:r>
                <a:endParaRPr lang="zh-CN" altLang="en-US" sz="1050" b="1" dirty="0">
                  <a:solidFill>
                    <a:schemeClr val="bg1"/>
                  </a:solidFill>
                </a:endParaRPr>
              </a:p>
            </p:txBody>
          </p:sp>
          <p:sp>
            <p:nvSpPr>
              <p:cNvPr id="41" name="TextBox 38">
                <a:extLst>
                  <a:ext uri="{FF2B5EF4-FFF2-40B4-BE49-F238E27FC236}">
                    <a16:creationId xmlns:a16="http://schemas.microsoft.com/office/drawing/2014/main" id="{0F2281A7-7B36-E2FC-1BD9-F1809C2CBDC5}"/>
                  </a:ext>
                </a:extLst>
              </p:cNvPr>
              <p:cNvSpPr txBox="1"/>
              <p:nvPr/>
            </p:nvSpPr>
            <p:spPr>
              <a:xfrm flipH="1">
                <a:off x="6780748" y="3648282"/>
                <a:ext cx="3495536" cy="461665"/>
              </a:xfrm>
              <a:prstGeom prst="rect">
                <a:avLst/>
              </a:prstGeom>
              <a:noFill/>
            </p:spPr>
            <p:txBody>
              <a:bodyPr wrap="square" lIns="0" tIns="0" rIns="0" bIns="0" anchor="t">
                <a:normAutofit/>
              </a:bodyPr>
              <a:lstStyle/>
              <a:p>
                <a:pPr algn="just" latinLnBrk="0">
                  <a:lnSpc>
                    <a:spcPct val="120000"/>
                  </a:lnSpc>
                  <a:spcBef>
                    <a:spcPct val="20000"/>
                  </a:spcBef>
                  <a:defRPr/>
                </a:pPr>
                <a:r>
                  <a:rPr lang="es-MX" altLang="zh-CN" sz="1000" dirty="0">
                    <a:solidFill>
                      <a:schemeClr val="bg1">
                        <a:lumMod val="95000"/>
                      </a:schemeClr>
                    </a:solidFill>
                  </a:rPr>
                  <a:t>Utiliza eficientemente los recursos bajo condiciones específicas.</a:t>
                </a:r>
                <a:endParaRPr lang="zh-CN" altLang="en-US" sz="1000" dirty="0">
                  <a:solidFill>
                    <a:schemeClr val="bg1">
                      <a:lumMod val="95000"/>
                    </a:schemeClr>
                  </a:solidFill>
                </a:endParaRPr>
              </a:p>
            </p:txBody>
          </p:sp>
        </p:grpSp>
        <p:grpSp>
          <p:nvGrpSpPr>
            <p:cNvPr id="16" name="Group 39">
              <a:extLst>
                <a:ext uri="{FF2B5EF4-FFF2-40B4-BE49-F238E27FC236}">
                  <a16:creationId xmlns:a16="http://schemas.microsoft.com/office/drawing/2014/main" id="{D4C8CDFE-5E61-5812-5B49-919E992324E2}"/>
                </a:ext>
              </a:extLst>
            </p:cNvPr>
            <p:cNvGrpSpPr/>
            <p:nvPr/>
          </p:nvGrpSpPr>
          <p:grpSpPr>
            <a:xfrm flipH="1">
              <a:off x="6166274" y="4644987"/>
              <a:ext cx="5166071" cy="1016146"/>
              <a:chOff x="644107" y="1330751"/>
              <a:chExt cx="3874553" cy="762109"/>
            </a:xfrm>
          </p:grpSpPr>
          <p:sp>
            <p:nvSpPr>
              <p:cNvPr id="38" name="Rectangle: Rounded Corners 41">
                <a:extLst>
                  <a:ext uri="{FF2B5EF4-FFF2-40B4-BE49-F238E27FC236}">
                    <a16:creationId xmlns:a16="http://schemas.microsoft.com/office/drawing/2014/main" id="{9B701E5B-123D-0006-D1E7-C0453D290310}"/>
                  </a:ext>
                </a:extLst>
              </p:cNvPr>
              <p:cNvSpPr/>
              <p:nvPr/>
            </p:nvSpPr>
            <p:spPr>
              <a:xfrm>
                <a:off x="644107" y="1330751"/>
                <a:ext cx="3725972" cy="762109"/>
              </a:xfrm>
              <a:prstGeom prst="roundRect">
                <a:avLst>
                  <a:gd name="adj" fmla="val 50000"/>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39" name="Isosceles Triangle 42">
                <a:extLst>
                  <a:ext uri="{FF2B5EF4-FFF2-40B4-BE49-F238E27FC236}">
                    <a16:creationId xmlns:a16="http://schemas.microsoft.com/office/drawing/2014/main" id="{CBC64A01-3CAD-31A9-51B2-D76E80B2F78A}"/>
                  </a:ext>
                </a:extLst>
              </p:cNvPr>
              <p:cNvSpPr/>
              <p:nvPr/>
            </p:nvSpPr>
            <p:spPr>
              <a:xfrm rot="5400000">
                <a:off x="4322531" y="1607670"/>
                <a:ext cx="183987" cy="208271"/>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grpSp>
        <p:grpSp>
          <p:nvGrpSpPr>
            <p:cNvPr id="17" name="Group 68">
              <a:extLst>
                <a:ext uri="{FF2B5EF4-FFF2-40B4-BE49-F238E27FC236}">
                  <a16:creationId xmlns:a16="http://schemas.microsoft.com/office/drawing/2014/main" id="{C94CB44E-198E-537E-36E8-8BFA4857BB37}"/>
                </a:ext>
              </a:extLst>
            </p:cNvPr>
            <p:cNvGrpSpPr/>
            <p:nvPr/>
          </p:nvGrpSpPr>
          <p:grpSpPr>
            <a:xfrm>
              <a:off x="6780748" y="4852593"/>
              <a:ext cx="3495536" cy="677109"/>
              <a:chOff x="6780748" y="4852593"/>
              <a:chExt cx="3495536" cy="677109"/>
            </a:xfrm>
          </p:grpSpPr>
          <p:sp>
            <p:nvSpPr>
              <p:cNvPr id="36" name="TextBox 44">
                <a:extLst>
                  <a:ext uri="{FF2B5EF4-FFF2-40B4-BE49-F238E27FC236}">
                    <a16:creationId xmlns:a16="http://schemas.microsoft.com/office/drawing/2014/main" id="{EF85F10C-D4AC-070F-A9CD-C991DFC2B6BA}"/>
                  </a:ext>
                </a:extLst>
              </p:cNvPr>
              <p:cNvSpPr txBox="1"/>
              <p:nvPr/>
            </p:nvSpPr>
            <p:spPr>
              <a:xfrm flipH="1">
                <a:off x="6780748" y="4852593"/>
                <a:ext cx="3495536" cy="215444"/>
              </a:xfrm>
              <a:prstGeom prst="rect">
                <a:avLst/>
              </a:prstGeom>
              <a:noFill/>
            </p:spPr>
            <p:txBody>
              <a:bodyPr wrap="none" lIns="0" tIns="0" rIns="0" bIns="0" anchor="ctr">
                <a:normAutofit/>
              </a:bodyPr>
              <a:lstStyle/>
              <a:p>
                <a:pPr algn="r"/>
                <a:r>
                  <a:rPr lang="en-US" altLang="zh-CN" sz="1050" b="1" dirty="0" err="1">
                    <a:solidFill>
                      <a:schemeClr val="bg1"/>
                    </a:solidFill>
                  </a:rPr>
                  <a:t>Portabilidad</a:t>
                </a:r>
                <a:endParaRPr lang="zh-CN" altLang="en-US" sz="1050" b="1" dirty="0">
                  <a:solidFill>
                    <a:schemeClr val="bg1"/>
                  </a:solidFill>
                </a:endParaRPr>
              </a:p>
            </p:txBody>
          </p:sp>
          <p:sp>
            <p:nvSpPr>
              <p:cNvPr id="37" name="TextBox 45">
                <a:extLst>
                  <a:ext uri="{FF2B5EF4-FFF2-40B4-BE49-F238E27FC236}">
                    <a16:creationId xmlns:a16="http://schemas.microsoft.com/office/drawing/2014/main" id="{ECDA34C7-FC71-6F86-4E8A-20516A919BE1}"/>
                  </a:ext>
                </a:extLst>
              </p:cNvPr>
              <p:cNvSpPr txBox="1"/>
              <p:nvPr/>
            </p:nvSpPr>
            <p:spPr>
              <a:xfrm flipH="1">
                <a:off x="6780748" y="5068037"/>
                <a:ext cx="3495536" cy="461665"/>
              </a:xfrm>
              <a:prstGeom prst="rect">
                <a:avLst/>
              </a:prstGeom>
              <a:noFill/>
            </p:spPr>
            <p:txBody>
              <a:bodyPr wrap="square" lIns="0" tIns="0" rIns="0" bIns="0" anchor="t">
                <a:normAutofit/>
              </a:bodyPr>
              <a:lstStyle/>
              <a:p>
                <a:pPr defTabSz="914378">
                  <a:lnSpc>
                    <a:spcPct val="120000"/>
                  </a:lnSpc>
                  <a:spcBef>
                    <a:spcPct val="0"/>
                  </a:spcBef>
                  <a:defRPr/>
                </a:pPr>
                <a:r>
                  <a:rPr lang="en-US" altLang="zh-CN" sz="1000" dirty="0">
                    <a:solidFill>
                      <a:schemeClr val="bg1">
                        <a:lumMod val="95000"/>
                      </a:schemeClr>
                    </a:solidFill>
                  </a:rPr>
                  <a:t>Puede </a:t>
                </a:r>
                <a:r>
                  <a:rPr lang="en-US" altLang="zh-CN" sz="1000" dirty="0" err="1">
                    <a:solidFill>
                      <a:schemeClr val="bg1">
                        <a:lumMod val="95000"/>
                      </a:schemeClr>
                    </a:solidFill>
                  </a:rPr>
                  <a:t>funcionar</a:t>
                </a:r>
                <a:r>
                  <a:rPr lang="en-US" altLang="zh-CN" sz="1000" dirty="0">
                    <a:solidFill>
                      <a:schemeClr val="bg1">
                        <a:lumMod val="95000"/>
                      </a:schemeClr>
                    </a:solidFill>
                  </a:rPr>
                  <a:t> </a:t>
                </a:r>
                <a:r>
                  <a:rPr lang="en-US" altLang="zh-CN" sz="1000" dirty="0" err="1">
                    <a:solidFill>
                      <a:schemeClr val="bg1">
                        <a:lumMod val="95000"/>
                      </a:schemeClr>
                    </a:solidFill>
                  </a:rPr>
                  <a:t>en</a:t>
                </a:r>
                <a:r>
                  <a:rPr lang="en-US" altLang="zh-CN" sz="1000" dirty="0">
                    <a:solidFill>
                      <a:schemeClr val="bg1">
                        <a:lumMod val="95000"/>
                      </a:schemeClr>
                    </a:solidFill>
                  </a:rPr>
                  <a:t> </a:t>
                </a:r>
                <a:r>
                  <a:rPr lang="en-US" altLang="zh-CN" sz="1000" dirty="0" err="1">
                    <a:solidFill>
                      <a:schemeClr val="bg1">
                        <a:lumMod val="95000"/>
                      </a:schemeClr>
                    </a:solidFill>
                  </a:rPr>
                  <a:t>diferentes</a:t>
                </a:r>
                <a:r>
                  <a:rPr lang="en-US" altLang="zh-CN" sz="1000" dirty="0">
                    <a:solidFill>
                      <a:schemeClr val="bg1">
                        <a:lumMod val="95000"/>
                      </a:schemeClr>
                    </a:solidFill>
                  </a:rPr>
                  <a:t> </a:t>
                </a:r>
                <a:r>
                  <a:rPr lang="en-US" altLang="zh-CN" sz="1000" dirty="0" err="1">
                    <a:solidFill>
                      <a:schemeClr val="bg1">
                        <a:lumMod val="95000"/>
                      </a:schemeClr>
                    </a:solidFill>
                  </a:rPr>
                  <a:t>entornos</a:t>
                </a:r>
                <a:r>
                  <a:rPr lang="en-US" altLang="zh-CN" sz="1000" dirty="0">
                    <a:solidFill>
                      <a:schemeClr val="bg1">
                        <a:lumMod val="95000"/>
                      </a:schemeClr>
                    </a:solidFill>
                  </a:rPr>
                  <a:t> (</a:t>
                </a:r>
                <a:r>
                  <a:rPr lang="en-US" altLang="zh-CN" sz="1000" dirty="0" err="1">
                    <a:solidFill>
                      <a:schemeClr val="bg1">
                        <a:lumMod val="95000"/>
                      </a:schemeClr>
                    </a:solidFill>
                  </a:rPr>
                  <a:t>sistemas</a:t>
                </a:r>
                <a:r>
                  <a:rPr lang="en-US" altLang="zh-CN" sz="1000" dirty="0">
                    <a:solidFill>
                      <a:schemeClr val="bg1">
                        <a:lumMod val="95000"/>
                      </a:schemeClr>
                    </a:solidFill>
                  </a:rPr>
                  <a:t> </a:t>
                </a:r>
                <a:r>
                  <a:rPr lang="en-US" altLang="zh-CN" sz="1000" dirty="0" err="1">
                    <a:solidFill>
                      <a:schemeClr val="bg1">
                        <a:lumMod val="95000"/>
                      </a:schemeClr>
                    </a:solidFill>
                  </a:rPr>
                  <a:t>operativos</a:t>
                </a:r>
                <a:r>
                  <a:rPr lang="en-US" altLang="zh-CN" sz="1000" dirty="0">
                    <a:solidFill>
                      <a:schemeClr val="bg1">
                        <a:lumMod val="95000"/>
                      </a:schemeClr>
                    </a:solidFill>
                  </a:rPr>
                  <a:t>, </a:t>
                </a:r>
                <a:r>
                  <a:rPr lang="en-US" altLang="zh-CN" sz="1000" dirty="0" err="1">
                    <a:solidFill>
                      <a:schemeClr val="bg1">
                        <a:lumMod val="95000"/>
                      </a:schemeClr>
                    </a:solidFill>
                  </a:rPr>
                  <a:t>navegadores</a:t>
                </a:r>
                <a:r>
                  <a:rPr lang="en-US" altLang="zh-CN" sz="1000" dirty="0">
                    <a:solidFill>
                      <a:schemeClr val="bg1">
                        <a:lumMod val="95000"/>
                      </a:schemeClr>
                    </a:solidFill>
                  </a:rPr>
                  <a:t>).</a:t>
                </a:r>
                <a:endParaRPr lang="zh-CN" altLang="en-US" sz="1000" dirty="0">
                  <a:solidFill>
                    <a:schemeClr val="bg1">
                      <a:lumMod val="95000"/>
                    </a:schemeClr>
                  </a:solidFill>
                </a:endParaRPr>
              </a:p>
            </p:txBody>
          </p:sp>
        </p:grpSp>
        <p:grpSp>
          <p:nvGrpSpPr>
            <p:cNvPr id="18" name="Group 46">
              <a:extLst>
                <a:ext uri="{FF2B5EF4-FFF2-40B4-BE49-F238E27FC236}">
                  <a16:creationId xmlns:a16="http://schemas.microsoft.com/office/drawing/2014/main" id="{A1133275-F9EB-B17F-22C9-1D21E0683D3D}"/>
                </a:ext>
              </a:extLst>
            </p:cNvPr>
            <p:cNvGrpSpPr/>
            <p:nvPr/>
          </p:nvGrpSpPr>
          <p:grpSpPr>
            <a:xfrm>
              <a:off x="980255" y="3358329"/>
              <a:ext cx="772051" cy="749947"/>
              <a:chOff x="735191" y="2518747"/>
              <a:chExt cx="579038" cy="562460"/>
            </a:xfrm>
          </p:grpSpPr>
          <p:sp>
            <p:nvSpPr>
              <p:cNvPr id="34" name="Oval 47">
                <a:extLst>
                  <a:ext uri="{FF2B5EF4-FFF2-40B4-BE49-F238E27FC236}">
                    <a16:creationId xmlns:a16="http://schemas.microsoft.com/office/drawing/2014/main" id="{440FF335-DEED-BB19-A8AA-DFA581A51A29}"/>
                  </a:ext>
                </a:extLst>
              </p:cNvPr>
              <p:cNvSpPr>
                <a:spLocks noChangeAspect="1"/>
              </p:cNvSpPr>
              <p:nvPr/>
            </p:nvSpPr>
            <p:spPr>
              <a:xfrm>
                <a:off x="735191" y="2518747"/>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35" name="Freeform: Shape 48">
                <a:extLst>
                  <a:ext uri="{FF2B5EF4-FFF2-40B4-BE49-F238E27FC236}">
                    <a16:creationId xmlns:a16="http://schemas.microsoft.com/office/drawing/2014/main" id="{E049152B-7249-B3AA-BD97-D75D9D1A2E67}"/>
                  </a:ext>
                </a:extLst>
              </p:cNvPr>
              <p:cNvSpPr>
                <a:spLocks/>
              </p:cNvSpPr>
              <p:nvPr/>
            </p:nvSpPr>
            <p:spPr bwMode="auto">
              <a:xfrm>
                <a:off x="899027" y="2664760"/>
                <a:ext cx="251367" cy="270435"/>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chemeClr val="accent2"/>
              </a:solidFill>
              <a:ln w="9525">
                <a:noFill/>
                <a:round/>
                <a:headEnd/>
                <a:tailEnd/>
              </a:ln>
            </p:spPr>
            <p:txBody>
              <a:bodyPr anchor="ctr"/>
              <a:lstStyle/>
              <a:p>
                <a:pPr algn="ctr"/>
                <a:endParaRPr sz="1350" dirty="0"/>
              </a:p>
            </p:txBody>
          </p:sp>
        </p:grpSp>
        <p:grpSp>
          <p:nvGrpSpPr>
            <p:cNvPr id="19" name="Group 49">
              <a:extLst>
                <a:ext uri="{FF2B5EF4-FFF2-40B4-BE49-F238E27FC236}">
                  <a16:creationId xmlns:a16="http://schemas.microsoft.com/office/drawing/2014/main" id="{13588081-E05A-7EBA-80E5-455C6EFA6F30}"/>
                </a:ext>
              </a:extLst>
            </p:cNvPr>
            <p:cNvGrpSpPr/>
            <p:nvPr/>
          </p:nvGrpSpPr>
          <p:grpSpPr>
            <a:xfrm>
              <a:off x="980255" y="4778084"/>
              <a:ext cx="772051" cy="749947"/>
              <a:chOff x="735191" y="3583563"/>
              <a:chExt cx="579038" cy="562460"/>
            </a:xfrm>
          </p:grpSpPr>
          <p:sp>
            <p:nvSpPr>
              <p:cNvPr id="32" name="Oval 50">
                <a:extLst>
                  <a:ext uri="{FF2B5EF4-FFF2-40B4-BE49-F238E27FC236}">
                    <a16:creationId xmlns:a16="http://schemas.microsoft.com/office/drawing/2014/main" id="{608FEFA4-AF6D-7BF0-0B43-942E7813EFC9}"/>
                  </a:ext>
                </a:extLst>
              </p:cNvPr>
              <p:cNvSpPr>
                <a:spLocks noChangeAspect="1"/>
              </p:cNvSpPr>
              <p:nvPr/>
            </p:nvSpPr>
            <p:spPr>
              <a:xfrm>
                <a:off x="735191" y="3583563"/>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33" name="Freeform: Shape 51">
                <a:extLst>
                  <a:ext uri="{FF2B5EF4-FFF2-40B4-BE49-F238E27FC236}">
                    <a16:creationId xmlns:a16="http://schemas.microsoft.com/office/drawing/2014/main" id="{3BF17FBD-47BE-5819-8BAF-28E919BB5BC3}"/>
                  </a:ext>
                </a:extLst>
              </p:cNvPr>
              <p:cNvSpPr>
                <a:spLocks/>
              </p:cNvSpPr>
              <p:nvPr/>
            </p:nvSpPr>
            <p:spPr bwMode="auto">
              <a:xfrm>
                <a:off x="899027" y="3685335"/>
                <a:ext cx="250504" cy="368872"/>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accent3"/>
              </a:solidFill>
              <a:ln w="9525">
                <a:noFill/>
                <a:round/>
                <a:headEnd/>
                <a:tailEnd/>
              </a:ln>
            </p:spPr>
            <p:txBody>
              <a:bodyPr anchor="ctr"/>
              <a:lstStyle/>
              <a:p>
                <a:pPr algn="ctr"/>
                <a:endParaRPr sz="1350" dirty="0"/>
              </a:p>
            </p:txBody>
          </p:sp>
        </p:grpSp>
        <p:grpSp>
          <p:nvGrpSpPr>
            <p:cNvPr id="20" name="Group 52">
              <a:extLst>
                <a:ext uri="{FF2B5EF4-FFF2-40B4-BE49-F238E27FC236}">
                  <a16:creationId xmlns:a16="http://schemas.microsoft.com/office/drawing/2014/main" id="{82913D71-5722-ECAB-AB17-28C73638D3E8}"/>
                </a:ext>
              </a:extLst>
            </p:cNvPr>
            <p:cNvGrpSpPr/>
            <p:nvPr/>
          </p:nvGrpSpPr>
          <p:grpSpPr>
            <a:xfrm>
              <a:off x="10454287" y="3358329"/>
              <a:ext cx="772051" cy="749947"/>
              <a:chOff x="7840715" y="2518747"/>
              <a:chExt cx="579038" cy="562460"/>
            </a:xfrm>
          </p:grpSpPr>
          <p:sp>
            <p:nvSpPr>
              <p:cNvPr id="30" name="Oval 53">
                <a:extLst>
                  <a:ext uri="{FF2B5EF4-FFF2-40B4-BE49-F238E27FC236}">
                    <a16:creationId xmlns:a16="http://schemas.microsoft.com/office/drawing/2014/main" id="{DF9A4311-D503-510C-AD83-DC7FF299E96A}"/>
                  </a:ext>
                </a:extLst>
              </p:cNvPr>
              <p:cNvSpPr>
                <a:spLocks noChangeAspect="1"/>
              </p:cNvSpPr>
              <p:nvPr/>
            </p:nvSpPr>
            <p:spPr>
              <a:xfrm flipH="1">
                <a:off x="7840715" y="2518747"/>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31" name="Freeform: Shape 54">
                <a:extLst>
                  <a:ext uri="{FF2B5EF4-FFF2-40B4-BE49-F238E27FC236}">
                    <a16:creationId xmlns:a16="http://schemas.microsoft.com/office/drawing/2014/main" id="{23F62BB6-E3A1-2E91-8381-FF9EFD39DF8C}"/>
                  </a:ext>
                </a:extLst>
              </p:cNvPr>
              <p:cNvSpPr>
                <a:spLocks/>
              </p:cNvSpPr>
              <p:nvPr/>
            </p:nvSpPr>
            <p:spPr bwMode="auto">
              <a:xfrm>
                <a:off x="7990534" y="2660277"/>
                <a:ext cx="279400" cy="27940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5"/>
              </a:solidFill>
              <a:ln w="9525">
                <a:noFill/>
                <a:round/>
                <a:headEnd/>
                <a:tailEnd/>
              </a:ln>
            </p:spPr>
            <p:txBody>
              <a:bodyPr anchor="ctr"/>
              <a:lstStyle/>
              <a:p>
                <a:pPr algn="ctr"/>
                <a:endParaRPr sz="1350" dirty="0"/>
              </a:p>
            </p:txBody>
          </p:sp>
        </p:grpSp>
        <p:grpSp>
          <p:nvGrpSpPr>
            <p:cNvPr id="21" name="Group 55">
              <a:extLst>
                <a:ext uri="{FF2B5EF4-FFF2-40B4-BE49-F238E27FC236}">
                  <a16:creationId xmlns:a16="http://schemas.microsoft.com/office/drawing/2014/main" id="{BB75D35F-4897-1C36-3A4D-441F3564FDC7}"/>
                </a:ext>
              </a:extLst>
            </p:cNvPr>
            <p:cNvGrpSpPr/>
            <p:nvPr/>
          </p:nvGrpSpPr>
          <p:grpSpPr>
            <a:xfrm>
              <a:off x="980255" y="1949103"/>
              <a:ext cx="772051" cy="749947"/>
              <a:chOff x="735191" y="1461827"/>
              <a:chExt cx="579038" cy="562460"/>
            </a:xfrm>
          </p:grpSpPr>
          <p:sp>
            <p:nvSpPr>
              <p:cNvPr id="28" name="Oval 56">
                <a:extLst>
                  <a:ext uri="{FF2B5EF4-FFF2-40B4-BE49-F238E27FC236}">
                    <a16:creationId xmlns:a16="http://schemas.microsoft.com/office/drawing/2014/main" id="{92AAEF1C-1830-B1CC-66A7-DA528FB18762}"/>
                  </a:ext>
                </a:extLst>
              </p:cNvPr>
              <p:cNvSpPr>
                <a:spLocks noChangeAspect="1"/>
              </p:cNvSpPr>
              <p:nvPr/>
            </p:nvSpPr>
            <p:spPr>
              <a:xfrm>
                <a:off x="735191" y="1461827"/>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29" name="Freeform: Shape 57">
                <a:extLst>
                  <a:ext uri="{FF2B5EF4-FFF2-40B4-BE49-F238E27FC236}">
                    <a16:creationId xmlns:a16="http://schemas.microsoft.com/office/drawing/2014/main" id="{67A737E6-FB48-144F-7A92-B4D91DAC1B93}"/>
                  </a:ext>
                </a:extLst>
              </p:cNvPr>
              <p:cNvSpPr>
                <a:spLocks/>
              </p:cNvSpPr>
              <p:nvPr/>
            </p:nvSpPr>
            <p:spPr bwMode="auto">
              <a:xfrm>
                <a:off x="908029" y="1626376"/>
                <a:ext cx="233363" cy="233363"/>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accent1"/>
              </a:solidFill>
              <a:ln w="9525">
                <a:noFill/>
                <a:round/>
                <a:headEnd/>
                <a:tailEnd/>
              </a:ln>
            </p:spPr>
            <p:txBody>
              <a:bodyPr anchor="ctr"/>
              <a:lstStyle/>
              <a:p>
                <a:pPr algn="ctr"/>
                <a:endParaRPr sz="1350" dirty="0"/>
              </a:p>
            </p:txBody>
          </p:sp>
        </p:grpSp>
        <p:grpSp>
          <p:nvGrpSpPr>
            <p:cNvPr id="22" name="Group 58">
              <a:extLst>
                <a:ext uri="{FF2B5EF4-FFF2-40B4-BE49-F238E27FC236}">
                  <a16:creationId xmlns:a16="http://schemas.microsoft.com/office/drawing/2014/main" id="{ED4A2CF5-A0F0-01FE-FD3B-3025A5640F4C}"/>
                </a:ext>
              </a:extLst>
            </p:cNvPr>
            <p:cNvGrpSpPr/>
            <p:nvPr/>
          </p:nvGrpSpPr>
          <p:grpSpPr>
            <a:xfrm>
              <a:off x="10454287" y="4778084"/>
              <a:ext cx="772051" cy="749947"/>
              <a:chOff x="7840715" y="3583563"/>
              <a:chExt cx="579038" cy="562460"/>
            </a:xfrm>
          </p:grpSpPr>
          <p:sp>
            <p:nvSpPr>
              <p:cNvPr id="26" name="Oval 59">
                <a:extLst>
                  <a:ext uri="{FF2B5EF4-FFF2-40B4-BE49-F238E27FC236}">
                    <a16:creationId xmlns:a16="http://schemas.microsoft.com/office/drawing/2014/main" id="{5EAB709E-C6C2-E27F-E833-98A6035BB6CF}"/>
                  </a:ext>
                </a:extLst>
              </p:cNvPr>
              <p:cNvSpPr>
                <a:spLocks noChangeAspect="1"/>
              </p:cNvSpPr>
              <p:nvPr/>
            </p:nvSpPr>
            <p:spPr>
              <a:xfrm flipH="1">
                <a:off x="7840715" y="3583563"/>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27" name="Freeform: Shape 60">
                <a:extLst>
                  <a:ext uri="{FF2B5EF4-FFF2-40B4-BE49-F238E27FC236}">
                    <a16:creationId xmlns:a16="http://schemas.microsoft.com/office/drawing/2014/main" id="{C33EFEE2-FF6D-B357-BDF3-E3CA6D980D06}"/>
                  </a:ext>
                </a:extLst>
              </p:cNvPr>
              <p:cNvSpPr>
                <a:spLocks/>
              </p:cNvSpPr>
              <p:nvPr/>
            </p:nvSpPr>
            <p:spPr bwMode="auto">
              <a:xfrm>
                <a:off x="8004822" y="3748112"/>
                <a:ext cx="250825" cy="233363"/>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accent6"/>
              </a:solidFill>
              <a:ln w="9525">
                <a:noFill/>
                <a:round/>
                <a:headEnd/>
                <a:tailEnd/>
              </a:ln>
            </p:spPr>
            <p:txBody>
              <a:bodyPr anchor="ctr"/>
              <a:lstStyle/>
              <a:p>
                <a:pPr algn="ctr"/>
                <a:endParaRPr sz="1350" dirty="0"/>
              </a:p>
            </p:txBody>
          </p:sp>
        </p:grpSp>
        <p:grpSp>
          <p:nvGrpSpPr>
            <p:cNvPr id="23" name="Group 61">
              <a:extLst>
                <a:ext uri="{FF2B5EF4-FFF2-40B4-BE49-F238E27FC236}">
                  <a16:creationId xmlns:a16="http://schemas.microsoft.com/office/drawing/2014/main" id="{DD3A86BD-3B3B-EB16-8942-646069EC944B}"/>
                </a:ext>
              </a:extLst>
            </p:cNvPr>
            <p:cNvGrpSpPr/>
            <p:nvPr/>
          </p:nvGrpSpPr>
          <p:grpSpPr>
            <a:xfrm>
              <a:off x="10454287" y="1949103"/>
              <a:ext cx="772051" cy="749947"/>
              <a:chOff x="7840715" y="1461827"/>
              <a:chExt cx="579038" cy="562460"/>
            </a:xfrm>
          </p:grpSpPr>
          <p:sp>
            <p:nvSpPr>
              <p:cNvPr id="24" name="Oval 62">
                <a:extLst>
                  <a:ext uri="{FF2B5EF4-FFF2-40B4-BE49-F238E27FC236}">
                    <a16:creationId xmlns:a16="http://schemas.microsoft.com/office/drawing/2014/main" id="{27CEA9A7-A4EA-2F83-07A0-2DE158125B36}"/>
                  </a:ext>
                </a:extLst>
              </p:cNvPr>
              <p:cNvSpPr>
                <a:spLocks noChangeAspect="1"/>
              </p:cNvSpPr>
              <p:nvPr/>
            </p:nvSpPr>
            <p:spPr>
              <a:xfrm flipH="1">
                <a:off x="7840715" y="1461827"/>
                <a:ext cx="579038" cy="5624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p>
            </p:txBody>
          </p:sp>
          <p:sp>
            <p:nvSpPr>
              <p:cNvPr id="25" name="Freeform: Shape 63">
                <a:extLst>
                  <a:ext uri="{FF2B5EF4-FFF2-40B4-BE49-F238E27FC236}">
                    <a16:creationId xmlns:a16="http://schemas.microsoft.com/office/drawing/2014/main" id="{6A8A0229-F3DD-5B85-591B-D73BD72C0268}"/>
                  </a:ext>
                </a:extLst>
              </p:cNvPr>
              <p:cNvSpPr>
                <a:spLocks/>
              </p:cNvSpPr>
              <p:nvPr/>
            </p:nvSpPr>
            <p:spPr bwMode="auto">
              <a:xfrm>
                <a:off x="7996884" y="1643045"/>
                <a:ext cx="266700" cy="200025"/>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4"/>
              </a:solidFill>
              <a:ln w="9525">
                <a:noFill/>
                <a:round/>
                <a:headEnd/>
                <a:tailEnd/>
              </a:ln>
            </p:spPr>
            <p:txBody>
              <a:bodyPr anchor="ctr"/>
              <a:lstStyle/>
              <a:p>
                <a:pPr algn="ctr"/>
                <a:endParaRPr sz="1350" dirty="0"/>
              </a:p>
            </p:txBody>
          </p:sp>
        </p:grpSp>
      </p:grpSp>
    </p:spTree>
    <p:extLst>
      <p:ext uri="{BB962C8B-B14F-4D97-AF65-F5344CB8AC3E}">
        <p14:creationId xmlns:p14="http://schemas.microsoft.com/office/powerpoint/2010/main" val="155487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396EB-CB6F-1C8C-C350-B47BBDBFD5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32EF87-3E0C-C38A-79C6-9F3A9696063A}"/>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1026" name="Picture 2">
            <a:extLst>
              <a:ext uri="{FF2B5EF4-FFF2-40B4-BE49-F238E27FC236}">
                <a16:creationId xmlns:a16="http://schemas.microsoft.com/office/drawing/2014/main" id="{77C288FB-90CA-C2E1-5D61-7715160F7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58" y="934352"/>
            <a:ext cx="7406283" cy="4209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479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5CF0-EBFC-8C03-0E59-948EFAA713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8BD52C-544E-C19F-282C-9D93BB0F2B28}"/>
              </a:ext>
            </a:extLst>
          </p:cNvPr>
          <p:cNvSpPr>
            <a:spLocks noGrp="1"/>
          </p:cNvSpPr>
          <p:nvPr>
            <p:ph idx="1"/>
          </p:nvPr>
        </p:nvSpPr>
        <p:spPr/>
        <p:txBody>
          <a:bodyPr/>
          <a:lstStyle/>
          <a:p>
            <a:r>
              <a:rPr lang="en-US" b="1" dirty="0">
                <a:latin typeface="Arial" pitchFamily="34" charset="0"/>
                <a:cs typeface="Arial" pitchFamily="34" charset="0"/>
              </a:rPr>
              <a:t>Origen de la CALIDAD</a:t>
            </a:r>
          </a:p>
        </p:txBody>
      </p:sp>
      <p:sp>
        <p:nvSpPr>
          <p:cNvPr id="3" name="Title 2">
            <a:extLst>
              <a:ext uri="{FF2B5EF4-FFF2-40B4-BE49-F238E27FC236}">
                <a16:creationId xmlns:a16="http://schemas.microsoft.com/office/drawing/2014/main" id="{4493E7DB-1927-6BAE-A70E-4A73962FAF60}"/>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91" name="TextBox 5">
            <a:extLst>
              <a:ext uri="{FF2B5EF4-FFF2-40B4-BE49-F238E27FC236}">
                <a16:creationId xmlns:a16="http://schemas.microsoft.com/office/drawing/2014/main" id="{A26B83B7-019A-17F2-CD3E-CE04E651CF3C}"/>
              </a:ext>
            </a:extLst>
          </p:cNvPr>
          <p:cNvSpPr txBox="1"/>
          <p:nvPr/>
        </p:nvSpPr>
        <p:spPr>
          <a:xfrm flipH="1">
            <a:off x="393502" y="1558578"/>
            <a:ext cx="3985671" cy="3360920"/>
          </a:xfrm>
          <a:prstGeom prst="rect">
            <a:avLst/>
          </a:prstGeom>
          <a:noFill/>
        </p:spPr>
        <p:txBody>
          <a:bodyPr wrap="square" rtlCol="0">
            <a:spAutoFit/>
          </a:bodyPr>
          <a:lstStyle/>
          <a:p>
            <a:pPr algn="just" latinLnBrk="0">
              <a:spcBef>
                <a:spcPct val="20000"/>
              </a:spcBef>
            </a:pPr>
            <a:r>
              <a:rPr lang="es-MX" dirty="0">
                <a:solidFill>
                  <a:schemeClr val="tx1">
                    <a:lumMod val="75000"/>
                    <a:lumOff val="25000"/>
                  </a:schemeClr>
                </a:solidFill>
                <a:latin typeface="Arial Narrow" panose="020B0606020202030204" pitchFamily="34" charset="0"/>
              </a:rPr>
              <a:t>¿Qué es el Informe del Caos?</a:t>
            </a:r>
          </a:p>
          <a:p>
            <a:pPr algn="just" latinLnBrk="0">
              <a:spcBef>
                <a:spcPct val="20000"/>
              </a:spcBef>
            </a:pPr>
            <a:endParaRPr lang="es-MX" dirty="0">
              <a:solidFill>
                <a:schemeClr val="tx1">
                  <a:lumMod val="75000"/>
                  <a:lumOff val="25000"/>
                </a:schemeClr>
              </a:solidFill>
              <a:latin typeface="Arial Narrow" panose="020B0606020202030204" pitchFamily="34" charset="0"/>
            </a:endParaRPr>
          </a:p>
          <a:p>
            <a:pPr algn="just" latinLnBrk="0">
              <a:spcBef>
                <a:spcPct val="20000"/>
              </a:spcBef>
            </a:pPr>
            <a:r>
              <a:rPr lang="es-MX" dirty="0">
                <a:solidFill>
                  <a:schemeClr val="tx1">
                    <a:lumMod val="75000"/>
                    <a:lumOff val="25000"/>
                  </a:schemeClr>
                </a:solidFill>
                <a:latin typeface="Arial Narrow" panose="020B0606020202030204" pitchFamily="34" charset="0"/>
              </a:rPr>
              <a:t>El informe del Caos viene siendo publicado por </a:t>
            </a:r>
            <a:r>
              <a:rPr lang="es-MX" dirty="0" err="1">
                <a:solidFill>
                  <a:schemeClr val="tx1">
                    <a:lumMod val="75000"/>
                    <a:lumOff val="25000"/>
                  </a:schemeClr>
                </a:solidFill>
                <a:latin typeface="Arial Narrow" panose="020B0606020202030204" pitchFamily="34" charset="0"/>
              </a:rPr>
              <a:t>Standish</a:t>
            </a:r>
            <a:r>
              <a:rPr lang="es-MX" dirty="0">
                <a:solidFill>
                  <a:schemeClr val="tx1">
                    <a:lumMod val="75000"/>
                    <a:lumOff val="25000"/>
                  </a:schemeClr>
                </a:solidFill>
                <a:latin typeface="Arial Narrow" panose="020B0606020202030204" pitchFamily="34" charset="0"/>
              </a:rPr>
              <a:t> </a:t>
            </a:r>
            <a:r>
              <a:rPr lang="es-MX" dirty="0" err="1">
                <a:solidFill>
                  <a:schemeClr val="tx1">
                    <a:lumMod val="75000"/>
                    <a:lumOff val="25000"/>
                  </a:schemeClr>
                </a:solidFill>
                <a:latin typeface="Arial Narrow" panose="020B0606020202030204" pitchFamily="34" charset="0"/>
              </a:rPr>
              <a:t>group</a:t>
            </a:r>
            <a:r>
              <a:rPr lang="es-MX" dirty="0">
                <a:solidFill>
                  <a:schemeClr val="tx1">
                    <a:lumMod val="75000"/>
                    <a:lumOff val="25000"/>
                  </a:schemeClr>
                </a:solidFill>
                <a:latin typeface="Arial Narrow" panose="020B0606020202030204" pitchFamily="34" charset="0"/>
              </a:rPr>
              <a:t> desde 1994 dando una visión sobre el fracaso o éxito de los proyectos.</a:t>
            </a:r>
          </a:p>
          <a:p>
            <a:pPr algn="just" latinLnBrk="0">
              <a:spcBef>
                <a:spcPct val="20000"/>
              </a:spcBef>
            </a:pPr>
            <a:endParaRPr lang="es-MX" dirty="0">
              <a:solidFill>
                <a:schemeClr val="tx1">
                  <a:lumMod val="75000"/>
                  <a:lumOff val="25000"/>
                </a:schemeClr>
              </a:solidFill>
              <a:latin typeface="Arial Narrow" panose="020B0606020202030204" pitchFamily="34" charset="0"/>
            </a:endParaRPr>
          </a:p>
          <a:p>
            <a:pPr algn="just" latinLnBrk="0">
              <a:spcBef>
                <a:spcPct val="20000"/>
              </a:spcBef>
            </a:pPr>
            <a:r>
              <a:rPr lang="es-MX" dirty="0">
                <a:solidFill>
                  <a:schemeClr val="tx1">
                    <a:lumMod val="75000"/>
                    <a:lumOff val="25000"/>
                  </a:schemeClr>
                </a:solidFill>
                <a:latin typeface="Arial Narrow" panose="020B0606020202030204" pitchFamily="34" charset="0"/>
              </a:rPr>
              <a:t>En el informe del año 2015 han estudiado unos 50.000 proyectos de todo el mundo desde mantenimientos pequeños hasta gigantescos proyectos de reingeniería.</a:t>
            </a:r>
            <a:endParaRPr lang="ko-KR" altLang="en-US" dirty="0">
              <a:solidFill>
                <a:schemeClr val="tx1">
                  <a:lumMod val="75000"/>
                  <a:lumOff val="25000"/>
                </a:schemeClr>
              </a:solidFill>
              <a:latin typeface="Arial Narrow" panose="020B0606020202030204" pitchFamily="34" charset="0"/>
            </a:endParaRPr>
          </a:p>
        </p:txBody>
      </p:sp>
      <p:pic>
        <p:nvPicPr>
          <p:cNvPr id="5" name="Picture 4">
            <a:extLst>
              <a:ext uri="{FF2B5EF4-FFF2-40B4-BE49-F238E27FC236}">
                <a16:creationId xmlns:a16="http://schemas.microsoft.com/office/drawing/2014/main" id="{F043F929-C369-BC2E-5050-7F6BC6EED2CF}"/>
              </a:ext>
            </a:extLst>
          </p:cNvPr>
          <p:cNvPicPr>
            <a:picLocks noChangeAspect="1"/>
          </p:cNvPicPr>
          <p:nvPr/>
        </p:nvPicPr>
        <p:blipFill>
          <a:blip r:embed="rId2"/>
          <a:stretch>
            <a:fillRect/>
          </a:stretch>
        </p:blipFill>
        <p:spPr>
          <a:xfrm>
            <a:off x="4572000" y="1059582"/>
            <a:ext cx="4320480" cy="39709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27662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71E63-E777-1AAD-A265-AE4D35395F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1E709B-9AE8-9F6F-CF19-B764B52D998D}"/>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8" name="Picture 7" descr="A close-up of a pie chart&#10;&#10;AI-generated content may be incorrect.">
            <a:extLst>
              <a:ext uri="{FF2B5EF4-FFF2-40B4-BE49-F238E27FC236}">
                <a16:creationId xmlns:a16="http://schemas.microsoft.com/office/drawing/2014/main" id="{B8CF497C-9C73-1734-E95D-8D10588D8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0596"/>
            <a:ext cx="9144000" cy="4282904"/>
          </a:xfrm>
          <a:prstGeom prst="rect">
            <a:avLst/>
          </a:prstGeom>
        </p:spPr>
      </p:pic>
    </p:spTree>
    <p:extLst>
      <p:ext uri="{BB962C8B-B14F-4D97-AF65-F5344CB8AC3E}">
        <p14:creationId xmlns:p14="http://schemas.microsoft.com/office/powerpoint/2010/main" val="201479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5EE1C-B892-8358-9DB2-846C7B2756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6587A0-E808-0DC7-D060-A50505DB55DC}"/>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4" name="Picture 3" descr="A screenshot of a graph&#10;&#10;AI-generated content may be incorrect.">
            <a:extLst>
              <a:ext uri="{FF2B5EF4-FFF2-40B4-BE49-F238E27FC236}">
                <a16:creationId xmlns:a16="http://schemas.microsoft.com/office/drawing/2014/main" id="{34F5EE71-C1F2-ABCD-6142-B6157E611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5566"/>
            <a:ext cx="9144000" cy="4227934"/>
          </a:xfrm>
          <a:prstGeom prst="rect">
            <a:avLst/>
          </a:prstGeom>
        </p:spPr>
      </p:pic>
    </p:spTree>
    <p:extLst>
      <p:ext uri="{BB962C8B-B14F-4D97-AF65-F5344CB8AC3E}">
        <p14:creationId xmlns:p14="http://schemas.microsoft.com/office/powerpoint/2010/main" val="3407721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580C7-0260-540A-CB83-D82042A624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85E1FA-6204-FD62-A66B-31C983C0E41F}"/>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5" name="Picture 4" descr="A diagram of a success&#10;&#10;AI-generated content may be incorrect.">
            <a:extLst>
              <a:ext uri="{FF2B5EF4-FFF2-40B4-BE49-F238E27FC236}">
                <a16:creationId xmlns:a16="http://schemas.microsoft.com/office/drawing/2014/main" id="{A9ADC0C4-0C03-099C-BE57-DE676CF27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1065"/>
            <a:ext cx="9144000" cy="4232435"/>
          </a:xfrm>
          <a:prstGeom prst="rect">
            <a:avLst/>
          </a:prstGeom>
        </p:spPr>
      </p:pic>
    </p:spTree>
    <p:extLst>
      <p:ext uri="{BB962C8B-B14F-4D97-AF65-F5344CB8AC3E}">
        <p14:creationId xmlns:p14="http://schemas.microsoft.com/office/powerpoint/2010/main" val="250718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90636-0FFE-061B-3625-0656BECAEB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E86B8F-83C8-CE5C-F4F3-17A4AA0DE42F}"/>
              </a:ext>
            </a:extLst>
          </p:cNvPr>
          <p:cNvSpPr>
            <a:spLocks noGrp="1"/>
          </p:cNvSpPr>
          <p:nvPr>
            <p:ph type="title"/>
          </p:nvPr>
        </p:nvSpPr>
        <p:spPr/>
        <p:txBody>
          <a:bodyPr/>
          <a:lstStyle/>
          <a:p>
            <a:r>
              <a:rPr lang="en-US" sz="3200"/>
              <a:t> 1.1 Conceptos de Calidad de Software</a:t>
            </a:r>
            <a:endParaRPr lang="en-US" sz="3200" dirty="0"/>
          </a:p>
        </p:txBody>
      </p:sp>
      <p:pic>
        <p:nvPicPr>
          <p:cNvPr id="4" name="Picture 3" descr="A graph with text on it&#10;&#10;AI-generated content may be incorrect.">
            <a:extLst>
              <a:ext uri="{FF2B5EF4-FFF2-40B4-BE49-F238E27FC236}">
                <a16:creationId xmlns:a16="http://schemas.microsoft.com/office/drawing/2014/main" id="{C5AF8135-54CB-3C86-6F82-FBABDF7E6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419622"/>
            <a:ext cx="6192688" cy="309634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63950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FA1FE-1942-C4E5-2B2D-2E72BDB7EF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1466550-8C05-A4ED-6679-D034186FBE8D}"/>
              </a:ext>
            </a:extLst>
          </p:cNvPr>
          <p:cNvSpPr>
            <a:spLocks noGrp="1"/>
          </p:cNvSpPr>
          <p:nvPr>
            <p:ph type="title"/>
          </p:nvPr>
        </p:nvSpPr>
        <p:spPr/>
        <p:txBody>
          <a:bodyPr/>
          <a:lstStyle/>
          <a:p>
            <a:r>
              <a:rPr lang="en-US" sz="3200"/>
              <a:t> 1.1 Conceptos de Calidad de Software</a:t>
            </a:r>
            <a:endParaRPr lang="en-US" sz="3200" dirty="0"/>
          </a:p>
        </p:txBody>
      </p:sp>
      <p:pic>
        <p:nvPicPr>
          <p:cNvPr id="5" name="Picture 4" descr="A colorful circle with a white circle&#10;&#10;AI-generated content may be incorrect.">
            <a:extLst>
              <a:ext uri="{FF2B5EF4-FFF2-40B4-BE49-F238E27FC236}">
                <a16:creationId xmlns:a16="http://schemas.microsoft.com/office/drawing/2014/main" id="{8E3A9B10-B11A-724E-D40D-6EC60BEE5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8" y="886500"/>
            <a:ext cx="4470580" cy="2026202"/>
          </a:xfrm>
          <a:prstGeom prst="rect">
            <a:avLst/>
          </a:prstGeom>
        </p:spPr>
      </p:pic>
      <p:pic>
        <p:nvPicPr>
          <p:cNvPr id="7" name="Picture 6" descr="A graph with a line&#10;&#10;AI-generated content may be incorrect.">
            <a:extLst>
              <a:ext uri="{FF2B5EF4-FFF2-40B4-BE49-F238E27FC236}">
                <a16:creationId xmlns:a16="http://schemas.microsoft.com/office/drawing/2014/main" id="{BC6EE67C-1EAA-2701-80BC-ED3946387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8302" y="884466"/>
            <a:ext cx="4697976" cy="2001130"/>
          </a:xfrm>
          <a:prstGeom prst="rect">
            <a:avLst/>
          </a:prstGeom>
        </p:spPr>
      </p:pic>
      <p:pic>
        <p:nvPicPr>
          <p:cNvPr id="9" name="Picture 8" descr="A blue and white striped background&#10;&#10;AI-generated content may be incorrect.">
            <a:extLst>
              <a:ext uri="{FF2B5EF4-FFF2-40B4-BE49-F238E27FC236}">
                <a16:creationId xmlns:a16="http://schemas.microsoft.com/office/drawing/2014/main" id="{99F53782-E173-6CCB-1CC3-F12D54C8F5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656" y="2862062"/>
            <a:ext cx="6083835" cy="2281438"/>
          </a:xfrm>
          <a:prstGeom prst="rect">
            <a:avLst/>
          </a:prstGeom>
        </p:spPr>
      </p:pic>
    </p:spTree>
    <p:extLst>
      <p:ext uri="{BB962C8B-B14F-4D97-AF65-F5344CB8AC3E}">
        <p14:creationId xmlns:p14="http://schemas.microsoft.com/office/powerpoint/2010/main" val="2113552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517D9-1E47-07BA-CDE5-D2AD2E5A07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875FDA-0A0B-1369-33A9-B234E7161B73}"/>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63" name="TextBox 62">
            <a:extLst>
              <a:ext uri="{FF2B5EF4-FFF2-40B4-BE49-F238E27FC236}">
                <a16:creationId xmlns:a16="http://schemas.microsoft.com/office/drawing/2014/main" id="{E431FCB7-CA7D-EC2B-42CA-91AF4EBB0DC6}"/>
              </a:ext>
            </a:extLst>
          </p:cNvPr>
          <p:cNvSpPr txBox="1"/>
          <p:nvPr/>
        </p:nvSpPr>
        <p:spPr>
          <a:xfrm>
            <a:off x="827584" y="1275606"/>
            <a:ext cx="7344816" cy="3243965"/>
          </a:xfrm>
          <a:prstGeom prst="rect">
            <a:avLst/>
          </a:prstGeom>
          <a:noFill/>
        </p:spPr>
        <p:txBody>
          <a:bodyPr wrap="square">
            <a:spAutoFit/>
          </a:bodyPr>
          <a:lstStyle/>
          <a:p>
            <a:pPr algn="ctr" latinLnBrk="0">
              <a:spcBef>
                <a:spcPct val="20000"/>
              </a:spcBef>
            </a:pPr>
            <a:r>
              <a:rPr lang="en-US" sz="3200" b="1" i="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“I do not worry whether something is cheap or expensive. I only worry if it is good. If it is good enough, the public will pay you back for it”</a:t>
            </a:r>
          </a:p>
          <a:p>
            <a:pPr algn="ctr" latinLnBrk="0">
              <a:spcBef>
                <a:spcPct val="20000"/>
              </a:spcBef>
            </a:pPr>
            <a:endParaRPr lang="en-US" sz="3200" b="1" i="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a:p>
            <a:pPr algn="ctr" latinLnBrk="0">
              <a:spcBef>
                <a:spcPct val="20000"/>
              </a:spcBef>
            </a:pPr>
            <a:r>
              <a:rPr lang="en-US" sz="3200" b="1" i="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Walt Disney</a:t>
            </a:r>
          </a:p>
        </p:txBody>
      </p:sp>
    </p:spTree>
    <p:extLst>
      <p:ext uri="{BB962C8B-B14F-4D97-AF65-F5344CB8AC3E}">
        <p14:creationId xmlns:p14="http://schemas.microsoft.com/office/powerpoint/2010/main" val="1962835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62632-C58B-5D3D-9074-E793E1E994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DA8B20-A07D-5262-47F0-F2F9FB77EC29}"/>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63" name="TextBox 62">
            <a:extLst>
              <a:ext uri="{FF2B5EF4-FFF2-40B4-BE49-F238E27FC236}">
                <a16:creationId xmlns:a16="http://schemas.microsoft.com/office/drawing/2014/main" id="{B5A05448-75CB-0383-42B3-4450B79BAF11}"/>
              </a:ext>
            </a:extLst>
          </p:cNvPr>
          <p:cNvSpPr txBox="1"/>
          <p:nvPr/>
        </p:nvSpPr>
        <p:spPr>
          <a:xfrm>
            <a:off x="827584" y="1059582"/>
            <a:ext cx="7992888" cy="3884140"/>
          </a:xfrm>
          <a:prstGeom prst="rect">
            <a:avLst/>
          </a:prstGeom>
          <a:noFill/>
        </p:spPr>
        <p:txBody>
          <a:bodyPr wrap="square">
            <a:spAutoFit/>
          </a:bodyPr>
          <a:lstStyle/>
          <a:p>
            <a:pPr latinLnBrk="0">
              <a:spcBef>
                <a:spcPct val="20000"/>
              </a:spcBef>
            </a:pPr>
            <a:r>
              <a:rPr lang="es-MX" sz="2800" dirty="0">
                <a:latin typeface="Arial Narrow" panose="020B0606020202030204" pitchFamily="34" charset="0"/>
              </a:rPr>
              <a:t>Los errores del software le salen muy caros a Estados Unidos: 59.500 millones de dólares al año.</a:t>
            </a:r>
          </a:p>
          <a:p>
            <a:pPr latinLnBrk="0">
              <a:spcBef>
                <a:spcPct val="20000"/>
              </a:spcBef>
            </a:pPr>
            <a:endParaRPr lang="es-MX" sz="2800" dirty="0">
              <a:latin typeface="Arial Narrow" panose="020B0606020202030204" pitchFamily="34" charset="0"/>
            </a:endParaRPr>
          </a:p>
          <a:p>
            <a:pPr latinLnBrk="0">
              <a:spcBef>
                <a:spcPct val="20000"/>
              </a:spcBef>
            </a:pPr>
            <a:r>
              <a:rPr lang="es-MX" sz="2800" dirty="0">
                <a:latin typeface="Arial Narrow" panose="020B0606020202030204" pitchFamily="34" charset="0"/>
              </a:rPr>
              <a:t>50% de los fallos corresponde a los usuarios el resto a los programadores y vendedores.</a:t>
            </a:r>
          </a:p>
          <a:p>
            <a:pPr latinLnBrk="0">
              <a:spcBef>
                <a:spcPct val="20000"/>
              </a:spcBef>
            </a:pPr>
            <a:endParaRPr lang="es-MX" sz="2800" dirty="0">
              <a:latin typeface="Arial Narrow" panose="020B0606020202030204" pitchFamily="34" charset="0"/>
            </a:endParaRPr>
          </a:p>
          <a:p>
            <a:pPr latinLnBrk="0">
              <a:spcBef>
                <a:spcPct val="20000"/>
              </a:spcBef>
            </a:pPr>
            <a:r>
              <a:rPr lang="es-MX" sz="2800" dirty="0">
                <a:latin typeface="Arial Narrow" panose="020B0606020202030204" pitchFamily="34" charset="0"/>
              </a:rPr>
              <a:t>Las pruebas al inicio del ciclo reducirían los costos por fallos en 22.200 millones de dólares.</a:t>
            </a:r>
            <a:endParaRPr lang="en-US" sz="2800" dirty="0">
              <a:latin typeface="Arial Narrow" panose="020B0606020202030204" pitchFamily="34" charset="0"/>
            </a:endParaRPr>
          </a:p>
        </p:txBody>
      </p:sp>
      <p:sp>
        <p:nvSpPr>
          <p:cNvPr id="2" name="Oval 6">
            <a:extLst>
              <a:ext uri="{FF2B5EF4-FFF2-40B4-BE49-F238E27FC236}">
                <a16:creationId xmlns:a16="http://schemas.microsoft.com/office/drawing/2014/main" id="{9ECFA448-C047-10B5-CE72-41D3C7C3E258}"/>
              </a:ext>
            </a:extLst>
          </p:cNvPr>
          <p:cNvSpPr/>
          <p:nvPr/>
        </p:nvSpPr>
        <p:spPr>
          <a:xfrm>
            <a:off x="395536" y="1275606"/>
            <a:ext cx="288000" cy="288000"/>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4" name="Oval 6">
            <a:extLst>
              <a:ext uri="{FF2B5EF4-FFF2-40B4-BE49-F238E27FC236}">
                <a16:creationId xmlns:a16="http://schemas.microsoft.com/office/drawing/2014/main" id="{4FCAD690-3FF5-3C2E-B1A8-6198FE604B49}"/>
              </a:ext>
            </a:extLst>
          </p:cNvPr>
          <p:cNvSpPr/>
          <p:nvPr/>
        </p:nvSpPr>
        <p:spPr>
          <a:xfrm>
            <a:off x="395536" y="2756276"/>
            <a:ext cx="288000" cy="288000"/>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5" name="Oval 6">
            <a:extLst>
              <a:ext uri="{FF2B5EF4-FFF2-40B4-BE49-F238E27FC236}">
                <a16:creationId xmlns:a16="http://schemas.microsoft.com/office/drawing/2014/main" id="{07AE9230-EA04-87AB-EE73-DC1EF468FE57}"/>
              </a:ext>
            </a:extLst>
          </p:cNvPr>
          <p:cNvSpPr/>
          <p:nvPr/>
        </p:nvSpPr>
        <p:spPr>
          <a:xfrm>
            <a:off x="395536" y="4236946"/>
            <a:ext cx="288000" cy="288000"/>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Tree>
    <p:extLst>
      <p:ext uri="{BB962C8B-B14F-4D97-AF65-F5344CB8AC3E}">
        <p14:creationId xmlns:p14="http://schemas.microsoft.com/office/powerpoint/2010/main" val="1469346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7860-ED11-0877-24D7-125386BC38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230DE5-4789-486E-CD5B-4C78DA6260FE}"/>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63" name="TextBox 62">
            <a:extLst>
              <a:ext uri="{FF2B5EF4-FFF2-40B4-BE49-F238E27FC236}">
                <a16:creationId xmlns:a16="http://schemas.microsoft.com/office/drawing/2014/main" id="{2F09D11C-1233-4474-54DF-EE2FB0890964}"/>
              </a:ext>
            </a:extLst>
          </p:cNvPr>
          <p:cNvSpPr txBox="1"/>
          <p:nvPr/>
        </p:nvSpPr>
        <p:spPr>
          <a:xfrm>
            <a:off x="827584" y="1059582"/>
            <a:ext cx="7992888" cy="2850011"/>
          </a:xfrm>
          <a:prstGeom prst="rect">
            <a:avLst/>
          </a:prstGeom>
          <a:noFill/>
        </p:spPr>
        <p:txBody>
          <a:bodyPr wrap="square">
            <a:spAutoFit/>
          </a:bodyPr>
          <a:lstStyle/>
          <a:p>
            <a:pPr latinLnBrk="0">
              <a:spcBef>
                <a:spcPct val="20000"/>
              </a:spcBef>
            </a:pPr>
            <a:r>
              <a:rPr lang="es-MX" sz="2800" dirty="0">
                <a:latin typeface="Arial Narrow" panose="020B0606020202030204" pitchFamily="34" charset="0"/>
              </a:rPr>
              <a:t>80% de los costos de desarrollo de programas se dedican a detectar y corregir defectos.</a:t>
            </a:r>
          </a:p>
          <a:p>
            <a:pPr latinLnBrk="0">
              <a:spcBef>
                <a:spcPct val="20000"/>
              </a:spcBef>
            </a:pPr>
            <a:endParaRPr lang="es-MX" sz="2800" dirty="0">
              <a:latin typeface="Arial Narrow" panose="020B0606020202030204" pitchFamily="34" charset="0"/>
            </a:endParaRPr>
          </a:p>
          <a:p>
            <a:pPr latinLnBrk="0">
              <a:spcBef>
                <a:spcPct val="20000"/>
              </a:spcBef>
            </a:pPr>
            <a:r>
              <a:rPr lang="es-MX" sz="2800" dirty="0">
                <a:latin typeface="Arial Narrow" panose="020B0606020202030204" pitchFamily="34" charset="0"/>
              </a:rPr>
              <a:t>La Academia de Ciencias de Estados Unidos pidió al Congreso una ley que atribuya a las casas de software una responsabilidad civil por daños y perjuicios a las empresa.</a:t>
            </a:r>
            <a:endParaRPr lang="en-US" sz="2800" dirty="0">
              <a:latin typeface="Arial Narrow" panose="020B0606020202030204" pitchFamily="34" charset="0"/>
            </a:endParaRPr>
          </a:p>
        </p:txBody>
      </p:sp>
      <p:sp>
        <p:nvSpPr>
          <p:cNvPr id="2" name="Oval 6">
            <a:extLst>
              <a:ext uri="{FF2B5EF4-FFF2-40B4-BE49-F238E27FC236}">
                <a16:creationId xmlns:a16="http://schemas.microsoft.com/office/drawing/2014/main" id="{2C207371-D598-21EB-FAB1-3AB6045DA01B}"/>
              </a:ext>
            </a:extLst>
          </p:cNvPr>
          <p:cNvSpPr/>
          <p:nvPr/>
        </p:nvSpPr>
        <p:spPr>
          <a:xfrm>
            <a:off x="395536" y="1275606"/>
            <a:ext cx="288000" cy="288000"/>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4" name="Oval 6">
            <a:extLst>
              <a:ext uri="{FF2B5EF4-FFF2-40B4-BE49-F238E27FC236}">
                <a16:creationId xmlns:a16="http://schemas.microsoft.com/office/drawing/2014/main" id="{01AB7D17-3FF8-6714-6E4A-CCF6D6394C3F}"/>
              </a:ext>
            </a:extLst>
          </p:cNvPr>
          <p:cNvSpPr/>
          <p:nvPr/>
        </p:nvSpPr>
        <p:spPr>
          <a:xfrm>
            <a:off x="395536" y="3003798"/>
            <a:ext cx="288000" cy="288000"/>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Tree>
    <p:extLst>
      <p:ext uri="{BB962C8B-B14F-4D97-AF65-F5344CB8AC3E}">
        <p14:creationId xmlns:p14="http://schemas.microsoft.com/office/powerpoint/2010/main" val="4061398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2B7F-3A26-49FB-F719-CF22E03F30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763C3A-2B8C-1AE6-4227-132CD6F64A8C}"/>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grpSp>
        <p:nvGrpSpPr>
          <p:cNvPr id="5" name="그룹 20">
            <a:extLst>
              <a:ext uri="{FF2B5EF4-FFF2-40B4-BE49-F238E27FC236}">
                <a16:creationId xmlns:a16="http://schemas.microsoft.com/office/drawing/2014/main" id="{762478AD-879D-7799-4858-474AD03E598F}"/>
              </a:ext>
            </a:extLst>
          </p:cNvPr>
          <p:cNvGrpSpPr/>
          <p:nvPr/>
        </p:nvGrpSpPr>
        <p:grpSpPr>
          <a:xfrm>
            <a:off x="3059827" y="1108925"/>
            <a:ext cx="4577970" cy="523220"/>
            <a:chOff x="2601326" y="3630156"/>
            <a:chExt cx="3377882" cy="523220"/>
          </a:xfrm>
        </p:grpSpPr>
        <p:sp>
          <p:nvSpPr>
            <p:cNvPr id="7" name="TextBox 24">
              <a:extLst>
                <a:ext uri="{FF2B5EF4-FFF2-40B4-BE49-F238E27FC236}">
                  <a16:creationId xmlns:a16="http://schemas.microsoft.com/office/drawing/2014/main" id="{01695B9C-00CE-B8E0-8CC2-9BEE2BCC3130}"/>
                </a:ext>
              </a:extLst>
            </p:cNvPr>
            <p:cNvSpPr txBox="1"/>
            <p:nvPr/>
          </p:nvSpPr>
          <p:spPr>
            <a:xfrm>
              <a:off x="3043830" y="3630156"/>
              <a:ext cx="2935378" cy="523220"/>
            </a:xfrm>
            <a:prstGeom prst="rect">
              <a:avLst/>
            </a:prstGeom>
            <a:noFill/>
          </p:spPr>
          <p:txBody>
            <a:bodyPr wrap="square" rtlCol="0">
              <a:spAutoFit/>
            </a:bodyPr>
            <a:lstStyle/>
            <a:p>
              <a:r>
                <a:rPr lang="es-MX" altLang="ko-KR" sz="2800" dirty="0">
                  <a:latin typeface="Arial Narrow" panose="020B0606020202030204" pitchFamily="34" charset="0"/>
                </a:rPr>
                <a:t>El programa no esta probado</a:t>
              </a:r>
            </a:p>
          </p:txBody>
        </p:sp>
        <p:sp>
          <p:nvSpPr>
            <p:cNvPr id="8" name="Chevron 26">
              <a:extLst>
                <a:ext uri="{FF2B5EF4-FFF2-40B4-BE49-F238E27FC236}">
                  <a16:creationId xmlns:a16="http://schemas.microsoft.com/office/drawing/2014/main" id="{00B293BB-F950-7F0B-F03B-3F2B420A840A}"/>
                </a:ext>
              </a:extLst>
            </p:cNvPr>
            <p:cNvSpPr/>
            <p:nvPr/>
          </p:nvSpPr>
          <p:spPr>
            <a:xfrm>
              <a:off x="2601326" y="3764561"/>
              <a:ext cx="203860" cy="200987"/>
            </a:xfrm>
            <a:prstGeom prst="chevron">
              <a:avLst>
                <a:gd name="adj" fmla="val 5486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9" name="그룹 4">
            <a:extLst>
              <a:ext uri="{FF2B5EF4-FFF2-40B4-BE49-F238E27FC236}">
                <a16:creationId xmlns:a16="http://schemas.microsoft.com/office/drawing/2014/main" id="{8AD089B0-EDE5-C2F6-A1C2-F99B8979F53F}"/>
              </a:ext>
            </a:extLst>
          </p:cNvPr>
          <p:cNvGrpSpPr/>
          <p:nvPr/>
        </p:nvGrpSpPr>
        <p:grpSpPr>
          <a:xfrm>
            <a:off x="3059827" y="3175964"/>
            <a:ext cx="4796667" cy="523220"/>
            <a:chOff x="2601327" y="4662686"/>
            <a:chExt cx="3377881" cy="523220"/>
          </a:xfrm>
        </p:grpSpPr>
        <p:sp>
          <p:nvSpPr>
            <p:cNvPr id="11" name="TextBox 28">
              <a:extLst>
                <a:ext uri="{FF2B5EF4-FFF2-40B4-BE49-F238E27FC236}">
                  <a16:creationId xmlns:a16="http://schemas.microsoft.com/office/drawing/2014/main" id="{B503D2E0-1F02-BBC3-20AD-44D589C16E00}"/>
                </a:ext>
              </a:extLst>
            </p:cNvPr>
            <p:cNvSpPr txBox="1"/>
            <p:nvPr/>
          </p:nvSpPr>
          <p:spPr>
            <a:xfrm>
              <a:off x="3006999" y="4662686"/>
              <a:ext cx="2972209" cy="523220"/>
            </a:xfrm>
            <a:prstGeom prst="rect">
              <a:avLst/>
            </a:prstGeom>
            <a:noFill/>
          </p:spPr>
          <p:txBody>
            <a:bodyPr wrap="square" rtlCol="0">
              <a:spAutoFit/>
            </a:bodyPr>
            <a:lstStyle/>
            <a:p>
              <a:r>
                <a:rPr lang="es-MX" altLang="ko-KR" sz="2800" dirty="0">
                  <a:latin typeface="Arial Narrow" panose="020B0606020202030204" pitchFamily="34" charset="0"/>
                </a:rPr>
                <a:t>No están escritos los requisitos</a:t>
              </a:r>
              <a:endParaRPr lang="en-US" altLang="ko-KR" sz="2800" dirty="0">
                <a:latin typeface="Arial Narrow" panose="020B0606020202030204" pitchFamily="34" charset="0"/>
              </a:endParaRPr>
            </a:p>
          </p:txBody>
        </p:sp>
        <p:sp>
          <p:nvSpPr>
            <p:cNvPr id="12" name="Chevron 27">
              <a:extLst>
                <a:ext uri="{FF2B5EF4-FFF2-40B4-BE49-F238E27FC236}">
                  <a16:creationId xmlns:a16="http://schemas.microsoft.com/office/drawing/2014/main" id="{1896219F-FCF6-3E3A-1FC5-1769510E2C17}"/>
                </a:ext>
              </a:extLst>
            </p:cNvPr>
            <p:cNvSpPr/>
            <p:nvPr/>
          </p:nvSpPr>
          <p:spPr>
            <a:xfrm>
              <a:off x="2601327" y="4797091"/>
              <a:ext cx="224044" cy="200987"/>
            </a:xfrm>
            <a:prstGeom prst="chevron">
              <a:avLst>
                <a:gd name="adj" fmla="val 5486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 name="그룹 3">
            <a:extLst>
              <a:ext uri="{FF2B5EF4-FFF2-40B4-BE49-F238E27FC236}">
                <a16:creationId xmlns:a16="http://schemas.microsoft.com/office/drawing/2014/main" id="{AD94ABA0-C154-B1CC-4794-F23647571A4A}"/>
              </a:ext>
            </a:extLst>
          </p:cNvPr>
          <p:cNvGrpSpPr/>
          <p:nvPr/>
        </p:nvGrpSpPr>
        <p:grpSpPr>
          <a:xfrm>
            <a:off x="3059830" y="2043495"/>
            <a:ext cx="5616626" cy="954107"/>
            <a:chOff x="2601327" y="5695216"/>
            <a:chExt cx="3377881" cy="954107"/>
          </a:xfrm>
        </p:grpSpPr>
        <p:sp>
          <p:nvSpPr>
            <p:cNvPr id="15" name="TextBox 32">
              <a:extLst>
                <a:ext uri="{FF2B5EF4-FFF2-40B4-BE49-F238E27FC236}">
                  <a16:creationId xmlns:a16="http://schemas.microsoft.com/office/drawing/2014/main" id="{67B804E5-3A91-7AD4-A08F-6B7B31A1B1AF}"/>
                </a:ext>
              </a:extLst>
            </p:cNvPr>
            <p:cNvSpPr txBox="1"/>
            <p:nvPr/>
          </p:nvSpPr>
          <p:spPr>
            <a:xfrm>
              <a:off x="2968085" y="5695216"/>
              <a:ext cx="3011123" cy="954107"/>
            </a:xfrm>
            <a:prstGeom prst="rect">
              <a:avLst/>
            </a:prstGeom>
            <a:noFill/>
          </p:spPr>
          <p:txBody>
            <a:bodyPr wrap="square" rtlCol="0">
              <a:spAutoFit/>
            </a:bodyPr>
            <a:lstStyle/>
            <a:p>
              <a:r>
                <a:rPr lang="es-MX" altLang="ko-KR" sz="2800" dirty="0">
                  <a:latin typeface="Arial Narrow" panose="020B0606020202030204" pitchFamily="34" charset="0"/>
                </a:rPr>
                <a:t>El sistema operativo esta incompleto </a:t>
              </a:r>
              <a:endParaRPr lang="en-US" altLang="ko-KR" sz="2800" dirty="0">
                <a:latin typeface="Arial Narrow" panose="020B0606020202030204" pitchFamily="34" charset="0"/>
              </a:endParaRPr>
            </a:p>
          </p:txBody>
        </p:sp>
        <p:sp>
          <p:nvSpPr>
            <p:cNvPr id="16" name="Chevron 28">
              <a:extLst>
                <a:ext uri="{FF2B5EF4-FFF2-40B4-BE49-F238E27FC236}">
                  <a16:creationId xmlns:a16="http://schemas.microsoft.com/office/drawing/2014/main" id="{0F78F474-ADBF-A1B9-6CDF-191158ED9576}"/>
                </a:ext>
              </a:extLst>
            </p:cNvPr>
            <p:cNvSpPr/>
            <p:nvPr/>
          </p:nvSpPr>
          <p:spPr>
            <a:xfrm>
              <a:off x="2601327" y="5829621"/>
              <a:ext cx="194564" cy="200987"/>
            </a:xfrm>
            <a:prstGeom prst="chevron">
              <a:avLst>
                <a:gd name="adj" fmla="val 548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7" name="그룹 20">
            <a:extLst>
              <a:ext uri="{FF2B5EF4-FFF2-40B4-BE49-F238E27FC236}">
                <a16:creationId xmlns:a16="http://schemas.microsoft.com/office/drawing/2014/main" id="{643A0B92-9FC8-114C-EA34-9761D32FBD92}"/>
              </a:ext>
            </a:extLst>
          </p:cNvPr>
          <p:cNvGrpSpPr/>
          <p:nvPr/>
        </p:nvGrpSpPr>
        <p:grpSpPr>
          <a:xfrm>
            <a:off x="3059827" y="4181228"/>
            <a:ext cx="6192691" cy="523220"/>
            <a:chOff x="2601327" y="3630156"/>
            <a:chExt cx="3377882" cy="523220"/>
          </a:xfrm>
        </p:grpSpPr>
        <p:sp>
          <p:nvSpPr>
            <p:cNvPr id="19" name="TextBox 24">
              <a:extLst>
                <a:ext uri="{FF2B5EF4-FFF2-40B4-BE49-F238E27FC236}">
                  <a16:creationId xmlns:a16="http://schemas.microsoft.com/office/drawing/2014/main" id="{F34FB861-53A2-19A3-7908-8FF9828AA211}"/>
                </a:ext>
              </a:extLst>
            </p:cNvPr>
            <p:cNvSpPr txBox="1"/>
            <p:nvPr/>
          </p:nvSpPr>
          <p:spPr>
            <a:xfrm>
              <a:off x="2928450" y="3630156"/>
              <a:ext cx="3050759" cy="523220"/>
            </a:xfrm>
            <a:prstGeom prst="rect">
              <a:avLst/>
            </a:prstGeom>
            <a:noFill/>
          </p:spPr>
          <p:txBody>
            <a:bodyPr wrap="square" rtlCol="0">
              <a:spAutoFit/>
            </a:bodyPr>
            <a:lstStyle/>
            <a:p>
              <a:r>
                <a:rPr lang="es-MX" altLang="ko-KR" sz="2800" dirty="0">
                  <a:latin typeface="Arial Narrow" panose="020B0606020202030204" pitchFamily="34" charset="0"/>
                </a:rPr>
                <a:t>Estamos fuera de tiempo en un proyecto</a:t>
              </a:r>
            </a:p>
          </p:txBody>
        </p:sp>
        <p:sp>
          <p:nvSpPr>
            <p:cNvPr id="20" name="Chevron 26">
              <a:extLst>
                <a:ext uri="{FF2B5EF4-FFF2-40B4-BE49-F238E27FC236}">
                  <a16:creationId xmlns:a16="http://schemas.microsoft.com/office/drawing/2014/main" id="{2CAD54E0-B1CC-F6FA-C966-EBE210D33EFF}"/>
                </a:ext>
              </a:extLst>
            </p:cNvPr>
            <p:cNvSpPr/>
            <p:nvPr/>
          </p:nvSpPr>
          <p:spPr>
            <a:xfrm>
              <a:off x="2601327" y="3764561"/>
              <a:ext cx="173538" cy="200987"/>
            </a:xfrm>
            <a:prstGeom prst="chevron">
              <a:avLst>
                <a:gd name="adj" fmla="val 5486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pic>
        <p:nvPicPr>
          <p:cNvPr id="24" name="Picture 23" descr="A pen on a checklist&#10;&#10;AI-generated content may be incorrect.">
            <a:extLst>
              <a:ext uri="{FF2B5EF4-FFF2-40B4-BE49-F238E27FC236}">
                <a16:creationId xmlns:a16="http://schemas.microsoft.com/office/drawing/2014/main" id="{CBC76BA7-34B5-2DF8-9F96-6111C890E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25" y="1243330"/>
            <a:ext cx="3704684" cy="3704684"/>
          </a:xfrm>
          <a:prstGeom prst="rect">
            <a:avLst/>
          </a:prstGeom>
        </p:spPr>
      </p:pic>
    </p:spTree>
    <p:extLst>
      <p:ext uri="{BB962C8B-B14F-4D97-AF65-F5344CB8AC3E}">
        <p14:creationId xmlns:p14="http://schemas.microsoft.com/office/powerpoint/2010/main" val="312562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A1DC-3BD3-4958-7E85-F2B472FA92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77F2BF-EC48-02EB-889B-48B101F65D91}"/>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7" name="TextBox 24">
            <a:extLst>
              <a:ext uri="{FF2B5EF4-FFF2-40B4-BE49-F238E27FC236}">
                <a16:creationId xmlns:a16="http://schemas.microsoft.com/office/drawing/2014/main" id="{835B5B29-19B2-6D16-5F25-0A1DA9BDAC04}"/>
              </a:ext>
            </a:extLst>
          </p:cNvPr>
          <p:cNvSpPr txBox="1"/>
          <p:nvPr/>
        </p:nvSpPr>
        <p:spPr>
          <a:xfrm>
            <a:off x="2661880" y="1114912"/>
            <a:ext cx="5882043" cy="3785652"/>
          </a:xfrm>
          <a:prstGeom prst="rect">
            <a:avLst/>
          </a:prstGeom>
          <a:noFill/>
        </p:spPr>
        <p:txBody>
          <a:bodyPr wrap="square" rtlCol="0">
            <a:spAutoFit/>
          </a:bodyPr>
          <a:lstStyle/>
          <a:p>
            <a:pPr algn="just"/>
            <a:r>
              <a:rPr lang="es-MX" altLang="ko-KR" sz="2400" dirty="0">
                <a:latin typeface="Arial Narrow" panose="020B0606020202030204" pitchFamily="34" charset="0"/>
              </a:rPr>
              <a:t>La mayoría de los clientes busca </a:t>
            </a:r>
            <a:r>
              <a:rPr lang="es-MX" altLang="ko-KR" sz="2400" b="1" dirty="0">
                <a:latin typeface="Arial Narrow" panose="020B0606020202030204" pitchFamily="34" charset="0"/>
              </a:rPr>
              <a:t>calidad al mejor precio</a:t>
            </a:r>
            <a:r>
              <a:rPr lang="es-MX" altLang="ko-KR" sz="2400" dirty="0">
                <a:latin typeface="Arial Narrow" panose="020B0606020202030204" pitchFamily="34" charset="0"/>
              </a:rPr>
              <a:t>, sin embargo, lo que puede ser "excelente" para algunos, no lo es para otros. Cuando un individuo adquiere un producto o servicio, lo hace para satisfacer una necesidad, pero siempre espera que la "nueva adquisición" funcione como lo esperado, o al menos como se lo prometieron en el anuncio publicitario. </a:t>
            </a:r>
          </a:p>
          <a:p>
            <a:pPr algn="just"/>
            <a:r>
              <a:rPr lang="es-MX" altLang="ko-KR" sz="2400" dirty="0">
                <a:latin typeface="Arial Narrow" panose="020B0606020202030204" pitchFamily="34" charset="0"/>
              </a:rPr>
              <a:t>Muchas veces la calidad se paga, justificando de esta forma el dicho de que </a:t>
            </a:r>
            <a:r>
              <a:rPr lang="es-MX" altLang="ko-KR" sz="2400" b="1" dirty="0">
                <a:latin typeface="Arial Narrow" panose="020B0606020202030204" pitchFamily="34" charset="0"/>
              </a:rPr>
              <a:t>"lo barato sale caro".</a:t>
            </a:r>
          </a:p>
        </p:txBody>
      </p:sp>
      <p:grpSp>
        <p:nvGrpSpPr>
          <p:cNvPr id="31" name="Group 30">
            <a:extLst>
              <a:ext uri="{FF2B5EF4-FFF2-40B4-BE49-F238E27FC236}">
                <a16:creationId xmlns:a16="http://schemas.microsoft.com/office/drawing/2014/main" id="{0BC12835-D307-5039-2816-F929710357E8}"/>
              </a:ext>
            </a:extLst>
          </p:cNvPr>
          <p:cNvGrpSpPr/>
          <p:nvPr/>
        </p:nvGrpSpPr>
        <p:grpSpPr>
          <a:xfrm>
            <a:off x="1500" y="2502885"/>
            <a:ext cx="2555776" cy="1009706"/>
            <a:chOff x="0" y="2714172"/>
            <a:chExt cx="3686629" cy="1429658"/>
          </a:xfrm>
        </p:grpSpPr>
        <p:sp>
          <p:nvSpPr>
            <p:cNvPr id="23" name="五边形 1">
              <a:extLst>
                <a:ext uri="{FF2B5EF4-FFF2-40B4-BE49-F238E27FC236}">
                  <a16:creationId xmlns:a16="http://schemas.microsoft.com/office/drawing/2014/main" id="{DFF3543D-620E-C439-48B3-66857F157A52}"/>
                </a:ext>
              </a:extLst>
            </p:cNvPr>
            <p:cNvSpPr/>
            <p:nvPr/>
          </p:nvSpPr>
          <p:spPr>
            <a:xfrm>
              <a:off x="0" y="2714172"/>
              <a:ext cx="3686629" cy="1429658"/>
            </a:xfrm>
            <a:prstGeom prst="homePlate">
              <a:avLst>
                <a:gd name="adj" fmla="val 23896"/>
              </a:avLst>
            </a:prstGeom>
            <a:solidFill>
              <a:srgbClr val="33AA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sp>
          <p:nvSpPr>
            <p:cNvPr id="25" name="任意多边形 5">
              <a:extLst>
                <a:ext uri="{FF2B5EF4-FFF2-40B4-BE49-F238E27FC236}">
                  <a16:creationId xmlns:a16="http://schemas.microsoft.com/office/drawing/2014/main" id="{2DC9B085-E8E6-6BC3-E7A2-347E310C0915}"/>
                </a:ext>
              </a:extLst>
            </p:cNvPr>
            <p:cNvSpPr/>
            <p:nvPr/>
          </p:nvSpPr>
          <p:spPr>
            <a:xfrm>
              <a:off x="0" y="3429001"/>
              <a:ext cx="3686629" cy="714829"/>
            </a:xfrm>
            <a:custGeom>
              <a:avLst/>
              <a:gdLst>
                <a:gd name="connsiteX0" fmla="*/ 0 w 3686629"/>
                <a:gd name="connsiteY0" fmla="*/ 0 h 714829"/>
                <a:gd name="connsiteX1" fmla="*/ 3686629 w 3686629"/>
                <a:gd name="connsiteY1" fmla="*/ 0 h 714829"/>
                <a:gd name="connsiteX2" fmla="*/ 3344998 w 3686629"/>
                <a:gd name="connsiteY2" fmla="*/ 714829 h 714829"/>
                <a:gd name="connsiteX3" fmla="*/ 0 w 3686629"/>
                <a:gd name="connsiteY3" fmla="*/ 714829 h 714829"/>
              </a:gdLst>
              <a:ahLst/>
              <a:cxnLst>
                <a:cxn ang="0">
                  <a:pos x="connsiteX0" y="connsiteY0"/>
                </a:cxn>
                <a:cxn ang="0">
                  <a:pos x="connsiteX1" y="connsiteY1"/>
                </a:cxn>
                <a:cxn ang="0">
                  <a:pos x="connsiteX2" y="connsiteY2"/>
                </a:cxn>
                <a:cxn ang="0">
                  <a:pos x="connsiteX3" y="connsiteY3"/>
                </a:cxn>
              </a:cxnLst>
              <a:rect l="l" t="t" r="r" b="b"/>
              <a:pathLst>
                <a:path w="3686629" h="714829">
                  <a:moveTo>
                    <a:pt x="0" y="0"/>
                  </a:moveTo>
                  <a:lnTo>
                    <a:pt x="3686629" y="0"/>
                  </a:lnTo>
                  <a:lnTo>
                    <a:pt x="3344998" y="714829"/>
                  </a:lnTo>
                  <a:lnTo>
                    <a:pt x="0" y="714829"/>
                  </a:lnTo>
                  <a:close/>
                </a:path>
              </a:pathLst>
            </a:custGeom>
            <a:solidFill>
              <a:srgbClr val="0138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26" name="六边形 2">
              <a:extLst>
                <a:ext uri="{FF2B5EF4-FFF2-40B4-BE49-F238E27FC236}">
                  <a16:creationId xmlns:a16="http://schemas.microsoft.com/office/drawing/2014/main" id="{06231561-5310-2146-29EE-B3B122467CFC}"/>
                </a:ext>
              </a:extLst>
            </p:cNvPr>
            <p:cNvSpPr/>
            <p:nvPr/>
          </p:nvSpPr>
          <p:spPr>
            <a:xfrm>
              <a:off x="2179682" y="2848430"/>
              <a:ext cx="1346924" cy="1161142"/>
            </a:xfrm>
            <a:prstGeom prst="hexagon">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sp>
        <p:nvSpPr>
          <p:cNvPr id="39" name="Google Shape;10155;p74">
            <a:extLst>
              <a:ext uri="{FF2B5EF4-FFF2-40B4-BE49-F238E27FC236}">
                <a16:creationId xmlns:a16="http://schemas.microsoft.com/office/drawing/2014/main" id="{52C0DB33-D0E0-E36D-874B-D08367CF26BF}"/>
              </a:ext>
            </a:extLst>
          </p:cNvPr>
          <p:cNvSpPr/>
          <p:nvPr/>
        </p:nvSpPr>
        <p:spPr>
          <a:xfrm>
            <a:off x="1786449" y="2766601"/>
            <a:ext cx="405389" cy="580693"/>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0" name="Google Shape;10156;p74">
            <a:extLst>
              <a:ext uri="{FF2B5EF4-FFF2-40B4-BE49-F238E27FC236}">
                <a16:creationId xmlns:a16="http://schemas.microsoft.com/office/drawing/2014/main" id="{DE1BE7A1-9DF2-9C52-5B0D-902186DD4BEC}"/>
              </a:ext>
            </a:extLst>
          </p:cNvPr>
          <p:cNvSpPr/>
          <p:nvPr/>
        </p:nvSpPr>
        <p:spPr>
          <a:xfrm>
            <a:off x="1722721" y="2970132"/>
            <a:ext cx="59683" cy="37606"/>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1" name="Google Shape;10157;p74">
            <a:extLst>
              <a:ext uri="{FF2B5EF4-FFF2-40B4-BE49-F238E27FC236}">
                <a16:creationId xmlns:a16="http://schemas.microsoft.com/office/drawing/2014/main" id="{8886CCEE-4AC1-5623-E2E1-1EF7A860E7AD}"/>
              </a:ext>
            </a:extLst>
          </p:cNvPr>
          <p:cNvSpPr/>
          <p:nvPr/>
        </p:nvSpPr>
        <p:spPr>
          <a:xfrm>
            <a:off x="2206684" y="2970132"/>
            <a:ext cx="61060" cy="37606"/>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2" name="Google Shape;10158;p74">
            <a:extLst>
              <a:ext uri="{FF2B5EF4-FFF2-40B4-BE49-F238E27FC236}">
                <a16:creationId xmlns:a16="http://schemas.microsoft.com/office/drawing/2014/main" id="{8D73F6A4-E8EE-0BB9-369E-8862E634953B}"/>
              </a:ext>
            </a:extLst>
          </p:cNvPr>
          <p:cNvSpPr/>
          <p:nvPr/>
        </p:nvSpPr>
        <p:spPr>
          <a:xfrm>
            <a:off x="1795916" y="3143854"/>
            <a:ext cx="55638" cy="55675"/>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3" name="Google Shape;10159;p74">
            <a:extLst>
              <a:ext uri="{FF2B5EF4-FFF2-40B4-BE49-F238E27FC236}">
                <a16:creationId xmlns:a16="http://schemas.microsoft.com/office/drawing/2014/main" id="{AB5D011F-B109-3D19-00A3-5B1D7AA5EA9F}"/>
              </a:ext>
            </a:extLst>
          </p:cNvPr>
          <p:cNvSpPr/>
          <p:nvPr/>
        </p:nvSpPr>
        <p:spPr>
          <a:xfrm>
            <a:off x="2140288" y="2776874"/>
            <a:ext cx="55595" cy="55675"/>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4" name="Google Shape;10160;p74">
            <a:extLst>
              <a:ext uri="{FF2B5EF4-FFF2-40B4-BE49-F238E27FC236}">
                <a16:creationId xmlns:a16="http://schemas.microsoft.com/office/drawing/2014/main" id="{9AA2EA99-4C27-E250-D04E-034D41705DE0}"/>
              </a:ext>
            </a:extLst>
          </p:cNvPr>
          <p:cNvSpPr/>
          <p:nvPr/>
        </p:nvSpPr>
        <p:spPr>
          <a:xfrm>
            <a:off x="2140288" y="3143854"/>
            <a:ext cx="55595" cy="55675"/>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5" name="Google Shape;10161;p74">
            <a:extLst>
              <a:ext uri="{FF2B5EF4-FFF2-40B4-BE49-F238E27FC236}">
                <a16:creationId xmlns:a16="http://schemas.microsoft.com/office/drawing/2014/main" id="{E75E77E6-43D9-A173-F624-BD35EB280139}"/>
              </a:ext>
            </a:extLst>
          </p:cNvPr>
          <p:cNvSpPr/>
          <p:nvPr/>
        </p:nvSpPr>
        <p:spPr>
          <a:xfrm>
            <a:off x="1795916" y="2776874"/>
            <a:ext cx="55638" cy="55675"/>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48" name="Oval 6">
            <a:extLst>
              <a:ext uri="{FF2B5EF4-FFF2-40B4-BE49-F238E27FC236}">
                <a16:creationId xmlns:a16="http://schemas.microsoft.com/office/drawing/2014/main" id="{53E2CB5B-1F06-7A0D-B208-E302D43CD72A}"/>
              </a:ext>
            </a:extLst>
          </p:cNvPr>
          <p:cNvSpPr/>
          <p:nvPr/>
        </p:nvSpPr>
        <p:spPr>
          <a:xfrm>
            <a:off x="1886090" y="2859560"/>
            <a:ext cx="217855" cy="221143"/>
          </a:xfrm>
          <a:prstGeom prst="ellipse">
            <a:avLst/>
          </a:prstGeom>
          <a:solidFill>
            <a:srgbClr val="01385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Tree>
    <p:extLst>
      <p:ext uri="{BB962C8B-B14F-4D97-AF65-F5344CB8AC3E}">
        <p14:creationId xmlns:p14="http://schemas.microsoft.com/office/powerpoint/2010/main" val="1400062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0CDA7-4F90-DFA9-7833-C28A5A494A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100B46-8C8C-3CC9-E866-921E3982E7E5}"/>
              </a:ext>
            </a:extLst>
          </p:cNvPr>
          <p:cNvSpPr>
            <a:spLocks noGrp="1"/>
          </p:cNvSpPr>
          <p:nvPr>
            <p:ph type="title"/>
          </p:nvPr>
        </p:nvSpPr>
        <p:spPr/>
        <p:txBody>
          <a:bodyPr/>
          <a:lstStyle/>
          <a:p>
            <a:r>
              <a:rPr lang="en-US" sz="3200"/>
              <a:t> 1.1 Conceptos de Calidad de Software</a:t>
            </a:r>
            <a:endParaRPr lang="en-US" sz="3200" dirty="0"/>
          </a:p>
        </p:txBody>
      </p:sp>
      <p:sp>
        <p:nvSpPr>
          <p:cNvPr id="6" name="TextBox 16">
            <a:extLst>
              <a:ext uri="{FF2B5EF4-FFF2-40B4-BE49-F238E27FC236}">
                <a16:creationId xmlns:a16="http://schemas.microsoft.com/office/drawing/2014/main" id="{E4D63EBD-D1B1-011B-AFD6-AB12D55E45C2}"/>
              </a:ext>
            </a:extLst>
          </p:cNvPr>
          <p:cNvSpPr txBox="1"/>
          <p:nvPr/>
        </p:nvSpPr>
        <p:spPr>
          <a:xfrm>
            <a:off x="1695605" y="1059582"/>
            <a:ext cx="5752790" cy="432792"/>
          </a:xfrm>
          <a:prstGeom prst="roundRect">
            <a:avLst>
              <a:gd name="adj" fmla="val 50000"/>
            </a:avLst>
          </a:prstGeom>
          <a:solidFill>
            <a:srgbClr val="5A28C8"/>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altLang="ko-KR" sz="1400" b="1" i="0" u="none" strike="noStrike" kern="0" cap="none" spc="0" normalizeH="0" baseline="0" noProof="0">
                <a:ln>
                  <a:noFill/>
                </a:ln>
                <a:solidFill>
                  <a:prstClr val="white"/>
                </a:solidFill>
                <a:effectLst/>
                <a:uLnTx/>
                <a:uFillTx/>
                <a:latin typeface="Arial"/>
              </a:rPr>
              <a:t>Cómo lograr que el consumidor se convierta en nuestro cliente</a:t>
            </a:r>
            <a:endParaRPr kumimoji="0" lang="es-MX" altLang="ko-KR" sz="1400" b="1" i="0" u="none" strike="noStrike" kern="0" cap="none" spc="0" normalizeH="0" baseline="0" noProof="0" dirty="0">
              <a:ln>
                <a:noFill/>
              </a:ln>
              <a:solidFill>
                <a:prstClr val="white"/>
              </a:solidFill>
              <a:effectLst/>
              <a:uLnTx/>
              <a:uFillTx/>
              <a:latin typeface="Arial"/>
            </a:endParaRPr>
          </a:p>
        </p:txBody>
      </p:sp>
      <p:pic>
        <p:nvPicPr>
          <p:cNvPr id="9" name="Picture 8">
            <a:extLst>
              <a:ext uri="{FF2B5EF4-FFF2-40B4-BE49-F238E27FC236}">
                <a16:creationId xmlns:a16="http://schemas.microsoft.com/office/drawing/2014/main" id="{DE7A0F33-04C1-3B24-92B0-3FD784783A5F}"/>
              </a:ext>
            </a:extLst>
          </p:cNvPr>
          <p:cNvPicPr>
            <a:picLocks noChangeAspect="1"/>
          </p:cNvPicPr>
          <p:nvPr/>
        </p:nvPicPr>
        <p:blipFill>
          <a:blip r:embed="rId2"/>
          <a:stretch>
            <a:fillRect/>
          </a:stretch>
        </p:blipFill>
        <p:spPr>
          <a:xfrm>
            <a:off x="1187624" y="1667490"/>
            <a:ext cx="6627342" cy="3284032"/>
          </a:xfrm>
          <a:prstGeom prst="rect">
            <a:avLst/>
          </a:prstGeom>
        </p:spPr>
      </p:pic>
    </p:spTree>
    <p:extLst>
      <p:ext uri="{BB962C8B-B14F-4D97-AF65-F5344CB8AC3E}">
        <p14:creationId xmlns:p14="http://schemas.microsoft.com/office/powerpoint/2010/main" val="2229996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86B2C-6557-1060-5468-9E9D5156D1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BDC36C-E530-4553-CD2F-924C8EC1A978}"/>
              </a:ext>
            </a:extLst>
          </p:cNvPr>
          <p:cNvSpPr>
            <a:spLocks noGrp="1"/>
          </p:cNvSpPr>
          <p:nvPr>
            <p:ph type="title"/>
          </p:nvPr>
        </p:nvSpPr>
        <p:spPr/>
        <p:txBody>
          <a:bodyPr/>
          <a:lstStyle/>
          <a:p>
            <a:r>
              <a:rPr lang="en-US" sz="3200"/>
              <a:t> 1.1 Conceptos de Calidad de Software</a:t>
            </a:r>
            <a:endParaRPr lang="en-US" sz="3200" dirty="0"/>
          </a:p>
        </p:txBody>
      </p:sp>
      <p:graphicFrame>
        <p:nvGraphicFramePr>
          <p:cNvPr id="2" name="Diagram 1">
            <a:extLst>
              <a:ext uri="{FF2B5EF4-FFF2-40B4-BE49-F238E27FC236}">
                <a16:creationId xmlns:a16="http://schemas.microsoft.com/office/drawing/2014/main" id="{5A78350F-403C-993A-D3AE-8D9865D46F60}"/>
              </a:ext>
            </a:extLst>
          </p:cNvPr>
          <p:cNvGraphicFramePr/>
          <p:nvPr>
            <p:extLst>
              <p:ext uri="{D42A27DB-BD31-4B8C-83A1-F6EECF244321}">
                <p14:modId xmlns:p14="http://schemas.microsoft.com/office/powerpoint/2010/main" val="1138146489"/>
              </p:ext>
            </p:extLst>
          </p:nvPr>
        </p:nvGraphicFramePr>
        <p:xfrm>
          <a:off x="0" y="987574"/>
          <a:ext cx="6444208" cy="39608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val 3">
            <a:extLst>
              <a:ext uri="{FF2B5EF4-FFF2-40B4-BE49-F238E27FC236}">
                <a16:creationId xmlns:a16="http://schemas.microsoft.com/office/drawing/2014/main" id="{FFDCAB35-10DC-7DAA-0C60-1FAA1072B76A}"/>
              </a:ext>
            </a:extLst>
          </p:cNvPr>
          <p:cNvSpPr/>
          <p:nvPr/>
        </p:nvSpPr>
        <p:spPr>
          <a:xfrm>
            <a:off x="6696236" y="1690980"/>
            <a:ext cx="1656184" cy="1627292"/>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r>
              <a:rPr lang="es-MX" sz="1600" b="1" dirty="0">
                <a:ln w="0"/>
                <a:solidFill>
                  <a:schemeClr val="accent1"/>
                </a:solidFill>
                <a:latin typeface="Arial Narrow" panose="020B0606020202030204" pitchFamily="34" charset="0"/>
              </a:rPr>
              <a:t>Calidad</a:t>
            </a:r>
          </a:p>
          <a:p>
            <a:pPr algn="ctr"/>
            <a:r>
              <a:rPr lang="es-MX" sz="1600" b="1" dirty="0">
                <a:ln w="0"/>
                <a:solidFill>
                  <a:schemeClr val="accent1"/>
                </a:solidFill>
                <a:latin typeface="Arial Narrow" panose="020B0606020202030204" pitchFamily="34" charset="0"/>
              </a:rPr>
              <a:t>realizada</a:t>
            </a:r>
          </a:p>
        </p:txBody>
      </p:sp>
      <p:sp>
        <p:nvSpPr>
          <p:cNvPr id="5" name="Oval 4">
            <a:extLst>
              <a:ext uri="{FF2B5EF4-FFF2-40B4-BE49-F238E27FC236}">
                <a16:creationId xmlns:a16="http://schemas.microsoft.com/office/drawing/2014/main" id="{90CB595D-43CC-0272-BC95-08261B55AE2E}"/>
              </a:ext>
            </a:extLst>
          </p:cNvPr>
          <p:cNvSpPr/>
          <p:nvPr/>
        </p:nvSpPr>
        <p:spPr>
          <a:xfrm>
            <a:off x="6084168" y="2771100"/>
            <a:ext cx="1656184" cy="162729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s-MX" sz="1600" b="1" dirty="0">
                <a:ln w="0"/>
                <a:solidFill>
                  <a:schemeClr val="accent6">
                    <a:lumMod val="75000"/>
                  </a:schemeClr>
                </a:solidFill>
                <a:latin typeface="Arial Narrow" panose="020B0606020202030204" pitchFamily="34" charset="0"/>
              </a:rPr>
              <a:t>Calidad</a:t>
            </a:r>
          </a:p>
          <a:p>
            <a:pPr algn="ctr"/>
            <a:r>
              <a:rPr lang="es-MX" sz="1600" b="1" dirty="0">
                <a:ln w="0"/>
                <a:solidFill>
                  <a:schemeClr val="accent6">
                    <a:lumMod val="75000"/>
                  </a:schemeClr>
                </a:solidFill>
                <a:latin typeface="Arial Narrow" panose="020B0606020202030204" pitchFamily="34" charset="0"/>
              </a:rPr>
              <a:t>programada</a:t>
            </a:r>
          </a:p>
        </p:txBody>
      </p:sp>
      <p:sp>
        <p:nvSpPr>
          <p:cNvPr id="7" name="Oval 6">
            <a:extLst>
              <a:ext uri="{FF2B5EF4-FFF2-40B4-BE49-F238E27FC236}">
                <a16:creationId xmlns:a16="http://schemas.microsoft.com/office/drawing/2014/main" id="{381F65C0-085A-4672-28F7-D090941D5EDB}"/>
              </a:ext>
            </a:extLst>
          </p:cNvPr>
          <p:cNvSpPr/>
          <p:nvPr/>
        </p:nvSpPr>
        <p:spPr>
          <a:xfrm>
            <a:off x="7308304" y="2787774"/>
            <a:ext cx="1656184" cy="1627292"/>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r>
              <a:rPr lang="es-MX" sz="1600" b="1" dirty="0">
                <a:solidFill>
                  <a:schemeClr val="accent3">
                    <a:lumMod val="75000"/>
                  </a:schemeClr>
                </a:solidFill>
                <a:latin typeface="Arial Narrow" panose="020B0606020202030204" pitchFamily="34" charset="0"/>
              </a:rPr>
              <a:t>Calidad</a:t>
            </a:r>
          </a:p>
          <a:p>
            <a:pPr algn="ctr"/>
            <a:r>
              <a:rPr lang="es-MX" sz="1600" b="1" dirty="0">
                <a:solidFill>
                  <a:schemeClr val="accent3">
                    <a:lumMod val="75000"/>
                  </a:schemeClr>
                </a:solidFill>
                <a:latin typeface="Arial Narrow" panose="020B0606020202030204" pitchFamily="34" charset="0"/>
              </a:rPr>
              <a:t>necesaria</a:t>
            </a:r>
          </a:p>
        </p:txBody>
      </p:sp>
    </p:spTree>
    <p:extLst>
      <p:ext uri="{BB962C8B-B14F-4D97-AF65-F5344CB8AC3E}">
        <p14:creationId xmlns:p14="http://schemas.microsoft.com/office/powerpoint/2010/main" val="2742829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4ED1A-CDA7-3504-A88E-0BFF281106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55F229-6E19-DFD7-DD97-D024642038E1}"/>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7" name="Picture 6" descr="A diagram of a software&#10;&#10;AI-generated content may be incorrect.">
            <a:extLst>
              <a:ext uri="{FF2B5EF4-FFF2-40B4-BE49-F238E27FC236}">
                <a16:creationId xmlns:a16="http://schemas.microsoft.com/office/drawing/2014/main" id="{8ADAA052-E235-08CE-50BB-193DE923E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98952"/>
            <a:ext cx="9144000" cy="4208362"/>
          </a:xfrm>
          <a:prstGeom prst="rect">
            <a:avLst/>
          </a:prstGeom>
        </p:spPr>
      </p:pic>
    </p:spTree>
    <p:extLst>
      <p:ext uri="{BB962C8B-B14F-4D97-AF65-F5344CB8AC3E}">
        <p14:creationId xmlns:p14="http://schemas.microsoft.com/office/powerpoint/2010/main" val="3087012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FF56-0927-4AD0-D81B-5DB339B60D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FD8821-1EC1-60A7-C24F-B0744FC25259}"/>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6" name="TextBox 5">
            <a:extLst>
              <a:ext uri="{FF2B5EF4-FFF2-40B4-BE49-F238E27FC236}">
                <a16:creationId xmlns:a16="http://schemas.microsoft.com/office/drawing/2014/main" id="{49F397C3-B6F7-DD9D-4F31-844FB6A4F74B}"/>
              </a:ext>
            </a:extLst>
          </p:cNvPr>
          <p:cNvSpPr txBox="1"/>
          <p:nvPr/>
        </p:nvSpPr>
        <p:spPr>
          <a:xfrm>
            <a:off x="1115616" y="1347614"/>
            <a:ext cx="7200800" cy="3139321"/>
          </a:xfrm>
          <a:prstGeom prst="rect">
            <a:avLst/>
          </a:prstGeom>
          <a:noFill/>
        </p:spPr>
        <p:txBody>
          <a:bodyPr wrap="square">
            <a:spAutoFit/>
          </a:bodyPr>
          <a:lstStyle/>
          <a:p>
            <a:pPr marL="285750" indent="-285750">
              <a:buFont typeface="Wingdings" panose="05000000000000000000" pitchFamily="2" charset="2"/>
              <a:buChar char="ü"/>
            </a:pPr>
            <a:r>
              <a:rPr lang="es-MX" dirty="0">
                <a:latin typeface="Arial Narrow" panose="020B0606020202030204" pitchFamily="34" charset="0"/>
              </a:rPr>
              <a:t>En las primeras etapas, el software se desarrollaba sin metodologías formales.</a:t>
            </a:r>
          </a:p>
          <a:p>
            <a:endParaRPr lang="es-MX" dirty="0">
              <a:latin typeface="Arial Narrow" panose="020B0606020202030204" pitchFamily="34" charset="0"/>
            </a:endParaRPr>
          </a:p>
          <a:p>
            <a:pPr marL="285750" indent="-285750">
              <a:buFont typeface="Wingdings" panose="05000000000000000000" pitchFamily="2" charset="2"/>
              <a:buChar char="ü"/>
            </a:pPr>
            <a:r>
              <a:rPr lang="es-MX" dirty="0">
                <a:latin typeface="Arial Narrow" panose="020B0606020202030204" pitchFamily="34" charset="0"/>
              </a:rPr>
              <a:t>La calidad se medía principalmente por la ausencia de errores (corrección funcional).</a:t>
            </a:r>
          </a:p>
          <a:p>
            <a:endParaRPr lang="es-MX" dirty="0">
              <a:latin typeface="Arial Narrow" panose="020B0606020202030204" pitchFamily="34" charset="0"/>
            </a:endParaRPr>
          </a:p>
          <a:p>
            <a:pPr marL="285750" indent="-285750">
              <a:buFont typeface="Wingdings" panose="05000000000000000000" pitchFamily="2" charset="2"/>
              <a:buChar char="ü"/>
            </a:pPr>
            <a:r>
              <a:rPr lang="es-MX" dirty="0">
                <a:latin typeface="Arial Narrow" panose="020B0606020202030204" pitchFamily="34" charset="0"/>
              </a:rPr>
              <a:t>El enfoque era reaccionario: corregir errores después de su detección.</a:t>
            </a:r>
          </a:p>
          <a:p>
            <a:endParaRPr lang="es-MX" dirty="0">
              <a:latin typeface="Arial Narrow" panose="020B0606020202030204" pitchFamily="34" charset="0"/>
            </a:endParaRPr>
          </a:p>
          <a:p>
            <a:pPr marL="285750" indent="-285750">
              <a:buFont typeface="Wingdings" panose="05000000000000000000" pitchFamily="2" charset="2"/>
              <a:buChar char="ü"/>
            </a:pPr>
            <a:r>
              <a:rPr lang="es-MX" dirty="0">
                <a:latin typeface="Arial Narrow" panose="020B0606020202030204" pitchFamily="34" charset="0"/>
              </a:rPr>
              <a:t>Surgieron problemas como el "crisis del software" por proyectos que excedían presupuestos y plazos.</a:t>
            </a:r>
          </a:p>
          <a:p>
            <a:endParaRPr lang="es-MX" dirty="0">
              <a:latin typeface="Arial Narrow" panose="020B0606020202030204" pitchFamily="34" charset="0"/>
            </a:endParaRPr>
          </a:p>
          <a:p>
            <a:r>
              <a:rPr lang="es-MX" i="1" dirty="0">
                <a:latin typeface="Arial Narrow" panose="020B0606020202030204" pitchFamily="34" charset="0"/>
              </a:rPr>
              <a:t>Ejemplo: Proyectos militares y espaciales con fallos costosos. </a:t>
            </a:r>
          </a:p>
        </p:txBody>
      </p:sp>
    </p:spTree>
    <p:extLst>
      <p:ext uri="{BB962C8B-B14F-4D97-AF65-F5344CB8AC3E}">
        <p14:creationId xmlns:p14="http://schemas.microsoft.com/office/powerpoint/2010/main" val="295660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E5D5-2D1C-6F45-98C8-6E65ABBCCF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864213-AFFE-CAAE-C163-711093868E4A}"/>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38" name="Rectangle: Rounded Corners 18">
            <a:extLst>
              <a:ext uri="{FF2B5EF4-FFF2-40B4-BE49-F238E27FC236}">
                <a16:creationId xmlns:a16="http://schemas.microsoft.com/office/drawing/2014/main" id="{366606BA-3C62-D2CB-4C39-87E8A815F8B0}"/>
              </a:ext>
            </a:extLst>
          </p:cNvPr>
          <p:cNvSpPr/>
          <p:nvPr/>
        </p:nvSpPr>
        <p:spPr>
          <a:xfrm>
            <a:off x="191348" y="1344062"/>
            <a:ext cx="4320540" cy="1420457"/>
          </a:xfrm>
          <a:prstGeom prst="roundRect">
            <a:avLst>
              <a:gd name="adj" fmla="val 50000"/>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lumMod val="75000"/>
                  <a:lumOff val="25000"/>
                </a:schemeClr>
              </a:solidFill>
            </a:endParaRPr>
          </a:p>
        </p:txBody>
      </p:sp>
      <p:sp>
        <p:nvSpPr>
          <p:cNvPr id="41" name="Rectangle: Rounded Corners 21">
            <a:extLst>
              <a:ext uri="{FF2B5EF4-FFF2-40B4-BE49-F238E27FC236}">
                <a16:creationId xmlns:a16="http://schemas.microsoft.com/office/drawing/2014/main" id="{54869AA8-27DA-A0B5-A2B0-EE5FC74B151A}"/>
              </a:ext>
            </a:extLst>
          </p:cNvPr>
          <p:cNvSpPr/>
          <p:nvPr/>
        </p:nvSpPr>
        <p:spPr>
          <a:xfrm>
            <a:off x="4653412" y="1358192"/>
            <a:ext cx="4320540" cy="1420457"/>
          </a:xfrm>
          <a:prstGeom prst="roundRect">
            <a:avLst>
              <a:gd name="adj" fmla="val 50000"/>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lumMod val="75000"/>
                  <a:lumOff val="25000"/>
                </a:schemeClr>
              </a:solidFill>
            </a:endParaRPr>
          </a:p>
        </p:txBody>
      </p:sp>
      <p:sp>
        <p:nvSpPr>
          <p:cNvPr id="50" name="Frame 17">
            <a:extLst>
              <a:ext uri="{FF2B5EF4-FFF2-40B4-BE49-F238E27FC236}">
                <a16:creationId xmlns:a16="http://schemas.microsoft.com/office/drawing/2014/main" id="{E6028740-745E-80A7-5180-765AA0ED9462}"/>
              </a:ext>
            </a:extLst>
          </p:cNvPr>
          <p:cNvSpPr/>
          <p:nvPr/>
        </p:nvSpPr>
        <p:spPr>
          <a:xfrm>
            <a:off x="551388" y="1842004"/>
            <a:ext cx="238826" cy="238826"/>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solidFill>
                <a:schemeClr val="tx1"/>
              </a:solidFill>
            </a:endParaRPr>
          </a:p>
        </p:txBody>
      </p:sp>
      <p:grpSp>
        <p:nvGrpSpPr>
          <p:cNvPr id="53" name="Group 33">
            <a:extLst>
              <a:ext uri="{FF2B5EF4-FFF2-40B4-BE49-F238E27FC236}">
                <a16:creationId xmlns:a16="http://schemas.microsoft.com/office/drawing/2014/main" id="{FD68B5BF-FB98-5B35-6621-3CFBA35AE27C}"/>
              </a:ext>
            </a:extLst>
          </p:cNvPr>
          <p:cNvGrpSpPr/>
          <p:nvPr/>
        </p:nvGrpSpPr>
        <p:grpSpPr>
          <a:xfrm>
            <a:off x="942842" y="1430928"/>
            <a:ext cx="3569047" cy="1220716"/>
            <a:chOff x="2113657" y="4283314"/>
            <a:chExt cx="3647460" cy="1627619"/>
          </a:xfrm>
        </p:grpSpPr>
        <p:sp>
          <p:nvSpPr>
            <p:cNvPr id="54" name="TextBox 34">
              <a:extLst>
                <a:ext uri="{FF2B5EF4-FFF2-40B4-BE49-F238E27FC236}">
                  <a16:creationId xmlns:a16="http://schemas.microsoft.com/office/drawing/2014/main" id="{46AEF91B-1813-7965-28AE-BAFF63D2F891}"/>
                </a:ext>
              </a:extLst>
            </p:cNvPr>
            <p:cNvSpPr txBox="1"/>
            <p:nvPr/>
          </p:nvSpPr>
          <p:spPr>
            <a:xfrm>
              <a:off x="2113657" y="4495163"/>
              <a:ext cx="3647455" cy="1415770"/>
            </a:xfrm>
            <a:prstGeom prst="rect">
              <a:avLst/>
            </a:prstGeom>
            <a:noFill/>
          </p:spPr>
          <p:txBody>
            <a:bodyPr wrap="square" rtlCol="0">
              <a:spAutoFit/>
            </a:bodyPr>
            <a:lstStyle/>
            <a:p>
              <a:r>
                <a:rPr lang="es-MX" altLang="ko-KR" sz="900" b="1" dirty="0">
                  <a:solidFill>
                    <a:schemeClr val="bg1"/>
                  </a:solidFill>
                  <a:latin typeface="Arial" pitchFamily="34" charset="0"/>
                  <a:cs typeface="Arial" pitchFamily="34" charset="0"/>
                </a:rPr>
                <a:t>Qué pasó: </a:t>
              </a:r>
              <a:r>
                <a:rPr lang="es-MX" altLang="ko-KR" sz="900" dirty="0">
                  <a:solidFill>
                    <a:schemeClr val="bg1"/>
                  </a:solidFill>
                  <a:latin typeface="Arial" pitchFamily="34" charset="0"/>
                  <a:cs typeface="Arial" pitchFamily="34" charset="0"/>
                </a:rPr>
                <a:t>El cohete europeo Ariane 5 explotó 37 segundos después del lanzamiento.</a:t>
              </a:r>
            </a:p>
            <a:p>
              <a:r>
                <a:rPr lang="es-MX" altLang="ko-KR" sz="900" b="1" dirty="0">
                  <a:solidFill>
                    <a:schemeClr val="bg1"/>
                  </a:solidFill>
                  <a:latin typeface="Arial" pitchFamily="34" charset="0"/>
                  <a:cs typeface="Arial" pitchFamily="34" charset="0"/>
                </a:rPr>
                <a:t>Causa: </a:t>
              </a:r>
              <a:r>
                <a:rPr lang="es-MX" altLang="ko-KR" sz="900" dirty="0">
                  <a:solidFill>
                    <a:schemeClr val="bg1"/>
                  </a:solidFill>
                  <a:latin typeface="Arial" pitchFamily="34" charset="0"/>
                  <a:cs typeface="Arial" pitchFamily="34" charset="0"/>
                </a:rPr>
                <a:t>Un error de software por una conversión de dato errónea (de punto flotante a entero) en un sistema de referencia inercial.</a:t>
              </a:r>
            </a:p>
            <a:p>
              <a:r>
                <a:rPr lang="es-MX" altLang="ko-KR" sz="900" b="1" dirty="0">
                  <a:solidFill>
                    <a:schemeClr val="bg1"/>
                  </a:solidFill>
                  <a:latin typeface="Arial" pitchFamily="34" charset="0"/>
                  <a:cs typeface="Arial" pitchFamily="34" charset="0"/>
                </a:rPr>
                <a:t>Costo estimado: </a:t>
              </a:r>
              <a:r>
                <a:rPr lang="es-MX" altLang="ko-KR" sz="900" dirty="0">
                  <a:solidFill>
                    <a:schemeClr val="bg1"/>
                  </a:solidFill>
                  <a:latin typeface="Arial" pitchFamily="34" charset="0"/>
                  <a:cs typeface="Arial" pitchFamily="34" charset="0"/>
                </a:rPr>
                <a:t>Alrededor de $370 millones.</a:t>
              </a:r>
            </a:p>
            <a:p>
              <a:r>
                <a:rPr lang="es-MX" altLang="ko-KR" sz="900" b="1" dirty="0">
                  <a:solidFill>
                    <a:schemeClr val="bg1"/>
                  </a:solidFill>
                  <a:latin typeface="Arial" pitchFamily="34" charset="0"/>
                  <a:cs typeface="Arial" pitchFamily="34" charset="0"/>
                </a:rPr>
                <a:t>Lección: </a:t>
              </a:r>
              <a:r>
                <a:rPr lang="es-MX" altLang="ko-KR" sz="900" dirty="0">
                  <a:solidFill>
                    <a:schemeClr val="bg1"/>
                  </a:solidFill>
                  <a:latin typeface="Arial" pitchFamily="34" charset="0"/>
                  <a:cs typeface="Arial" pitchFamily="34" charset="0"/>
                </a:rPr>
                <a:t>Se reutilizó código de Ariane 4 sin adaptarlo adecuadamente. Falta de pruebas bajo condiciones reales.</a:t>
              </a:r>
              <a:endParaRPr lang="en-US" altLang="ko-KR" sz="900" dirty="0">
                <a:solidFill>
                  <a:schemeClr val="bg1"/>
                </a:solidFill>
                <a:latin typeface="Arial" pitchFamily="34" charset="0"/>
                <a:cs typeface="Arial" pitchFamily="34" charset="0"/>
              </a:endParaRPr>
            </a:p>
          </p:txBody>
        </p:sp>
        <p:sp>
          <p:nvSpPr>
            <p:cNvPr id="55" name="TextBox 35">
              <a:extLst>
                <a:ext uri="{FF2B5EF4-FFF2-40B4-BE49-F238E27FC236}">
                  <a16:creationId xmlns:a16="http://schemas.microsoft.com/office/drawing/2014/main" id="{68AB865C-820D-0452-B86A-0DCF864E7608}"/>
                </a:ext>
              </a:extLst>
            </p:cNvPr>
            <p:cNvSpPr txBox="1"/>
            <p:nvPr/>
          </p:nvSpPr>
          <p:spPr>
            <a:xfrm>
              <a:off x="2113658" y="4283314"/>
              <a:ext cx="3647459" cy="307776"/>
            </a:xfrm>
            <a:prstGeom prst="rect">
              <a:avLst/>
            </a:prstGeom>
            <a:noFill/>
          </p:spPr>
          <p:txBody>
            <a:bodyPr wrap="square" rtlCol="0">
              <a:spAutoFit/>
            </a:bodyPr>
            <a:lstStyle/>
            <a:p>
              <a:r>
                <a:rPr lang="en-US" altLang="ko-KR" sz="900" b="1" dirty="0">
                  <a:solidFill>
                    <a:schemeClr val="bg1"/>
                  </a:solidFill>
                  <a:latin typeface="Arial" pitchFamily="34" charset="0"/>
                  <a:cs typeface="Arial" pitchFamily="34" charset="0"/>
                </a:rPr>
                <a:t>Ariane 5 Flight 501 (1996)</a:t>
              </a:r>
              <a:endParaRPr lang="ko-KR" altLang="en-US" sz="900" b="1" dirty="0">
                <a:solidFill>
                  <a:schemeClr val="bg1"/>
                </a:solidFill>
                <a:latin typeface="Arial" pitchFamily="34" charset="0"/>
                <a:cs typeface="Arial" pitchFamily="34" charset="0"/>
              </a:endParaRPr>
            </a:p>
          </p:txBody>
        </p:sp>
      </p:grpSp>
      <p:grpSp>
        <p:nvGrpSpPr>
          <p:cNvPr id="56" name="Group 36">
            <a:extLst>
              <a:ext uri="{FF2B5EF4-FFF2-40B4-BE49-F238E27FC236}">
                <a16:creationId xmlns:a16="http://schemas.microsoft.com/office/drawing/2014/main" id="{1DB91710-6A84-6039-B594-6D5A6BF3AEB6}"/>
              </a:ext>
            </a:extLst>
          </p:cNvPr>
          <p:cNvGrpSpPr/>
          <p:nvPr/>
        </p:nvGrpSpPr>
        <p:grpSpPr>
          <a:xfrm>
            <a:off x="5321061" y="1380279"/>
            <a:ext cx="3569047" cy="1359216"/>
            <a:chOff x="2113657" y="4283314"/>
            <a:chExt cx="3647460" cy="1812285"/>
          </a:xfrm>
        </p:grpSpPr>
        <p:sp>
          <p:nvSpPr>
            <p:cNvPr id="57" name="TextBox 37">
              <a:extLst>
                <a:ext uri="{FF2B5EF4-FFF2-40B4-BE49-F238E27FC236}">
                  <a16:creationId xmlns:a16="http://schemas.microsoft.com/office/drawing/2014/main" id="{BC0C314B-5971-56E4-393F-E8F8498F5BDC}"/>
                </a:ext>
              </a:extLst>
            </p:cNvPr>
            <p:cNvSpPr txBox="1"/>
            <p:nvPr/>
          </p:nvSpPr>
          <p:spPr>
            <a:xfrm>
              <a:off x="2113657" y="4495163"/>
              <a:ext cx="3647455" cy="1600436"/>
            </a:xfrm>
            <a:prstGeom prst="rect">
              <a:avLst/>
            </a:prstGeom>
            <a:noFill/>
          </p:spPr>
          <p:txBody>
            <a:bodyPr wrap="square" rtlCol="0">
              <a:spAutoFit/>
            </a:bodyPr>
            <a:lstStyle/>
            <a:p>
              <a:r>
                <a:rPr lang="es-MX" altLang="ko-KR" sz="900" b="1" dirty="0">
                  <a:solidFill>
                    <a:schemeClr val="bg1"/>
                  </a:solidFill>
                  <a:latin typeface="Arial" pitchFamily="34" charset="0"/>
                  <a:cs typeface="Arial" pitchFamily="34" charset="0"/>
                </a:rPr>
                <a:t>Qué pasó: </a:t>
              </a:r>
              <a:r>
                <a:rPr lang="es-MX" altLang="ko-KR" sz="900" dirty="0">
                  <a:solidFill>
                    <a:schemeClr val="bg1"/>
                  </a:solidFill>
                  <a:latin typeface="Arial" pitchFamily="34" charset="0"/>
                  <a:cs typeface="Arial" pitchFamily="34" charset="0"/>
                </a:rPr>
                <a:t>Máquina de radioterapia que administró dosis mortales de radiación a pacientes debido a un error de software.</a:t>
              </a:r>
            </a:p>
            <a:p>
              <a:r>
                <a:rPr lang="es-MX" altLang="ko-KR" sz="900" b="1" dirty="0">
                  <a:solidFill>
                    <a:schemeClr val="bg1"/>
                  </a:solidFill>
                  <a:latin typeface="Arial" pitchFamily="34" charset="0"/>
                  <a:cs typeface="Arial" pitchFamily="34" charset="0"/>
                </a:rPr>
                <a:t>Causa: </a:t>
              </a:r>
              <a:r>
                <a:rPr lang="es-MX" altLang="ko-KR" sz="900" dirty="0">
                  <a:solidFill>
                    <a:schemeClr val="bg1"/>
                  </a:solidFill>
                  <a:latin typeface="Arial" pitchFamily="34" charset="0"/>
                  <a:cs typeface="Arial" pitchFamily="34" charset="0"/>
                </a:rPr>
                <a:t>Errores de concurrencia (</a:t>
              </a:r>
              <a:r>
                <a:rPr lang="es-MX" altLang="ko-KR" sz="900" dirty="0" err="1">
                  <a:solidFill>
                    <a:schemeClr val="bg1"/>
                  </a:solidFill>
                  <a:latin typeface="Arial" pitchFamily="34" charset="0"/>
                  <a:cs typeface="Arial" pitchFamily="34" charset="0"/>
                </a:rPr>
                <a:t>race</a:t>
              </a:r>
              <a:r>
                <a:rPr lang="es-MX" altLang="ko-KR" sz="900" dirty="0">
                  <a:solidFill>
                    <a:schemeClr val="bg1"/>
                  </a:solidFill>
                  <a:latin typeface="Arial" pitchFamily="34" charset="0"/>
                  <a:cs typeface="Arial" pitchFamily="34" charset="0"/>
                </a:rPr>
                <a:t> </a:t>
              </a:r>
              <a:r>
                <a:rPr lang="es-MX" altLang="ko-KR" sz="900" dirty="0" err="1">
                  <a:solidFill>
                    <a:schemeClr val="bg1"/>
                  </a:solidFill>
                  <a:latin typeface="Arial" pitchFamily="34" charset="0"/>
                  <a:cs typeface="Arial" pitchFamily="34" charset="0"/>
                </a:rPr>
                <a:t>condition</a:t>
              </a:r>
              <a:r>
                <a:rPr lang="es-MX" altLang="ko-KR" sz="900" dirty="0">
                  <a:solidFill>
                    <a:schemeClr val="bg1"/>
                  </a:solidFill>
                  <a:latin typeface="Arial" pitchFamily="34" charset="0"/>
                  <a:cs typeface="Arial" pitchFamily="34" charset="0"/>
                </a:rPr>
                <a:t>) en el código; falta de validación y controles de hardware.</a:t>
              </a:r>
            </a:p>
            <a:p>
              <a:r>
                <a:rPr lang="es-MX" altLang="ko-KR" sz="900" b="1" dirty="0">
                  <a:solidFill>
                    <a:schemeClr val="bg1"/>
                  </a:solidFill>
                  <a:latin typeface="Arial" pitchFamily="34" charset="0"/>
                  <a:cs typeface="Arial" pitchFamily="34" charset="0"/>
                </a:rPr>
                <a:t>Consecuencias: </a:t>
              </a:r>
              <a:r>
                <a:rPr lang="es-MX" altLang="ko-KR" sz="900" dirty="0">
                  <a:solidFill>
                    <a:schemeClr val="bg1"/>
                  </a:solidFill>
                  <a:latin typeface="Arial" pitchFamily="34" charset="0"/>
                  <a:cs typeface="Arial" pitchFamily="34" charset="0"/>
                </a:rPr>
                <a:t>Al menos 6 sobredosis, varias con resultado fatal.</a:t>
              </a:r>
            </a:p>
            <a:p>
              <a:r>
                <a:rPr lang="es-MX" altLang="ko-KR" sz="900" b="1" dirty="0">
                  <a:solidFill>
                    <a:schemeClr val="bg1"/>
                  </a:solidFill>
                  <a:latin typeface="Arial" pitchFamily="34" charset="0"/>
                  <a:cs typeface="Arial" pitchFamily="34" charset="0"/>
                </a:rPr>
                <a:t>Lección: </a:t>
              </a:r>
              <a:r>
                <a:rPr lang="es-MX" altLang="ko-KR" sz="900" dirty="0">
                  <a:solidFill>
                    <a:schemeClr val="bg1"/>
                  </a:solidFill>
                  <a:latin typeface="Arial" pitchFamily="34" charset="0"/>
                  <a:cs typeface="Arial" pitchFamily="34" charset="0"/>
                </a:rPr>
                <a:t>Calidad del software = seguridad del paciente. Sin mecanismos de falla segura (</a:t>
              </a:r>
              <a:r>
                <a:rPr lang="es-MX" altLang="ko-KR" sz="900" dirty="0" err="1">
                  <a:solidFill>
                    <a:schemeClr val="bg1"/>
                  </a:solidFill>
                  <a:latin typeface="Arial" pitchFamily="34" charset="0"/>
                  <a:cs typeface="Arial" pitchFamily="34" charset="0"/>
                </a:rPr>
                <a:t>fail-safe</a:t>
              </a:r>
              <a:r>
                <a:rPr lang="es-MX" altLang="ko-KR" sz="900" dirty="0">
                  <a:solidFill>
                    <a:schemeClr val="bg1"/>
                  </a:solidFill>
                  <a:latin typeface="Arial" pitchFamily="34" charset="0"/>
                  <a:cs typeface="Arial" pitchFamily="34" charset="0"/>
                </a:rPr>
                <a:t>).</a:t>
              </a:r>
              <a:endParaRPr lang="en-US" altLang="ko-KR" sz="900" dirty="0">
                <a:solidFill>
                  <a:schemeClr val="bg1"/>
                </a:solidFill>
                <a:latin typeface="Arial" pitchFamily="34" charset="0"/>
                <a:cs typeface="Arial" pitchFamily="34" charset="0"/>
              </a:endParaRPr>
            </a:p>
          </p:txBody>
        </p:sp>
        <p:sp>
          <p:nvSpPr>
            <p:cNvPr id="58" name="TextBox 38">
              <a:extLst>
                <a:ext uri="{FF2B5EF4-FFF2-40B4-BE49-F238E27FC236}">
                  <a16:creationId xmlns:a16="http://schemas.microsoft.com/office/drawing/2014/main" id="{7350B646-E35C-98CC-5524-D2D93724CC26}"/>
                </a:ext>
              </a:extLst>
            </p:cNvPr>
            <p:cNvSpPr txBox="1"/>
            <p:nvPr/>
          </p:nvSpPr>
          <p:spPr>
            <a:xfrm>
              <a:off x="2113658" y="4283314"/>
              <a:ext cx="3647459" cy="307776"/>
            </a:xfrm>
            <a:prstGeom prst="rect">
              <a:avLst/>
            </a:prstGeom>
            <a:noFill/>
          </p:spPr>
          <p:txBody>
            <a:bodyPr wrap="square" rtlCol="0">
              <a:spAutoFit/>
            </a:bodyPr>
            <a:lstStyle/>
            <a:p>
              <a:r>
                <a:rPr lang="en-US" altLang="ko-KR" sz="900" b="1" dirty="0">
                  <a:solidFill>
                    <a:schemeClr val="bg1"/>
                  </a:solidFill>
                  <a:latin typeface="Arial" pitchFamily="34" charset="0"/>
                  <a:cs typeface="Arial" pitchFamily="34" charset="0"/>
                </a:rPr>
                <a:t>Therac-25 (1985–1987)</a:t>
              </a:r>
              <a:endParaRPr lang="ko-KR" altLang="en-US" sz="900" b="1" dirty="0">
                <a:solidFill>
                  <a:schemeClr val="bg1"/>
                </a:solidFill>
                <a:latin typeface="Arial" pitchFamily="34" charset="0"/>
                <a:cs typeface="Arial" pitchFamily="34" charset="0"/>
              </a:endParaRPr>
            </a:p>
          </p:txBody>
        </p:sp>
      </p:grpSp>
      <p:sp>
        <p:nvSpPr>
          <p:cNvPr id="36" name="Frame 17">
            <a:extLst>
              <a:ext uri="{FF2B5EF4-FFF2-40B4-BE49-F238E27FC236}">
                <a16:creationId xmlns:a16="http://schemas.microsoft.com/office/drawing/2014/main" id="{1981EFB1-C21C-E198-C584-4C15DE09FD6B}"/>
              </a:ext>
            </a:extLst>
          </p:cNvPr>
          <p:cNvSpPr/>
          <p:nvPr/>
        </p:nvSpPr>
        <p:spPr>
          <a:xfrm>
            <a:off x="4972243" y="1809168"/>
            <a:ext cx="238826" cy="238826"/>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solidFill>
                <a:schemeClr val="tx1"/>
              </a:solidFill>
            </a:endParaRPr>
          </a:p>
        </p:txBody>
      </p:sp>
      <p:sp>
        <p:nvSpPr>
          <p:cNvPr id="69" name="Rectangle: Rounded Corners 21">
            <a:extLst>
              <a:ext uri="{FF2B5EF4-FFF2-40B4-BE49-F238E27FC236}">
                <a16:creationId xmlns:a16="http://schemas.microsoft.com/office/drawing/2014/main" id="{CA42A6AD-23BF-F1A4-021D-B5F9D314C176}"/>
              </a:ext>
            </a:extLst>
          </p:cNvPr>
          <p:cNvSpPr/>
          <p:nvPr/>
        </p:nvSpPr>
        <p:spPr>
          <a:xfrm>
            <a:off x="183898" y="3160588"/>
            <a:ext cx="4320540" cy="1420457"/>
          </a:xfrm>
          <a:prstGeom prst="roundRect">
            <a:avLst>
              <a:gd name="adj" fmla="val 50000"/>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lumMod val="75000"/>
                  <a:lumOff val="25000"/>
                </a:schemeClr>
              </a:solidFill>
            </a:endParaRPr>
          </a:p>
        </p:txBody>
      </p:sp>
      <p:grpSp>
        <p:nvGrpSpPr>
          <p:cNvPr id="70" name="Group 36">
            <a:extLst>
              <a:ext uri="{FF2B5EF4-FFF2-40B4-BE49-F238E27FC236}">
                <a16:creationId xmlns:a16="http://schemas.microsoft.com/office/drawing/2014/main" id="{52898116-2209-FA11-7852-2BB46CF5A456}"/>
              </a:ext>
            </a:extLst>
          </p:cNvPr>
          <p:cNvGrpSpPr/>
          <p:nvPr/>
        </p:nvGrpSpPr>
        <p:grpSpPr>
          <a:xfrm>
            <a:off x="783983" y="3147814"/>
            <a:ext cx="3788017" cy="1497715"/>
            <a:chOff x="2113656" y="4283314"/>
            <a:chExt cx="3713698" cy="1996950"/>
          </a:xfrm>
        </p:grpSpPr>
        <p:sp>
          <p:nvSpPr>
            <p:cNvPr id="71" name="TextBox 37">
              <a:extLst>
                <a:ext uri="{FF2B5EF4-FFF2-40B4-BE49-F238E27FC236}">
                  <a16:creationId xmlns:a16="http://schemas.microsoft.com/office/drawing/2014/main" id="{31FFDDFB-E41D-7AC0-8576-034746488C9A}"/>
                </a:ext>
              </a:extLst>
            </p:cNvPr>
            <p:cNvSpPr txBox="1"/>
            <p:nvPr/>
          </p:nvSpPr>
          <p:spPr>
            <a:xfrm>
              <a:off x="2113656" y="4495163"/>
              <a:ext cx="3713698" cy="1785101"/>
            </a:xfrm>
            <a:prstGeom prst="rect">
              <a:avLst/>
            </a:prstGeom>
            <a:noFill/>
          </p:spPr>
          <p:txBody>
            <a:bodyPr wrap="square" rtlCol="0">
              <a:spAutoFit/>
            </a:bodyPr>
            <a:lstStyle/>
            <a:p>
              <a:r>
                <a:rPr lang="es-MX" altLang="ko-KR" sz="900" b="1" dirty="0">
                  <a:solidFill>
                    <a:schemeClr val="bg1"/>
                  </a:solidFill>
                  <a:latin typeface="Arial" pitchFamily="34" charset="0"/>
                  <a:cs typeface="Arial" pitchFamily="34" charset="0"/>
                </a:rPr>
                <a:t>Qué pasó</a:t>
              </a:r>
              <a:r>
                <a:rPr lang="es-MX" altLang="ko-KR" sz="900" dirty="0">
                  <a:solidFill>
                    <a:schemeClr val="bg1"/>
                  </a:solidFill>
                  <a:latin typeface="Arial" pitchFamily="34" charset="0"/>
                  <a:cs typeface="Arial" pitchFamily="34" charset="0"/>
                </a:rPr>
                <a:t>: El sistema antimisiles </a:t>
              </a:r>
              <a:r>
                <a:rPr lang="es-MX" altLang="ko-KR" sz="900" dirty="0" err="1">
                  <a:solidFill>
                    <a:schemeClr val="bg1"/>
                  </a:solidFill>
                  <a:latin typeface="Arial" pitchFamily="34" charset="0"/>
                  <a:cs typeface="Arial" pitchFamily="34" charset="0"/>
                </a:rPr>
                <a:t>Patriot</a:t>
              </a:r>
              <a:r>
                <a:rPr lang="es-MX" altLang="ko-KR" sz="900" dirty="0">
                  <a:solidFill>
                    <a:schemeClr val="bg1"/>
                  </a:solidFill>
                  <a:latin typeface="Arial" pitchFamily="34" charset="0"/>
                  <a:cs typeface="Arial" pitchFamily="34" charset="0"/>
                </a:rPr>
                <a:t> falló en interceptar un misil </a:t>
              </a:r>
              <a:r>
                <a:rPr lang="es-MX" altLang="ko-KR" sz="900" dirty="0" err="1">
                  <a:solidFill>
                    <a:schemeClr val="bg1"/>
                  </a:solidFill>
                  <a:latin typeface="Arial" pitchFamily="34" charset="0"/>
                  <a:cs typeface="Arial" pitchFamily="34" charset="0"/>
                </a:rPr>
                <a:t>Scud</a:t>
              </a:r>
              <a:r>
                <a:rPr lang="es-MX" altLang="ko-KR" sz="900" dirty="0">
                  <a:solidFill>
                    <a:schemeClr val="bg1"/>
                  </a:solidFill>
                  <a:latin typeface="Arial" pitchFamily="34" charset="0"/>
                  <a:cs typeface="Arial" pitchFamily="34" charset="0"/>
                </a:rPr>
                <a:t> iraquí en </a:t>
              </a:r>
              <a:r>
                <a:rPr lang="es-MX" altLang="ko-KR" sz="900" dirty="0" err="1">
                  <a:solidFill>
                    <a:schemeClr val="bg1"/>
                  </a:solidFill>
                  <a:latin typeface="Arial" pitchFamily="34" charset="0"/>
                  <a:cs typeface="Arial" pitchFamily="34" charset="0"/>
                </a:rPr>
                <a:t>Dhahran</a:t>
              </a:r>
              <a:r>
                <a:rPr lang="es-MX" altLang="ko-KR" sz="900" dirty="0">
                  <a:solidFill>
                    <a:schemeClr val="bg1"/>
                  </a:solidFill>
                  <a:latin typeface="Arial" pitchFamily="34" charset="0"/>
                  <a:cs typeface="Arial" pitchFamily="34" charset="0"/>
                </a:rPr>
                <a:t>, Arabia Saudita.</a:t>
              </a:r>
            </a:p>
            <a:p>
              <a:r>
                <a:rPr lang="es-MX" altLang="ko-KR" sz="900" b="1" dirty="0">
                  <a:solidFill>
                    <a:schemeClr val="bg1"/>
                  </a:solidFill>
                  <a:latin typeface="Arial" pitchFamily="34" charset="0"/>
                  <a:cs typeface="Arial" pitchFamily="34" charset="0"/>
                </a:rPr>
                <a:t>Causa</a:t>
              </a:r>
              <a:r>
                <a:rPr lang="es-MX" altLang="ko-KR" sz="900" dirty="0">
                  <a:solidFill>
                    <a:schemeClr val="bg1"/>
                  </a:solidFill>
                  <a:latin typeface="Arial" pitchFamily="34" charset="0"/>
                  <a:cs typeface="Arial" pitchFamily="34" charset="0"/>
                </a:rPr>
                <a:t>: Un error de redondeo en el cálculo del tiempo (debido a aritmética de punto flotante con precisión limitada).</a:t>
              </a:r>
            </a:p>
            <a:p>
              <a:r>
                <a:rPr lang="es-MX" altLang="ko-KR" sz="900" b="1" dirty="0">
                  <a:solidFill>
                    <a:schemeClr val="bg1"/>
                  </a:solidFill>
                  <a:latin typeface="Arial" pitchFamily="34" charset="0"/>
                  <a:cs typeface="Arial" pitchFamily="34" charset="0"/>
                </a:rPr>
                <a:t>Consecuencias: </a:t>
              </a:r>
              <a:r>
                <a:rPr lang="es-MX" altLang="ko-KR" sz="900" dirty="0">
                  <a:solidFill>
                    <a:schemeClr val="bg1"/>
                  </a:solidFill>
                  <a:latin typeface="Arial" pitchFamily="34" charset="0"/>
                  <a:cs typeface="Arial" pitchFamily="34" charset="0"/>
                </a:rPr>
                <a:t>Murieron 28 soldados estadounidenses.</a:t>
              </a:r>
            </a:p>
            <a:p>
              <a:r>
                <a:rPr lang="es-MX" altLang="ko-KR" sz="900" b="1" dirty="0">
                  <a:solidFill>
                    <a:schemeClr val="bg1"/>
                  </a:solidFill>
                  <a:latin typeface="Arial" pitchFamily="34" charset="0"/>
                  <a:cs typeface="Arial" pitchFamily="34" charset="0"/>
                </a:rPr>
                <a:t>Costo humano y político muy alto.</a:t>
              </a:r>
            </a:p>
            <a:p>
              <a:r>
                <a:rPr lang="es-MX" altLang="ko-KR" sz="900" b="1" dirty="0">
                  <a:solidFill>
                    <a:schemeClr val="bg1"/>
                  </a:solidFill>
                  <a:latin typeface="Arial" pitchFamily="34" charset="0"/>
                  <a:cs typeface="Arial" pitchFamily="34" charset="0"/>
                </a:rPr>
                <a:t>Lección: </a:t>
              </a:r>
              <a:r>
                <a:rPr lang="es-MX" altLang="ko-KR" sz="900" dirty="0">
                  <a:solidFill>
                    <a:schemeClr val="bg1"/>
                  </a:solidFill>
                  <a:latin typeface="Arial" pitchFamily="34" charset="0"/>
                  <a:cs typeface="Arial" pitchFamily="34" charset="0"/>
                </a:rPr>
                <a:t>Pequeños errores numéricos pueden tener consecuencias catastróficas si no se validan los sistemas</a:t>
              </a:r>
            </a:p>
            <a:p>
              <a:r>
                <a:rPr lang="es-MX" altLang="ko-KR" sz="900" dirty="0">
                  <a:solidFill>
                    <a:schemeClr val="bg1"/>
                  </a:solidFill>
                  <a:latin typeface="Arial" pitchFamily="34" charset="0"/>
                  <a:cs typeface="Arial" pitchFamily="34" charset="0"/>
                </a:rPr>
                <a:t>críticos.</a:t>
              </a:r>
              <a:endParaRPr lang="en-US" altLang="ko-KR" sz="900" dirty="0">
                <a:solidFill>
                  <a:schemeClr val="bg1"/>
                </a:solidFill>
                <a:latin typeface="Arial" pitchFamily="34" charset="0"/>
                <a:cs typeface="Arial" pitchFamily="34" charset="0"/>
              </a:endParaRPr>
            </a:p>
          </p:txBody>
        </p:sp>
        <p:sp>
          <p:nvSpPr>
            <p:cNvPr id="72" name="TextBox 38">
              <a:extLst>
                <a:ext uri="{FF2B5EF4-FFF2-40B4-BE49-F238E27FC236}">
                  <a16:creationId xmlns:a16="http://schemas.microsoft.com/office/drawing/2014/main" id="{A8677591-37CE-EC49-0C9B-1CE0B580F64D}"/>
                </a:ext>
              </a:extLst>
            </p:cNvPr>
            <p:cNvSpPr txBox="1"/>
            <p:nvPr/>
          </p:nvSpPr>
          <p:spPr>
            <a:xfrm>
              <a:off x="2113658" y="4283314"/>
              <a:ext cx="3647459" cy="307775"/>
            </a:xfrm>
            <a:prstGeom prst="rect">
              <a:avLst/>
            </a:prstGeom>
            <a:noFill/>
          </p:spPr>
          <p:txBody>
            <a:bodyPr wrap="square" rtlCol="0">
              <a:spAutoFit/>
            </a:bodyPr>
            <a:lstStyle/>
            <a:p>
              <a:r>
                <a:rPr lang="it-IT" altLang="ko-KR" sz="900" b="1" dirty="0">
                  <a:solidFill>
                    <a:schemeClr val="bg1"/>
                  </a:solidFill>
                  <a:latin typeface="Arial" pitchFamily="34" charset="0"/>
                  <a:cs typeface="Arial" pitchFamily="34" charset="0"/>
                </a:rPr>
                <a:t>Patriot Missile Failure (Guerra del Golfo, 1991)</a:t>
              </a:r>
              <a:endParaRPr lang="ko-KR" altLang="en-US" sz="900" b="1" dirty="0">
                <a:solidFill>
                  <a:schemeClr val="bg1"/>
                </a:solidFill>
                <a:latin typeface="Arial" pitchFamily="34" charset="0"/>
                <a:cs typeface="Arial" pitchFamily="34" charset="0"/>
              </a:endParaRPr>
            </a:p>
          </p:txBody>
        </p:sp>
      </p:grpSp>
      <p:sp>
        <p:nvSpPr>
          <p:cNvPr id="73" name="Frame 17">
            <a:extLst>
              <a:ext uri="{FF2B5EF4-FFF2-40B4-BE49-F238E27FC236}">
                <a16:creationId xmlns:a16="http://schemas.microsoft.com/office/drawing/2014/main" id="{0A15D212-3205-C067-EB4C-E20066EC1B3A}"/>
              </a:ext>
            </a:extLst>
          </p:cNvPr>
          <p:cNvSpPr/>
          <p:nvPr/>
        </p:nvSpPr>
        <p:spPr>
          <a:xfrm>
            <a:off x="502729" y="3611564"/>
            <a:ext cx="238826" cy="238826"/>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solidFill>
                <a:schemeClr val="tx1"/>
              </a:solidFill>
            </a:endParaRPr>
          </a:p>
        </p:txBody>
      </p:sp>
      <p:sp>
        <p:nvSpPr>
          <p:cNvPr id="74" name="Rectangle: Rounded Corners 18">
            <a:extLst>
              <a:ext uri="{FF2B5EF4-FFF2-40B4-BE49-F238E27FC236}">
                <a16:creationId xmlns:a16="http://schemas.microsoft.com/office/drawing/2014/main" id="{7C0BA6A5-865C-491B-95D6-CA619256366C}"/>
              </a:ext>
            </a:extLst>
          </p:cNvPr>
          <p:cNvSpPr/>
          <p:nvPr/>
        </p:nvSpPr>
        <p:spPr>
          <a:xfrm>
            <a:off x="4662318" y="3121434"/>
            <a:ext cx="4320540" cy="1420457"/>
          </a:xfrm>
          <a:prstGeom prst="roundRect">
            <a:avLst>
              <a:gd name="adj" fmla="val 50000"/>
            </a:avLst>
          </a:prstGeom>
          <a:solidFill>
            <a:srgbClr val="33A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lumMod val="75000"/>
                  <a:lumOff val="25000"/>
                </a:schemeClr>
              </a:solidFill>
            </a:endParaRPr>
          </a:p>
        </p:txBody>
      </p:sp>
      <p:sp>
        <p:nvSpPr>
          <p:cNvPr id="75" name="Frame 17">
            <a:extLst>
              <a:ext uri="{FF2B5EF4-FFF2-40B4-BE49-F238E27FC236}">
                <a16:creationId xmlns:a16="http://schemas.microsoft.com/office/drawing/2014/main" id="{C1299597-4EA6-6E93-E71E-657D112E2100}"/>
              </a:ext>
            </a:extLst>
          </p:cNvPr>
          <p:cNvSpPr/>
          <p:nvPr/>
        </p:nvSpPr>
        <p:spPr>
          <a:xfrm>
            <a:off x="5022358" y="3619376"/>
            <a:ext cx="238826" cy="238826"/>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350" dirty="0">
              <a:solidFill>
                <a:schemeClr val="tx1"/>
              </a:solidFill>
            </a:endParaRPr>
          </a:p>
        </p:txBody>
      </p:sp>
      <p:grpSp>
        <p:nvGrpSpPr>
          <p:cNvPr id="76" name="Group 33">
            <a:extLst>
              <a:ext uri="{FF2B5EF4-FFF2-40B4-BE49-F238E27FC236}">
                <a16:creationId xmlns:a16="http://schemas.microsoft.com/office/drawing/2014/main" id="{7215ACDB-40B8-339D-BFA5-1B9966627BC6}"/>
              </a:ext>
            </a:extLst>
          </p:cNvPr>
          <p:cNvGrpSpPr/>
          <p:nvPr/>
        </p:nvGrpSpPr>
        <p:grpSpPr>
          <a:xfrm>
            <a:off x="5354432" y="3093620"/>
            <a:ext cx="3569047" cy="1497715"/>
            <a:chOff x="2113657" y="4283314"/>
            <a:chExt cx="3647460" cy="1996950"/>
          </a:xfrm>
        </p:grpSpPr>
        <p:sp>
          <p:nvSpPr>
            <p:cNvPr id="77" name="TextBox 34">
              <a:extLst>
                <a:ext uri="{FF2B5EF4-FFF2-40B4-BE49-F238E27FC236}">
                  <a16:creationId xmlns:a16="http://schemas.microsoft.com/office/drawing/2014/main" id="{AED9CA12-F3B4-5CBD-2834-C7DA0241BB9A}"/>
                </a:ext>
              </a:extLst>
            </p:cNvPr>
            <p:cNvSpPr txBox="1"/>
            <p:nvPr/>
          </p:nvSpPr>
          <p:spPr>
            <a:xfrm>
              <a:off x="2113657" y="4495163"/>
              <a:ext cx="3647455" cy="1785101"/>
            </a:xfrm>
            <a:prstGeom prst="rect">
              <a:avLst/>
            </a:prstGeom>
            <a:noFill/>
          </p:spPr>
          <p:txBody>
            <a:bodyPr wrap="square" rtlCol="0">
              <a:spAutoFit/>
            </a:bodyPr>
            <a:lstStyle/>
            <a:p>
              <a:r>
                <a:rPr lang="es-MX" altLang="ko-KR" sz="900" b="1" dirty="0">
                  <a:solidFill>
                    <a:schemeClr val="bg1"/>
                  </a:solidFill>
                  <a:latin typeface="Arial" pitchFamily="34" charset="0"/>
                  <a:cs typeface="Arial" pitchFamily="34" charset="0"/>
                </a:rPr>
                <a:t>Qué pasó: </a:t>
              </a:r>
              <a:r>
                <a:rPr lang="es-MX" altLang="ko-KR" sz="900" dirty="0">
                  <a:solidFill>
                    <a:schemeClr val="bg1"/>
                  </a:solidFill>
                  <a:latin typeface="Arial" pitchFamily="34" charset="0"/>
                  <a:cs typeface="Arial" pitchFamily="34" charset="0"/>
                </a:rPr>
                <a:t>La nave espacial de la NASA se perdió al intentar orbitar Marte.</a:t>
              </a:r>
            </a:p>
            <a:p>
              <a:r>
                <a:rPr lang="es-MX" altLang="ko-KR" sz="900" b="1" dirty="0">
                  <a:solidFill>
                    <a:schemeClr val="bg1"/>
                  </a:solidFill>
                  <a:latin typeface="Arial" pitchFamily="34" charset="0"/>
                  <a:cs typeface="Arial" pitchFamily="34" charset="0"/>
                </a:rPr>
                <a:t>Causa: </a:t>
              </a:r>
              <a:r>
                <a:rPr lang="es-MX" altLang="ko-KR" sz="900" dirty="0">
                  <a:solidFill>
                    <a:schemeClr val="bg1"/>
                  </a:solidFill>
                  <a:latin typeface="Arial" pitchFamily="34" charset="0"/>
                  <a:cs typeface="Arial" pitchFamily="34" charset="0"/>
                </a:rPr>
                <a:t>Confusión entre unidades: un equipo usó libras-fuerza y otro newtons en los cálculos de empuje.</a:t>
              </a:r>
            </a:p>
            <a:p>
              <a:r>
                <a:rPr lang="es-MX" altLang="ko-KR" sz="900" b="1" dirty="0">
                  <a:solidFill>
                    <a:schemeClr val="bg1"/>
                  </a:solidFill>
                  <a:latin typeface="Arial" pitchFamily="34" charset="0"/>
                  <a:cs typeface="Arial" pitchFamily="34" charset="0"/>
                </a:rPr>
                <a:t>Error de software/interfaz: </a:t>
              </a:r>
              <a:r>
                <a:rPr lang="es-MX" altLang="ko-KR" sz="900" dirty="0">
                  <a:solidFill>
                    <a:schemeClr val="bg1"/>
                  </a:solidFill>
                  <a:latin typeface="Arial" pitchFamily="34" charset="0"/>
                  <a:cs typeface="Arial" pitchFamily="34" charset="0"/>
                </a:rPr>
                <a:t>El sistema no detectó ni corrigió la inconsistencia.</a:t>
              </a:r>
            </a:p>
            <a:p>
              <a:r>
                <a:rPr lang="es-MX" altLang="ko-KR" sz="900" b="1" dirty="0">
                  <a:solidFill>
                    <a:schemeClr val="bg1"/>
                  </a:solidFill>
                  <a:latin typeface="Arial" pitchFamily="34" charset="0"/>
                  <a:cs typeface="Arial" pitchFamily="34" charset="0"/>
                </a:rPr>
                <a:t>Costo: </a:t>
              </a:r>
              <a:r>
                <a:rPr lang="es-MX" altLang="ko-KR" sz="900" dirty="0">
                  <a:solidFill>
                    <a:schemeClr val="bg1"/>
                  </a:solidFill>
                  <a:latin typeface="Arial" pitchFamily="34" charset="0"/>
                  <a:cs typeface="Arial" pitchFamily="34" charset="0"/>
                </a:rPr>
                <a:t>$327 millones perdidos.</a:t>
              </a:r>
            </a:p>
            <a:p>
              <a:r>
                <a:rPr lang="es-MX" altLang="ko-KR" sz="900" b="1" dirty="0">
                  <a:solidFill>
                    <a:schemeClr val="bg1"/>
                  </a:solidFill>
                  <a:latin typeface="Arial" pitchFamily="34" charset="0"/>
                  <a:cs typeface="Arial" pitchFamily="34" charset="0"/>
                </a:rPr>
                <a:t>Lección: </a:t>
              </a:r>
              <a:r>
                <a:rPr lang="es-MX" altLang="ko-KR" sz="900" dirty="0">
                  <a:solidFill>
                    <a:schemeClr val="bg1"/>
                  </a:solidFill>
                  <a:latin typeface="Arial" pitchFamily="34" charset="0"/>
                  <a:cs typeface="Arial" pitchFamily="34" charset="0"/>
                </a:rPr>
                <a:t>Necesidad de estandarización, verificación cruzada y gestión de datos precisa.</a:t>
              </a:r>
              <a:endParaRPr lang="en-US" altLang="ko-KR" sz="900" dirty="0">
                <a:solidFill>
                  <a:schemeClr val="bg1"/>
                </a:solidFill>
                <a:latin typeface="Arial" pitchFamily="34" charset="0"/>
                <a:cs typeface="Arial" pitchFamily="34" charset="0"/>
              </a:endParaRPr>
            </a:p>
          </p:txBody>
        </p:sp>
        <p:sp>
          <p:nvSpPr>
            <p:cNvPr id="78" name="TextBox 35">
              <a:extLst>
                <a:ext uri="{FF2B5EF4-FFF2-40B4-BE49-F238E27FC236}">
                  <a16:creationId xmlns:a16="http://schemas.microsoft.com/office/drawing/2014/main" id="{BCFC9168-5077-AAFF-1D40-3F2B86783575}"/>
                </a:ext>
              </a:extLst>
            </p:cNvPr>
            <p:cNvSpPr txBox="1"/>
            <p:nvPr/>
          </p:nvSpPr>
          <p:spPr>
            <a:xfrm>
              <a:off x="2113658" y="4283314"/>
              <a:ext cx="3647459" cy="307776"/>
            </a:xfrm>
            <a:prstGeom prst="rect">
              <a:avLst/>
            </a:prstGeom>
            <a:noFill/>
          </p:spPr>
          <p:txBody>
            <a:bodyPr wrap="square" rtlCol="0">
              <a:spAutoFit/>
            </a:bodyPr>
            <a:lstStyle/>
            <a:p>
              <a:r>
                <a:rPr lang="en-US" altLang="ko-KR" sz="900" b="1" dirty="0">
                  <a:solidFill>
                    <a:schemeClr val="bg1"/>
                  </a:solidFill>
                  <a:latin typeface="Arial" pitchFamily="34" charset="0"/>
                  <a:cs typeface="Arial" pitchFamily="34" charset="0"/>
                </a:rPr>
                <a:t>Mars Climate Orbiter (1999))</a:t>
              </a:r>
              <a:endParaRPr lang="ko-KR" altLang="en-US" sz="900" b="1" dirty="0">
                <a:solidFill>
                  <a:schemeClr val="bg1"/>
                </a:solidFill>
                <a:latin typeface="Arial" pitchFamily="34" charset="0"/>
                <a:cs typeface="Arial" pitchFamily="34" charset="0"/>
              </a:endParaRPr>
            </a:p>
          </p:txBody>
        </p:sp>
      </p:grpSp>
    </p:spTree>
    <p:extLst>
      <p:ext uri="{BB962C8B-B14F-4D97-AF65-F5344CB8AC3E}">
        <p14:creationId xmlns:p14="http://schemas.microsoft.com/office/powerpoint/2010/main" val="2614056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AB72-215C-7817-FE5A-B19D42B70C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C05324-7E95-8B01-FE6B-6E37F7A4CAD9}"/>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2050" name="Picture 2">
            <a:extLst>
              <a:ext uri="{FF2B5EF4-FFF2-40B4-BE49-F238E27FC236}">
                <a16:creationId xmlns:a16="http://schemas.microsoft.com/office/drawing/2014/main" id="{30421AF3-3AA2-CDB2-404F-35FC45456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96919"/>
            <a:ext cx="9144000" cy="4246582"/>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ignal with solid fill">
            <a:extLst>
              <a:ext uri="{FF2B5EF4-FFF2-40B4-BE49-F238E27FC236}">
                <a16:creationId xmlns:a16="http://schemas.microsoft.com/office/drawing/2014/main" id="{B93BFCB4-762E-BBCD-FC85-F57B2C1D21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0167" y="852896"/>
            <a:ext cx="554462" cy="396044"/>
          </a:xfrm>
          <a:prstGeom prst="rect">
            <a:avLst/>
          </a:prstGeom>
        </p:spPr>
      </p:pic>
    </p:spTree>
    <p:extLst>
      <p:ext uri="{BB962C8B-B14F-4D97-AF65-F5344CB8AC3E}">
        <p14:creationId xmlns:p14="http://schemas.microsoft.com/office/powerpoint/2010/main" val="3730488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10EF-19A1-BB0B-F5A4-1CC23CDC55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4EC96D-509B-FFCC-8B48-8C538D4E7870}"/>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5" name="Picture 4" descr="A graph with lines and numbers&#10;&#10;AI-generated content may be incorrect.">
            <a:extLst>
              <a:ext uri="{FF2B5EF4-FFF2-40B4-BE49-F238E27FC236}">
                <a16:creationId xmlns:a16="http://schemas.microsoft.com/office/drawing/2014/main" id="{8A60DCC4-84FA-2EEF-04A4-6111464A1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7979"/>
            <a:ext cx="9144000" cy="4445521"/>
          </a:xfrm>
          <a:prstGeom prst="rect">
            <a:avLst/>
          </a:prstGeom>
        </p:spPr>
      </p:pic>
    </p:spTree>
    <p:extLst>
      <p:ext uri="{BB962C8B-B14F-4D97-AF65-F5344CB8AC3E}">
        <p14:creationId xmlns:p14="http://schemas.microsoft.com/office/powerpoint/2010/main" val="979126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F9C26-D313-7C70-3D75-E77A5B9161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7A7B53-FB17-5B93-AFA8-4ABAF055C7D4}"/>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9" name="Picture 8">
            <a:extLst>
              <a:ext uri="{FF2B5EF4-FFF2-40B4-BE49-F238E27FC236}">
                <a16:creationId xmlns:a16="http://schemas.microsoft.com/office/drawing/2014/main" id="{1CE8CA6D-CE16-A672-02DB-BD60A8158AE2}"/>
              </a:ext>
            </a:extLst>
          </p:cNvPr>
          <p:cNvPicPr>
            <a:picLocks noChangeAspect="1"/>
          </p:cNvPicPr>
          <p:nvPr/>
        </p:nvPicPr>
        <p:blipFill>
          <a:blip r:embed="rId2"/>
          <a:stretch>
            <a:fillRect/>
          </a:stretch>
        </p:blipFill>
        <p:spPr>
          <a:xfrm>
            <a:off x="0" y="1851670"/>
            <a:ext cx="9144000" cy="175993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6769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8B00-A985-9189-5DE0-0C503BF32F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86491F-FDF1-C882-F891-BF38F0DCBA65}"/>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2" name="TextBox 1">
            <a:extLst>
              <a:ext uri="{FF2B5EF4-FFF2-40B4-BE49-F238E27FC236}">
                <a16:creationId xmlns:a16="http://schemas.microsoft.com/office/drawing/2014/main" id="{CADA1C2A-AFE1-4A94-43DC-F5109C741BC2}"/>
              </a:ext>
            </a:extLst>
          </p:cNvPr>
          <p:cNvSpPr txBox="1"/>
          <p:nvPr/>
        </p:nvSpPr>
        <p:spPr>
          <a:xfrm>
            <a:off x="971601" y="1203598"/>
            <a:ext cx="7560839" cy="3662541"/>
          </a:xfrm>
          <a:prstGeom prst="rect">
            <a:avLst/>
          </a:prstGeom>
          <a:noFill/>
        </p:spPr>
        <p:txBody>
          <a:bodyPr wrap="square" rtlCol="0">
            <a:spAutoFit/>
          </a:bodyPr>
          <a:lstStyle/>
          <a:p>
            <a:pPr algn="just" latinLnBrk="0">
              <a:spcBef>
                <a:spcPct val="20000"/>
              </a:spcBef>
            </a:pPr>
            <a:endParaRPr lang="es-MX" sz="2000" dirty="0">
              <a:solidFill>
                <a:schemeClr val="tx1">
                  <a:lumMod val="75000"/>
                  <a:lumOff val="25000"/>
                </a:schemeClr>
              </a:solidFill>
              <a:latin typeface="Arial Narrow" panose="020B0606020202030204" pitchFamily="34" charset="0"/>
            </a:endParaRPr>
          </a:p>
          <a:p>
            <a:pPr algn="just" latinLnBrk="0">
              <a:spcBef>
                <a:spcPct val="20000"/>
              </a:spcBef>
            </a:pPr>
            <a:endParaRPr lang="es-MX" sz="2000" dirty="0">
              <a:solidFill>
                <a:schemeClr val="tx1">
                  <a:lumMod val="75000"/>
                  <a:lumOff val="25000"/>
                </a:schemeClr>
              </a:solidFill>
              <a:latin typeface="Arial Narrow" panose="020B0606020202030204" pitchFamily="34" charset="0"/>
            </a:endParaRPr>
          </a:p>
          <a:p>
            <a:pPr algn="just" latinLnBrk="0">
              <a:spcBef>
                <a:spcPct val="20000"/>
              </a:spcBef>
            </a:pPr>
            <a:r>
              <a:rPr lang="es-MX" sz="2000" dirty="0">
                <a:solidFill>
                  <a:schemeClr val="tx1">
                    <a:lumMod val="75000"/>
                    <a:lumOff val="25000"/>
                  </a:schemeClr>
                </a:solidFill>
                <a:latin typeface="Arial Narrow" panose="020B0606020202030204" pitchFamily="34" charset="0"/>
              </a:rPr>
              <a:t>Los requisitos de Software son la base de las medidas de calidad</a:t>
            </a:r>
          </a:p>
          <a:p>
            <a:pPr algn="just" latinLnBrk="0">
              <a:spcBef>
                <a:spcPct val="20000"/>
              </a:spcBef>
            </a:pPr>
            <a:endParaRPr lang="es-MX" sz="2000" dirty="0">
              <a:solidFill>
                <a:schemeClr val="tx1">
                  <a:lumMod val="75000"/>
                  <a:lumOff val="25000"/>
                </a:schemeClr>
              </a:solidFill>
              <a:latin typeface="Arial Narrow" panose="020B0606020202030204" pitchFamily="34" charset="0"/>
            </a:endParaRPr>
          </a:p>
          <a:p>
            <a:pPr algn="just" latinLnBrk="0">
              <a:spcBef>
                <a:spcPct val="20000"/>
              </a:spcBef>
            </a:pPr>
            <a:r>
              <a:rPr lang="es-MX" sz="2000" dirty="0">
                <a:solidFill>
                  <a:schemeClr val="tx1">
                    <a:lumMod val="75000"/>
                    <a:lumOff val="25000"/>
                  </a:schemeClr>
                </a:solidFill>
                <a:latin typeface="Arial Narrow" panose="020B0606020202030204" pitchFamily="34" charset="0"/>
              </a:rPr>
              <a:t>Impacto estratégico. Oportunidad de ventaja competitiva.</a:t>
            </a:r>
          </a:p>
          <a:p>
            <a:pPr algn="just" latinLnBrk="0">
              <a:spcBef>
                <a:spcPct val="20000"/>
              </a:spcBef>
            </a:pPr>
            <a:endParaRPr lang="es-MX" sz="2000" dirty="0">
              <a:solidFill>
                <a:schemeClr val="tx1">
                  <a:lumMod val="75000"/>
                  <a:lumOff val="25000"/>
                </a:schemeClr>
              </a:solidFill>
              <a:latin typeface="Arial Narrow" panose="020B0606020202030204" pitchFamily="34" charset="0"/>
            </a:endParaRPr>
          </a:p>
          <a:p>
            <a:pPr algn="just" latinLnBrk="0">
              <a:spcBef>
                <a:spcPct val="20000"/>
              </a:spcBef>
            </a:pPr>
            <a:r>
              <a:rPr lang="es-MX" sz="2000" dirty="0">
                <a:solidFill>
                  <a:schemeClr val="tx1">
                    <a:lumMod val="75000"/>
                    <a:lumOff val="25000"/>
                  </a:schemeClr>
                </a:solidFill>
                <a:latin typeface="Arial Narrow" panose="020B0606020202030204" pitchFamily="34" charset="0"/>
              </a:rPr>
              <a:t>Planificación, fijación de objetivos, coordinación, formación y adaptación de toda la organización.</a:t>
            </a:r>
          </a:p>
          <a:p>
            <a:pPr algn="just" latinLnBrk="0">
              <a:spcBef>
                <a:spcPct val="20000"/>
              </a:spcBef>
            </a:pPr>
            <a:endParaRPr lang="es-MX" sz="2000" dirty="0">
              <a:solidFill>
                <a:schemeClr val="tx1">
                  <a:lumMod val="75000"/>
                  <a:lumOff val="25000"/>
                </a:schemeClr>
              </a:solidFill>
              <a:latin typeface="Arial Narrow" panose="020B0606020202030204" pitchFamily="34" charset="0"/>
            </a:endParaRPr>
          </a:p>
          <a:p>
            <a:pPr algn="just" latinLnBrk="0">
              <a:spcBef>
                <a:spcPct val="20000"/>
              </a:spcBef>
            </a:pPr>
            <a:r>
              <a:rPr lang="es-MX" sz="2000" dirty="0">
                <a:solidFill>
                  <a:schemeClr val="tx1">
                    <a:lumMod val="75000"/>
                    <a:lumOff val="25000"/>
                  </a:schemeClr>
                </a:solidFill>
                <a:latin typeface="Arial Narrow" panose="020B0606020202030204" pitchFamily="34" charset="0"/>
              </a:rPr>
              <a:t>“Una filosofía, una cultura, una estrategia, un estilo de gerencia de la empresa”.</a:t>
            </a:r>
          </a:p>
        </p:txBody>
      </p:sp>
      <p:sp>
        <p:nvSpPr>
          <p:cNvPr id="5" name="Frame 17">
            <a:extLst>
              <a:ext uri="{FF2B5EF4-FFF2-40B4-BE49-F238E27FC236}">
                <a16:creationId xmlns:a16="http://schemas.microsoft.com/office/drawing/2014/main" id="{6B082E10-F96C-44A9-6A69-6862A6F64845}"/>
              </a:ext>
            </a:extLst>
          </p:cNvPr>
          <p:cNvSpPr/>
          <p:nvPr/>
        </p:nvSpPr>
        <p:spPr>
          <a:xfrm>
            <a:off x="705781" y="2002036"/>
            <a:ext cx="265820" cy="265820"/>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6" name="Frame 17">
            <a:extLst>
              <a:ext uri="{FF2B5EF4-FFF2-40B4-BE49-F238E27FC236}">
                <a16:creationId xmlns:a16="http://schemas.microsoft.com/office/drawing/2014/main" id="{D7D426D5-2D73-7EA2-1D4B-5AEA54D82C03}"/>
              </a:ext>
            </a:extLst>
          </p:cNvPr>
          <p:cNvSpPr/>
          <p:nvPr/>
        </p:nvSpPr>
        <p:spPr>
          <a:xfrm>
            <a:off x="682911" y="2723408"/>
            <a:ext cx="265820" cy="265820"/>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7" name="Frame 17">
            <a:extLst>
              <a:ext uri="{FF2B5EF4-FFF2-40B4-BE49-F238E27FC236}">
                <a16:creationId xmlns:a16="http://schemas.microsoft.com/office/drawing/2014/main" id="{76CA577E-DA87-69D8-4003-F27B50E366FB}"/>
              </a:ext>
            </a:extLst>
          </p:cNvPr>
          <p:cNvSpPr/>
          <p:nvPr/>
        </p:nvSpPr>
        <p:spPr>
          <a:xfrm>
            <a:off x="682911" y="3579862"/>
            <a:ext cx="265820" cy="265820"/>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8" name="Frame 17">
            <a:extLst>
              <a:ext uri="{FF2B5EF4-FFF2-40B4-BE49-F238E27FC236}">
                <a16:creationId xmlns:a16="http://schemas.microsoft.com/office/drawing/2014/main" id="{82BC13F6-C3A5-1D02-7203-DB43A9DC506D}"/>
              </a:ext>
            </a:extLst>
          </p:cNvPr>
          <p:cNvSpPr/>
          <p:nvPr/>
        </p:nvSpPr>
        <p:spPr>
          <a:xfrm>
            <a:off x="682911" y="4492548"/>
            <a:ext cx="265820" cy="265820"/>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10" name="TextBox 16">
            <a:extLst>
              <a:ext uri="{FF2B5EF4-FFF2-40B4-BE49-F238E27FC236}">
                <a16:creationId xmlns:a16="http://schemas.microsoft.com/office/drawing/2014/main" id="{4C880B8B-640C-4990-FF8F-3A9A2548B206}"/>
              </a:ext>
            </a:extLst>
          </p:cNvPr>
          <p:cNvSpPr txBox="1"/>
          <p:nvPr/>
        </p:nvSpPr>
        <p:spPr>
          <a:xfrm>
            <a:off x="1165114" y="1111470"/>
            <a:ext cx="6813772" cy="519351"/>
          </a:xfrm>
          <a:prstGeom prst="roundRect">
            <a:avLst>
              <a:gd name="adj" fmla="val 50000"/>
            </a:avLst>
          </a:prstGeom>
          <a:solidFill>
            <a:schemeClr val="accent1">
              <a:lumMod val="75000"/>
            </a:schemeClr>
          </a:solidFill>
        </p:spPr>
        <p:txBody>
          <a:bodyPr wrap="square" rtlCol="0" anchor="ctr">
            <a:spAutoFit/>
          </a:bodyPr>
          <a:lstStyle/>
          <a:p>
            <a:pPr algn="ctr"/>
            <a:r>
              <a:rPr lang="es-MX" altLang="ko-KR" b="1" dirty="0">
                <a:solidFill>
                  <a:schemeClr val="bg1"/>
                </a:solidFill>
              </a:rPr>
              <a:t>Hay que tomar en cuenta los siguientes puntos </a:t>
            </a:r>
            <a:endParaRPr lang="ko-KR" altLang="en-US" b="1" dirty="0">
              <a:solidFill>
                <a:schemeClr val="bg1"/>
              </a:solidFill>
            </a:endParaRPr>
          </a:p>
        </p:txBody>
      </p:sp>
    </p:spTree>
    <p:extLst>
      <p:ext uri="{BB962C8B-B14F-4D97-AF65-F5344CB8AC3E}">
        <p14:creationId xmlns:p14="http://schemas.microsoft.com/office/powerpoint/2010/main" val="2734610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4AE2-903B-E44A-41BC-00883FC45C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3DC127-31E5-F246-8380-841245701A59}"/>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2" name="TextBox 1">
            <a:extLst>
              <a:ext uri="{FF2B5EF4-FFF2-40B4-BE49-F238E27FC236}">
                <a16:creationId xmlns:a16="http://schemas.microsoft.com/office/drawing/2014/main" id="{447D7E4D-EAAD-A2AE-9D96-171BF44F5F71}"/>
              </a:ext>
            </a:extLst>
          </p:cNvPr>
          <p:cNvSpPr txBox="1"/>
          <p:nvPr/>
        </p:nvSpPr>
        <p:spPr>
          <a:xfrm>
            <a:off x="683568" y="1694587"/>
            <a:ext cx="7704856" cy="1754326"/>
          </a:xfrm>
          <a:prstGeom prst="rect">
            <a:avLst/>
          </a:prstGeom>
          <a:noFill/>
        </p:spPr>
        <p:txBody>
          <a:bodyPr wrap="square" rtlCol="0">
            <a:spAutoFit/>
          </a:bodyPr>
          <a:lstStyle/>
          <a:p>
            <a:pPr algn="just" latinLnBrk="0">
              <a:spcBef>
                <a:spcPct val="20000"/>
              </a:spcBef>
            </a:pPr>
            <a:r>
              <a:rPr lang="es-MX" sz="2000" dirty="0">
                <a:solidFill>
                  <a:schemeClr val="tx1">
                    <a:lumMod val="75000"/>
                    <a:lumOff val="25000"/>
                  </a:schemeClr>
                </a:solidFill>
                <a:latin typeface="Arial Narrow" panose="020B0606020202030204" pitchFamily="34" charset="0"/>
              </a:rPr>
              <a:t>En forma similar al concepto de "</a:t>
            </a:r>
            <a:r>
              <a:rPr lang="es-MX" sz="2000" b="1" dirty="0">
                <a:solidFill>
                  <a:schemeClr val="tx1">
                    <a:lumMod val="75000"/>
                    <a:lumOff val="25000"/>
                  </a:schemeClr>
                </a:solidFill>
                <a:latin typeface="Arial Narrow" panose="020B0606020202030204" pitchFamily="34" charset="0"/>
              </a:rPr>
              <a:t>calidad" </a:t>
            </a:r>
            <a:r>
              <a:rPr lang="es-MX" sz="2000" dirty="0">
                <a:solidFill>
                  <a:schemeClr val="tx1">
                    <a:lumMod val="75000"/>
                    <a:lumOff val="25000"/>
                  </a:schemeClr>
                </a:solidFill>
                <a:latin typeface="Arial Narrow" panose="020B0606020202030204" pitchFamily="34" charset="0"/>
              </a:rPr>
              <a:t>el término </a:t>
            </a:r>
            <a:r>
              <a:rPr lang="es-MX" sz="2000" b="1" dirty="0">
                <a:solidFill>
                  <a:schemeClr val="tx1">
                    <a:lumMod val="75000"/>
                    <a:lumOff val="25000"/>
                  </a:schemeClr>
                </a:solidFill>
                <a:latin typeface="Arial Narrow" panose="020B0606020202030204" pitchFamily="34" charset="0"/>
              </a:rPr>
              <a:t>"costo" </a:t>
            </a:r>
            <a:r>
              <a:rPr lang="es-MX" sz="2000" dirty="0">
                <a:solidFill>
                  <a:schemeClr val="tx1">
                    <a:lumMod val="75000"/>
                    <a:lumOff val="25000"/>
                  </a:schemeClr>
                </a:solidFill>
                <a:latin typeface="Arial Narrow" panose="020B0606020202030204" pitchFamily="34" charset="0"/>
              </a:rPr>
              <a:t>también recibe distintas acepciones, y no siempre se emplea en forma correcta.</a:t>
            </a:r>
          </a:p>
          <a:p>
            <a:pPr algn="just" latinLnBrk="0">
              <a:spcBef>
                <a:spcPct val="20000"/>
              </a:spcBef>
            </a:pPr>
            <a:r>
              <a:rPr lang="es-MX" sz="2000" dirty="0">
                <a:solidFill>
                  <a:schemeClr val="tx1">
                    <a:lumMod val="75000"/>
                    <a:lumOff val="25000"/>
                  </a:schemeClr>
                </a:solidFill>
                <a:latin typeface="Arial Narrow" panose="020B0606020202030204" pitchFamily="34" charset="0"/>
              </a:rPr>
              <a:t>Podría tomarse como la definición que describe al término </a:t>
            </a:r>
            <a:r>
              <a:rPr lang="es-MX" sz="2000" b="1" dirty="0">
                <a:solidFill>
                  <a:schemeClr val="tx1">
                    <a:lumMod val="75000"/>
                    <a:lumOff val="25000"/>
                  </a:schemeClr>
                </a:solidFill>
                <a:latin typeface="Arial Narrow" panose="020B0606020202030204" pitchFamily="34" charset="0"/>
              </a:rPr>
              <a:t>"costo" </a:t>
            </a:r>
            <a:r>
              <a:rPr lang="es-MX" sz="2000" dirty="0">
                <a:solidFill>
                  <a:schemeClr val="tx1">
                    <a:lumMod val="75000"/>
                    <a:lumOff val="25000"/>
                  </a:schemeClr>
                </a:solidFill>
                <a:latin typeface="Arial Narrow" panose="020B0606020202030204" pitchFamily="34" charset="0"/>
              </a:rPr>
              <a:t>a la siguiente</a:t>
            </a:r>
          </a:p>
          <a:p>
            <a:pPr algn="just" latinLnBrk="0">
              <a:spcBef>
                <a:spcPct val="20000"/>
              </a:spcBef>
            </a:pPr>
            <a:r>
              <a:rPr lang="es-MX" sz="2000" dirty="0">
                <a:solidFill>
                  <a:schemeClr val="tx1">
                    <a:lumMod val="75000"/>
                    <a:lumOff val="25000"/>
                  </a:schemeClr>
                </a:solidFill>
                <a:latin typeface="Arial Narrow" panose="020B0606020202030204" pitchFamily="34" charset="0"/>
              </a:rPr>
              <a:t>expresión: </a:t>
            </a:r>
            <a:r>
              <a:rPr lang="es-MX" sz="2000" i="1" dirty="0">
                <a:solidFill>
                  <a:schemeClr val="tx1">
                    <a:lumMod val="75000"/>
                    <a:lumOff val="25000"/>
                  </a:schemeClr>
                </a:solidFill>
                <a:latin typeface="Arial Narrow" panose="020B0606020202030204" pitchFamily="34" charset="0"/>
              </a:rPr>
              <a:t>“un costo es el esfuerzo económico que debe realizarse para alcanzar un objetivo".</a:t>
            </a:r>
          </a:p>
        </p:txBody>
      </p:sp>
      <p:sp>
        <p:nvSpPr>
          <p:cNvPr id="10" name="TextBox 16">
            <a:extLst>
              <a:ext uri="{FF2B5EF4-FFF2-40B4-BE49-F238E27FC236}">
                <a16:creationId xmlns:a16="http://schemas.microsoft.com/office/drawing/2014/main" id="{2C5CB09D-49D1-937C-D6D2-01B2116C23E4}"/>
              </a:ext>
            </a:extLst>
          </p:cNvPr>
          <p:cNvSpPr txBox="1"/>
          <p:nvPr/>
        </p:nvSpPr>
        <p:spPr>
          <a:xfrm>
            <a:off x="1165114" y="987574"/>
            <a:ext cx="6813772" cy="519351"/>
          </a:xfrm>
          <a:prstGeom prst="roundRect">
            <a:avLst>
              <a:gd name="adj" fmla="val 50000"/>
            </a:avLst>
          </a:prstGeom>
          <a:solidFill>
            <a:schemeClr val="accent5">
              <a:lumMod val="75000"/>
            </a:schemeClr>
          </a:solidFill>
        </p:spPr>
        <p:txBody>
          <a:bodyPr wrap="square" rtlCol="0" anchor="ctr">
            <a:spAutoFit/>
          </a:bodyPr>
          <a:lstStyle/>
          <a:p>
            <a:pPr algn="ctr"/>
            <a:r>
              <a:rPr lang="es-MX" altLang="ko-KR" b="1" dirty="0">
                <a:solidFill>
                  <a:schemeClr val="bg1"/>
                </a:solidFill>
              </a:rPr>
              <a:t>Definición del término "costo"</a:t>
            </a:r>
          </a:p>
        </p:txBody>
      </p:sp>
      <p:pic>
        <p:nvPicPr>
          <p:cNvPr id="9" name="Picture 8" descr="A cartoon of a seesaw&#10;&#10;AI-generated content may be incorrect.">
            <a:extLst>
              <a:ext uri="{FF2B5EF4-FFF2-40B4-BE49-F238E27FC236}">
                <a16:creationId xmlns:a16="http://schemas.microsoft.com/office/drawing/2014/main" id="{E439E43B-617F-CDD5-3F33-07357A50E0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4347" y="3281148"/>
            <a:ext cx="5035306" cy="1749556"/>
          </a:xfrm>
          <a:prstGeom prst="rect">
            <a:avLst/>
          </a:prstGeom>
        </p:spPr>
      </p:pic>
    </p:spTree>
    <p:extLst>
      <p:ext uri="{BB962C8B-B14F-4D97-AF65-F5344CB8AC3E}">
        <p14:creationId xmlns:p14="http://schemas.microsoft.com/office/powerpoint/2010/main" val="2289000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F7AA9-F65F-3CE1-E5E1-FD8673F099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0A9B63-4EAF-E628-849B-12E54085847F}"/>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2" name="TextBox 1">
            <a:extLst>
              <a:ext uri="{FF2B5EF4-FFF2-40B4-BE49-F238E27FC236}">
                <a16:creationId xmlns:a16="http://schemas.microsoft.com/office/drawing/2014/main" id="{A32D039A-02A3-F66F-CCCE-7175DC483526}"/>
              </a:ext>
            </a:extLst>
          </p:cNvPr>
          <p:cNvSpPr txBox="1"/>
          <p:nvPr/>
        </p:nvSpPr>
        <p:spPr>
          <a:xfrm>
            <a:off x="539552" y="1626652"/>
            <a:ext cx="8136904" cy="3440942"/>
          </a:xfrm>
          <a:prstGeom prst="rect">
            <a:avLst/>
          </a:prstGeom>
          <a:noFill/>
        </p:spPr>
        <p:txBody>
          <a:bodyPr wrap="square" rtlCol="0">
            <a:spAutoFit/>
          </a:bodyPr>
          <a:lstStyle/>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 las pruebas: </a:t>
            </a:r>
            <a:r>
              <a:rPr lang="es-MX" sz="1600" dirty="0">
                <a:solidFill>
                  <a:schemeClr val="tx1">
                    <a:lumMod val="75000"/>
                    <a:lumOff val="25000"/>
                  </a:schemeClr>
                </a:solidFill>
                <a:latin typeface="Arial Narrow" panose="020B0606020202030204" pitchFamily="34" charset="0"/>
              </a:rPr>
              <a:t>Costes derivados de probar el software para evitar que los defectos lleguen a producción.</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Prevención: </a:t>
            </a:r>
            <a:r>
              <a:rPr lang="es-MX" sz="1600" dirty="0">
                <a:solidFill>
                  <a:schemeClr val="tx1">
                    <a:lumMod val="75000"/>
                    <a:lumOff val="25000"/>
                  </a:schemeClr>
                </a:solidFill>
                <a:latin typeface="Arial Narrow" panose="020B0606020202030204" pitchFamily="34" charset="0"/>
              </a:rPr>
              <a:t>Costes derivados de mejorar los procesos de desarrollo (herramientas, técnicas, arquitectura, métodos, prácticas) y de capacitación de las personas (formación) para minimizar la inyección de defectos en el software.</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del fallo interno (retrabajo): </a:t>
            </a:r>
            <a:r>
              <a:rPr lang="es-MX" sz="1600" dirty="0">
                <a:solidFill>
                  <a:schemeClr val="tx1">
                    <a:lumMod val="75000"/>
                    <a:lumOff val="25000"/>
                  </a:schemeClr>
                </a:solidFill>
                <a:latin typeface="Arial Narrow" panose="020B0606020202030204" pitchFamily="34" charset="0"/>
              </a:rPr>
              <a:t>Costes de búsqueda y corrección del defecto así como repetición de las pruebas derivados de haber encontrado un defecto antes de liberar el software. No sólo hay que tener en cuenta el coste de repetir la prueba que originó el fallo (</a:t>
            </a:r>
            <a:r>
              <a:rPr lang="es-MX" sz="1600" dirty="0" err="1">
                <a:solidFill>
                  <a:schemeClr val="tx1">
                    <a:lumMod val="75000"/>
                    <a:lumOff val="25000"/>
                  </a:schemeClr>
                </a:solidFill>
                <a:latin typeface="Arial Narrow" panose="020B0606020202030204" pitchFamily="34" charset="0"/>
              </a:rPr>
              <a:t>retest</a:t>
            </a:r>
            <a:r>
              <a:rPr lang="es-MX" sz="1600" dirty="0">
                <a:solidFill>
                  <a:schemeClr val="tx1">
                    <a:lumMod val="75000"/>
                    <a:lumOff val="25000"/>
                  </a:schemeClr>
                </a:solidFill>
                <a:latin typeface="Arial Narrow" panose="020B0606020202030204" pitchFamily="34" charset="0"/>
              </a:rPr>
              <a:t>) sino la posible regresión de pruebas y los costes asociados a un nuevo paso a producción que suelen ser los mayor cuantía.</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del fallo en producción: </a:t>
            </a:r>
            <a:r>
              <a:rPr lang="es-MX" sz="1600" dirty="0">
                <a:solidFill>
                  <a:schemeClr val="tx1">
                    <a:lumMod val="75000"/>
                    <a:lumOff val="25000"/>
                  </a:schemeClr>
                </a:solidFill>
                <a:latin typeface="Arial Narrow" panose="020B0606020202030204" pitchFamily="34" charset="0"/>
              </a:rPr>
              <a:t>En este escenario no sólo hay que sumar los costes equivalentes al fallo interno, sino el daño producido al cliente, usuario o el propio negocio donde se utiliza el software. La pérdida de confianza y las posibles penalizaciones o sanciones suelen ser los mayores costes de este tipo de fallos.</a:t>
            </a:r>
          </a:p>
        </p:txBody>
      </p:sp>
      <p:sp>
        <p:nvSpPr>
          <p:cNvPr id="10" name="TextBox 16">
            <a:extLst>
              <a:ext uri="{FF2B5EF4-FFF2-40B4-BE49-F238E27FC236}">
                <a16:creationId xmlns:a16="http://schemas.microsoft.com/office/drawing/2014/main" id="{5894B9EF-F75C-4921-7292-9AC66D464336}"/>
              </a:ext>
            </a:extLst>
          </p:cNvPr>
          <p:cNvSpPr txBox="1"/>
          <p:nvPr/>
        </p:nvSpPr>
        <p:spPr>
          <a:xfrm>
            <a:off x="107504" y="1017523"/>
            <a:ext cx="8928992" cy="476071"/>
          </a:xfrm>
          <a:prstGeom prst="roundRect">
            <a:avLst>
              <a:gd name="adj" fmla="val 50000"/>
            </a:avLst>
          </a:prstGeom>
          <a:solidFill>
            <a:schemeClr val="tx2">
              <a:lumMod val="75000"/>
            </a:schemeClr>
          </a:solidFill>
        </p:spPr>
        <p:txBody>
          <a:bodyPr wrap="square" rtlCol="0" anchor="ctr">
            <a:spAutoFit/>
          </a:bodyPr>
          <a:lstStyle/>
          <a:p>
            <a:pPr algn="ctr"/>
            <a:r>
              <a:rPr lang="es-MX" altLang="ko-KR" sz="1600" b="1" dirty="0">
                <a:solidFill>
                  <a:schemeClr val="bg1"/>
                </a:solidFill>
              </a:rPr>
              <a:t>Aplicando estos conceptos al sector del desarrollo software este análisis quedaría:</a:t>
            </a:r>
          </a:p>
        </p:txBody>
      </p:sp>
      <p:sp>
        <p:nvSpPr>
          <p:cNvPr id="4" name="Isosceles Triangle 13">
            <a:extLst>
              <a:ext uri="{FF2B5EF4-FFF2-40B4-BE49-F238E27FC236}">
                <a16:creationId xmlns:a16="http://schemas.microsoft.com/office/drawing/2014/main" id="{78FDDA85-33BE-D168-5E85-57B32FE4B9D9}"/>
              </a:ext>
            </a:extLst>
          </p:cNvPr>
          <p:cNvSpPr/>
          <p:nvPr/>
        </p:nvSpPr>
        <p:spPr>
          <a:xfrm rot="13422650">
            <a:off x="227806" y="1602964"/>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5" name="Isosceles Triangle 13">
            <a:extLst>
              <a:ext uri="{FF2B5EF4-FFF2-40B4-BE49-F238E27FC236}">
                <a16:creationId xmlns:a16="http://schemas.microsoft.com/office/drawing/2014/main" id="{58B6046F-7961-9075-60D4-275412B48443}"/>
              </a:ext>
            </a:extLst>
          </p:cNvPr>
          <p:cNvSpPr/>
          <p:nvPr/>
        </p:nvSpPr>
        <p:spPr>
          <a:xfrm rot="13422650">
            <a:off x="201677" y="2135762"/>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6" name="Isosceles Triangle 13">
            <a:extLst>
              <a:ext uri="{FF2B5EF4-FFF2-40B4-BE49-F238E27FC236}">
                <a16:creationId xmlns:a16="http://schemas.microsoft.com/office/drawing/2014/main" id="{D4C15854-B3AA-3D19-0C13-02EC8A279947}"/>
              </a:ext>
            </a:extLst>
          </p:cNvPr>
          <p:cNvSpPr/>
          <p:nvPr/>
        </p:nvSpPr>
        <p:spPr>
          <a:xfrm rot="13422650">
            <a:off x="200780" y="2958861"/>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7" name="Isosceles Triangle 13">
            <a:extLst>
              <a:ext uri="{FF2B5EF4-FFF2-40B4-BE49-F238E27FC236}">
                <a16:creationId xmlns:a16="http://schemas.microsoft.com/office/drawing/2014/main" id="{8283769F-5711-90D1-88A3-60C2805D0133}"/>
              </a:ext>
            </a:extLst>
          </p:cNvPr>
          <p:cNvSpPr/>
          <p:nvPr/>
        </p:nvSpPr>
        <p:spPr>
          <a:xfrm rot="13422650">
            <a:off x="200781" y="3955083"/>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Tree>
    <p:extLst>
      <p:ext uri="{BB962C8B-B14F-4D97-AF65-F5344CB8AC3E}">
        <p14:creationId xmlns:p14="http://schemas.microsoft.com/office/powerpoint/2010/main" val="3860604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F4A9-EC99-45AE-B53F-5423F76007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9CF85D-8A2D-AD70-FB73-A727E7CDA302}"/>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2" name="TextBox 1">
            <a:extLst>
              <a:ext uri="{FF2B5EF4-FFF2-40B4-BE49-F238E27FC236}">
                <a16:creationId xmlns:a16="http://schemas.microsoft.com/office/drawing/2014/main" id="{B54CE6A6-B927-7D7E-538F-A625FF11C58F}"/>
              </a:ext>
            </a:extLst>
          </p:cNvPr>
          <p:cNvSpPr txBox="1"/>
          <p:nvPr/>
        </p:nvSpPr>
        <p:spPr>
          <a:xfrm>
            <a:off x="539552" y="1626652"/>
            <a:ext cx="8136904" cy="3440942"/>
          </a:xfrm>
          <a:prstGeom prst="rect">
            <a:avLst/>
          </a:prstGeom>
          <a:noFill/>
        </p:spPr>
        <p:txBody>
          <a:bodyPr wrap="square" rtlCol="0">
            <a:spAutoFit/>
          </a:bodyPr>
          <a:lstStyle/>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 las pruebas: </a:t>
            </a:r>
            <a:r>
              <a:rPr lang="es-MX" sz="1600" dirty="0">
                <a:solidFill>
                  <a:schemeClr val="tx1">
                    <a:lumMod val="75000"/>
                    <a:lumOff val="25000"/>
                  </a:schemeClr>
                </a:solidFill>
                <a:latin typeface="Arial Narrow" panose="020B0606020202030204" pitchFamily="34" charset="0"/>
              </a:rPr>
              <a:t>Costes derivados de probar el software para evitar que los defectos lleguen a producción.</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Prevención: </a:t>
            </a:r>
            <a:r>
              <a:rPr lang="es-MX" sz="1600" dirty="0">
                <a:solidFill>
                  <a:schemeClr val="tx1">
                    <a:lumMod val="75000"/>
                    <a:lumOff val="25000"/>
                  </a:schemeClr>
                </a:solidFill>
                <a:latin typeface="Arial Narrow" panose="020B0606020202030204" pitchFamily="34" charset="0"/>
              </a:rPr>
              <a:t>Costes derivados de mejorar los procesos de desarrollo (herramientas, técnicas, arquitectura, métodos, prácticas) y de capacitación de las personas (formación) para minimizar la inyección de defectos en el software.</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del fallo interno (retrabajo): </a:t>
            </a:r>
            <a:r>
              <a:rPr lang="es-MX" sz="1600" dirty="0">
                <a:solidFill>
                  <a:schemeClr val="tx1">
                    <a:lumMod val="75000"/>
                    <a:lumOff val="25000"/>
                  </a:schemeClr>
                </a:solidFill>
                <a:latin typeface="Arial Narrow" panose="020B0606020202030204" pitchFamily="34" charset="0"/>
              </a:rPr>
              <a:t>Costes de búsqueda y corrección del defecto así como repetición de las pruebas derivados de haber encontrado un defecto antes de liberar el software. No sólo hay que tener en cuenta el coste de repetir la prueba que originó el fallo (</a:t>
            </a:r>
            <a:r>
              <a:rPr lang="es-MX" sz="1600" dirty="0" err="1">
                <a:solidFill>
                  <a:schemeClr val="tx1">
                    <a:lumMod val="75000"/>
                    <a:lumOff val="25000"/>
                  </a:schemeClr>
                </a:solidFill>
                <a:latin typeface="Arial Narrow" panose="020B0606020202030204" pitchFamily="34" charset="0"/>
              </a:rPr>
              <a:t>retest</a:t>
            </a:r>
            <a:r>
              <a:rPr lang="es-MX" sz="1600" dirty="0">
                <a:solidFill>
                  <a:schemeClr val="tx1">
                    <a:lumMod val="75000"/>
                    <a:lumOff val="25000"/>
                  </a:schemeClr>
                </a:solidFill>
                <a:latin typeface="Arial Narrow" panose="020B0606020202030204" pitchFamily="34" charset="0"/>
              </a:rPr>
              <a:t>) sino la posible regresión de pruebas y los costes asociados a un nuevo paso a producción que suelen ser los mayor cuantía.</a:t>
            </a:r>
          </a:p>
          <a:p>
            <a:pPr algn="just" latinLnBrk="0">
              <a:spcBef>
                <a:spcPct val="20000"/>
              </a:spcBef>
            </a:pPr>
            <a:r>
              <a:rPr lang="es-MX" sz="1600" b="1" dirty="0">
                <a:solidFill>
                  <a:schemeClr val="tx1">
                    <a:lumMod val="75000"/>
                    <a:lumOff val="25000"/>
                  </a:schemeClr>
                </a:solidFill>
                <a:latin typeface="Arial Narrow" panose="020B0606020202030204" pitchFamily="34" charset="0"/>
              </a:rPr>
              <a:t>Costes del fallo en producción: </a:t>
            </a:r>
            <a:r>
              <a:rPr lang="es-MX" sz="1600" dirty="0">
                <a:solidFill>
                  <a:schemeClr val="tx1">
                    <a:lumMod val="75000"/>
                    <a:lumOff val="25000"/>
                  </a:schemeClr>
                </a:solidFill>
                <a:latin typeface="Arial Narrow" panose="020B0606020202030204" pitchFamily="34" charset="0"/>
              </a:rPr>
              <a:t>En este escenario no sólo hay que sumar los costes equivalentes al fallo interno, sino el daño producido al cliente, usuario o el propio negocio donde se utiliza el software. La pérdida de confianza y las posibles penalizaciones o sanciones suelen ser los mayores costes de este tipo de fallos.</a:t>
            </a:r>
          </a:p>
        </p:txBody>
      </p:sp>
      <p:sp>
        <p:nvSpPr>
          <p:cNvPr id="10" name="TextBox 16">
            <a:extLst>
              <a:ext uri="{FF2B5EF4-FFF2-40B4-BE49-F238E27FC236}">
                <a16:creationId xmlns:a16="http://schemas.microsoft.com/office/drawing/2014/main" id="{73B1D00C-C543-D262-4BAA-B911DA620F94}"/>
              </a:ext>
            </a:extLst>
          </p:cNvPr>
          <p:cNvSpPr txBox="1"/>
          <p:nvPr/>
        </p:nvSpPr>
        <p:spPr>
          <a:xfrm>
            <a:off x="107504" y="1017523"/>
            <a:ext cx="8928992" cy="476071"/>
          </a:xfrm>
          <a:prstGeom prst="roundRect">
            <a:avLst>
              <a:gd name="adj" fmla="val 50000"/>
            </a:avLst>
          </a:prstGeom>
          <a:solidFill>
            <a:schemeClr val="tx2">
              <a:lumMod val="75000"/>
            </a:schemeClr>
          </a:solidFill>
        </p:spPr>
        <p:txBody>
          <a:bodyPr wrap="square" rtlCol="0" anchor="ctr">
            <a:spAutoFit/>
          </a:bodyPr>
          <a:lstStyle/>
          <a:p>
            <a:pPr algn="ctr"/>
            <a:r>
              <a:rPr lang="es-MX" altLang="ko-KR" sz="1600" b="1" dirty="0">
                <a:solidFill>
                  <a:schemeClr val="bg1"/>
                </a:solidFill>
              </a:rPr>
              <a:t>Aplicando estos conceptos al sector del desarrollo software este análisis quedaría:</a:t>
            </a:r>
          </a:p>
        </p:txBody>
      </p:sp>
      <p:sp>
        <p:nvSpPr>
          <p:cNvPr id="4" name="Isosceles Triangle 13">
            <a:extLst>
              <a:ext uri="{FF2B5EF4-FFF2-40B4-BE49-F238E27FC236}">
                <a16:creationId xmlns:a16="http://schemas.microsoft.com/office/drawing/2014/main" id="{B3EDF563-52E2-E474-1547-8FE0C79EA083}"/>
              </a:ext>
            </a:extLst>
          </p:cNvPr>
          <p:cNvSpPr/>
          <p:nvPr/>
        </p:nvSpPr>
        <p:spPr>
          <a:xfrm rot="13422650">
            <a:off x="227806" y="1602964"/>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5" name="Isosceles Triangle 13">
            <a:extLst>
              <a:ext uri="{FF2B5EF4-FFF2-40B4-BE49-F238E27FC236}">
                <a16:creationId xmlns:a16="http://schemas.microsoft.com/office/drawing/2014/main" id="{BFAD95B1-D1CC-4973-0AE8-78DDA8B62AD2}"/>
              </a:ext>
            </a:extLst>
          </p:cNvPr>
          <p:cNvSpPr/>
          <p:nvPr/>
        </p:nvSpPr>
        <p:spPr>
          <a:xfrm rot="13422650">
            <a:off x="201677" y="2135762"/>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6" name="Isosceles Triangle 13">
            <a:extLst>
              <a:ext uri="{FF2B5EF4-FFF2-40B4-BE49-F238E27FC236}">
                <a16:creationId xmlns:a16="http://schemas.microsoft.com/office/drawing/2014/main" id="{971ABAA0-EDA0-1C04-6045-1BCCFCC5C0A6}"/>
              </a:ext>
            </a:extLst>
          </p:cNvPr>
          <p:cNvSpPr/>
          <p:nvPr/>
        </p:nvSpPr>
        <p:spPr>
          <a:xfrm rot="13422650">
            <a:off x="200780" y="2958861"/>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
        <p:nvSpPr>
          <p:cNvPr id="7" name="Isosceles Triangle 13">
            <a:extLst>
              <a:ext uri="{FF2B5EF4-FFF2-40B4-BE49-F238E27FC236}">
                <a16:creationId xmlns:a16="http://schemas.microsoft.com/office/drawing/2014/main" id="{1DA78218-FC37-0D61-9B67-348E92523B27}"/>
              </a:ext>
            </a:extLst>
          </p:cNvPr>
          <p:cNvSpPr/>
          <p:nvPr/>
        </p:nvSpPr>
        <p:spPr>
          <a:xfrm rot="13422650">
            <a:off x="200781" y="3955083"/>
            <a:ext cx="172589" cy="341788"/>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lumMod val="75000"/>
                  <a:lumOff val="25000"/>
                </a:schemeClr>
              </a:solidFill>
            </a:endParaRPr>
          </a:p>
        </p:txBody>
      </p:sp>
    </p:spTree>
    <p:extLst>
      <p:ext uri="{BB962C8B-B14F-4D97-AF65-F5344CB8AC3E}">
        <p14:creationId xmlns:p14="http://schemas.microsoft.com/office/powerpoint/2010/main" val="3761687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3ABB3-36FA-7F5A-4134-97000CC642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899B0-BA88-E4C9-BAF2-6C219D835EBA}"/>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8" name="Pentagon 51">
            <a:extLst>
              <a:ext uri="{FF2B5EF4-FFF2-40B4-BE49-F238E27FC236}">
                <a16:creationId xmlns:a16="http://schemas.microsoft.com/office/drawing/2014/main" id="{F031DEB2-91CD-B912-043D-13E897D73BE4}"/>
              </a:ext>
            </a:extLst>
          </p:cNvPr>
          <p:cNvSpPr/>
          <p:nvPr/>
        </p:nvSpPr>
        <p:spPr>
          <a:xfrm rot="5400000">
            <a:off x="4211960" y="-2180778"/>
            <a:ext cx="720080" cy="7056784"/>
          </a:xfrm>
          <a:prstGeom prst="homePlate">
            <a:avLst>
              <a:gd name="adj" fmla="val 34833"/>
            </a:avLst>
          </a:prstGeom>
          <a:solidFill>
            <a:srgbClr val="013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2" name="TextBox 11">
            <a:extLst>
              <a:ext uri="{FF2B5EF4-FFF2-40B4-BE49-F238E27FC236}">
                <a16:creationId xmlns:a16="http://schemas.microsoft.com/office/drawing/2014/main" id="{26346A07-6ABD-92A9-13C5-9FE541939A4A}"/>
              </a:ext>
            </a:extLst>
          </p:cNvPr>
          <p:cNvSpPr txBox="1"/>
          <p:nvPr/>
        </p:nvSpPr>
        <p:spPr>
          <a:xfrm>
            <a:off x="2771800" y="1054483"/>
            <a:ext cx="3456384" cy="369332"/>
          </a:xfrm>
          <a:prstGeom prst="rect">
            <a:avLst/>
          </a:prstGeom>
          <a:noFill/>
        </p:spPr>
        <p:txBody>
          <a:bodyPr wrap="square" rtlCol="0">
            <a:spAutoFit/>
          </a:bodyPr>
          <a:lstStyle/>
          <a:p>
            <a:pPr algn="ctr"/>
            <a:r>
              <a:rPr lang="en-US" altLang="ko-KR" b="1" dirty="0">
                <a:solidFill>
                  <a:schemeClr val="bg1"/>
                </a:solidFill>
                <a:latin typeface="Arial" pitchFamily="34" charset="0"/>
                <a:cs typeface="Arial" pitchFamily="34" charset="0"/>
              </a:rPr>
              <a:t>Tipo de Costos de Software</a:t>
            </a:r>
            <a:endParaRPr lang="ko-KR" altLang="en-US" b="1" dirty="0">
              <a:solidFill>
                <a:schemeClr val="bg1"/>
              </a:solidFill>
              <a:latin typeface="Arial" pitchFamily="34" charset="0"/>
              <a:cs typeface="Arial" pitchFamily="34" charset="0"/>
            </a:endParaRPr>
          </a:p>
        </p:txBody>
      </p:sp>
      <p:sp>
        <p:nvSpPr>
          <p:cNvPr id="30" name="사각형: 둥근 모서리 4">
            <a:extLst>
              <a:ext uri="{FF2B5EF4-FFF2-40B4-BE49-F238E27FC236}">
                <a16:creationId xmlns:a16="http://schemas.microsoft.com/office/drawing/2014/main" id="{AB0415E8-DC44-118F-8537-342A8FC5F86B}"/>
              </a:ext>
            </a:extLst>
          </p:cNvPr>
          <p:cNvSpPr/>
          <p:nvPr/>
        </p:nvSpPr>
        <p:spPr>
          <a:xfrm>
            <a:off x="755576" y="1963164"/>
            <a:ext cx="7632848" cy="2664296"/>
          </a:xfrm>
          <a:prstGeom prst="roundRect">
            <a:avLst>
              <a:gd name="adj" fmla="val 12588"/>
            </a:avLst>
          </a:prstGeom>
          <a:noFill/>
          <a:ln w="38100">
            <a:solidFill>
              <a:srgbClr val="01385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1350"/>
          </a:p>
        </p:txBody>
      </p:sp>
      <p:sp>
        <p:nvSpPr>
          <p:cNvPr id="34" name="TextBox 33">
            <a:extLst>
              <a:ext uri="{FF2B5EF4-FFF2-40B4-BE49-F238E27FC236}">
                <a16:creationId xmlns:a16="http://schemas.microsoft.com/office/drawing/2014/main" id="{FFABDADB-B6A0-C023-818E-7318C399492F}"/>
              </a:ext>
            </a:extLst>
          </p:cNvPr>
          <p:cNvSpPr txBox="1"/>
          <p:nvPr/>
        </p:nvSpPr>
        <p:spPr>
          <a:xfrm>
            <a:off x="891708" y="1995686"/>
            <a:ext cx="7568723" cy="2677656"/>
          </a:xfrm>
          <a:prstGeom prst="rect">
            <a:avLst/>
          </a:prstGeom>
          <a:noFill/>
        </p:spPr>
        <p:txBody>
          <a:bodyPr wrap="square">
            <a:spAutoFit/>
          </a:bodyPr>
          <a:lstStyle/>
          <a:p>
            <a:pPr marL="342900" indent="-342900" algn="just" latinLnBrk="0">
              <a:spcBef>
                <a:spcPct val="20000"/>
              </a:spcBef>
              <a:buFont typeface="Wingdings" panose="05000000000000000000" pitchFamily="2" charset="2"/>
              <a:buChar char="q"/>
            </a:pPr>
            <a:r>
              <a:rPr lang="es-MX" sz="2400" b="1" dirty="0">
                <a:solidFill>
                  <a:schemeClr val="tx1">
                    <a:lumMod val="75000"/>
                    <a:lumOff val="25000"/>
                  </a:schemeClr>
                </a:solidFill>
                <a:latin typeface="Arial Narrow" panose="020B0606020202030204" pitchFamily="34" charset="0"/>
              </a:rPr>
              <a:t>Costos para asegurar la calidad o costos de conformidad</a:t>
            </a:r>
          </a:p>
          <a:p>
            <a:pPr marL="800100" lvl="1" indent="-342900" algn="just" latinLnBrk="0">
              <a:spcBef>
                <a:spcPct val="20000"/>
              </a:spcBef>
              <a:buFont typeface="Wingdings" panose="05000000000000000000" pitchFamily="2" charset="2"/>
              <a:buChar char="§"/>
            </a:pPr>
            <a:r>
              <a:rPr lang="es-MX" sz="2400" dirty="0">
                <a:solidFill>
                  <a:schemeClr val="tx1">
                    <a:lumMod val="75000"/>
                    <a:lumOff val="25000"/>
                  </a:schemeClr>
                </a:solidFill>
                <a:latin typeface="Arial Narrow" panose="020B0606020202030204" pitchFamily="34" charset="0"/>
              </a:rPr>
              <a:t>Costos de Prevención</a:t>
            </a:r>
          </a:p>
          <a:p>
            <a:pPr marL="800100" lvl="1" indent="-342900" algn="just" latinLnBrk="0">
              <a:spcBef>
                <a:spcPct val="20000"/>
              </a:spcBef>
              <a:buFont typeface="Wingdings" panose="05000000000000000000" pitchFamily="2" charset="2"/>
              <a:buChar char="§"/>
            </a:pPr>
            <a:r>
              <a:rPr lang="es-MX" sz="2400" dirty="0">
                <a:solidFill>
                  <a:schemeClr val="tx1">
                    <a:lumMod val="75000"/>
                    <a:lumOff val="25000"/>
                  </a:schemeClr>
                </a:solidFill>
                <a:latin typeface="Arial Narrow" panose="020B0606020202030204" pitchFamily="34" charset="0"/>
              </a:rPr>
              <a:t>Costos de Evaluación</a:t>
            </a:r>
          </a:p>
          <a:p>
            <a:pPr marL="342900" indent="-342900" algn="just" latinLnBrk="0">
              <a:spcBef>
                <a:spcPct val="20000"/>
              </a:spcBef>
              <a:buFont typeface="Wingdings" panose="05000000000000000000" pitchFamily="2" charset="2"/>
              <a:buChar char="q"/>
            </a:pPr>
            <a:r>
              <a:rPr lang="es-MX" sz="2400" b="1" dirty="0">
                <a:solidFill>
                  <a:schemeClr val="tx1">
                    <a:lumMod val="75000"/>
                    <a:lumOff val="25000"/>
                  </a:schemeClr>
                </a:solidFill>
                <a:latin typeface="Arial Narrow" panose="020B0606020202030204" pitchFamily="34" charset="0"/>
              </a:rPr>
              <a:t>Costos por falta de calidad o costos de no conformidad</a:t>
            </a:r>
          </a:p>
          <a:p>
            <a:pPr marL="800100" lvl="1" indent="-342900" algn="just" latinLnBrk="0">
              <a:spcBef>
                <a:spcPct val="20000"/>
              </a:spcBef>
              <a:buFont typeface="Wingdings" panose="05000000000000000000" pitchFamily="2" charset="2"/>
              <a:buChar char="§"/>
            </a:pPr>
            <a:r>
              <a:rPr lang="es-MX" sz="2400" dirty="0">
                <a:solidFill>
                  <a:schemeClr val="tx1">
                    <a:lumMod val="75000"/>
                    <a:lumOff val="25000"/>
                  </a:schemeClr>
                </a:solidFill>
                <a:latin typeface="Arial Narrow" panose="020B0606020202030204" pitchFamily="34" charset="0"/>
              </a:rPr>
              <a:t>Costos de fallas internas</a:t>
            </a:r>
          </a:p>
          <a:p>
            <a:pPr marL="800100" lvl="1" indent="-342900" algn="just" latinLnBrk="0">
              <a:spcBef>
                <a:spcPct val="20000"/>
              </a:spcBef>
              <a:buFont typeface="Wingdings" panose="05000000000000000000" pitchFamily="2" charset="2"/>
              <a:buChar char="§"/>
            </a:pPr>
            <a:r>
              <a:rPr lang="es-MX" sz="2400" dirty="0">
                <a:solidFill>
                  <a:schemeClr val="tx1">
                    <a:lumMod val="75000"/>
                    <a:lumOff val="25000"/>
                  </a:schemeClr>
                </a:solidFill>
                <a:latin typeface="Arial Narrow" panose="020B0606020202030204" pitchFamily="34" charset="0"/>
              </a:rPr>
              <a:t>Costos de fallas externas</a:t>
            </a:r>
          </a:p>
        </p:txBody>
      </p:sp>
    </p:spTree>
    <p:extLst>
      <p:ext uri="{BB962C8B-B14F-4D97-AF65-F5344CB8AC3E}">
        <p14:creationId xmlns:p14="http://schemas.microsoft.com/office/powerpoint/2010/main" val="3262398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F11E-C0C6-F8CF-A1BA-6565510A61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7AC27B-D9AF-6BC1-4204-319F9EF56EB7}"/>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grpSp>
        <p:nvGrpSpPr>
          <p:cNvPr id="2" name="그룹 20">
            <a:extLst>
              <a:ext uri="{FF2B5EF4-FFF2-40B4-BE49-F238E27FC236}">
                <a16:creationId xmlns:a16="http://schemas.microsoft.com/office/drawing/2014/main" id="{0BAF92A4-770B-5CD2-1715-96BEE8633B42}"/>
              </a:ext>
            </a:extLst>
          </p:cNvPr>
          <p:cNvGrpSpPr/>
          <p:nvPr/>
        </p:nvGrpSpPr>
        <p:grpSpPr>
          <a:xfrm>
            <a:off x="25894" y="1169017"/>
            <a:ext cx="9010602" cy="461665"/>
            <a:chOff x="1018363" y="3630156"/>
            <a:chExt cx="5462557" cy="461665"/>
          </a:xfrm>
        </p:grpSpPr>
        <p:sp>
          <p:nvSpPr>
            <p:cNvPr id="4" name="TextBox 23">
              <a:extLst>
                <a:ext uri="{FF2B5EF4-FFF2-40B4-BE49-F238E27FC236}">
                  <a16:creationId xmlns:a16="http://schemas.microsoft.com/office/drawing/2014/main" id="{81F64061-5212-72D6-24A3-FF65832A0775}"/>
                </a:ext>
              </a:extLst>
            </p:cNvPr>
            <p:cNvSpPr txBox="1"/>
            <p:nvPr/>
          </p:nvSpPr>
          <p:spPr>
            <a:xfrm>
              <a:off x="1018363" y="3727597"/>
              <a:ext cx="1224207" cy="276999"/>
            </a:xfrm>
            <a:prstGeom prst="rect">
              <a:avLst/>
            </a:prstGeom>
            <a:noFill/>
          </p:spPr>
          <p:txBody>
            <a:bodyPr wrap="square" rtlCol="0">
              <a:spAutoFit/>
            </a:bodyPr>
            <a:lstStyle/>
            <a:p>
              <a:pPr algn="r"/>
              <a:r>
                <a:rPr lang="en-US" altLang="ko-KR" sz="1200" b="1" dirty="0">
                  <a:solidFill>
                    <a:schemeClr val="accent3"/>
                  </a:solidFill>
                  <a:cs typeface="Arial" pitchFamily="34" charset="0"/>
                </a:rPr>
                <a:t>Costos de </a:t>
              </a:r>
              <a:r>
                <a:rPr lang="en-US" altLang="ko-KR" sz="1200" b="1" dirty="0" err="1">
                  <a:solidFill>
                    <a:schemeClr val="accent3"/>
                  </a:solidFill>
                  <a:cs typeface="Arial" pitchFamily="34" charset="0"/>
                </a:rPr>
                <a:t>prevención</a:t>
              </a:r>
              <a:endParaRPr lang="ko-KR" altLang="en-US" sz="1200" b="1" dirty="0">
                <a:solidFill>
                  <a:schemeClr val="accent3"/>
                </a:solidFill>
                <a:cs typeface="Arial" pitchFamily="34" charset="0"/>
              </a:endParaRPr>
            </a:p>
          </p:txBody>
        </p:sp>
        <p:sp>
          <p:nvSpPr>
            <p:cNvPr id="5" name="TextBox 24">
              <a:extLst>
                <a:ext uri="{FF2B5EF4-FFF2-40B4-BE49-F238E27FC236}">
                  <a16:creationId xmlns:a16="http://schemas.microsoft.com/office/drawing/2014/main" id="{24D2952F-3D13-581B-A8C9-8C18B84660C1}"/>
                </a:ext>
              </a:extLst>
            </p:cNvPr>
            <p:cNvSpPr txBox="1"/>
            <p:nvPr/>
          </p:nvSpPr>
          <p:spPr>
            <a:xfrm>
              <a:off x="2623223" y="3630156"/>
              <a:ext cx="3857697" cy="461665"/>
            </a:xfrm>
            <a:prstGeom prst="rect">
              <a:avLst/>
            </a:prstGeom>
            <a:noFill/>
          </p:spPr>
          <p:txBody>
            <a:bodyPr wrap="square" rtlCol="0">
              <a:spAutoFit/>
            </a:bodyPr>
            <a:lstStyle/>
            <a:p>
              <a:pPr algn="just" latinLnBrk="0">
                <a:spcBef>
                  <a:spcPct val="20000"/>
                </a:spcBef>
              </a:pPr>
              <a:r>
                <a:rPr lang="en-US" altLang="ko-KR" sz="1200" dirty="0">
                  <a:solidFill>
                    <a:schemeClr val="tx1">
                      <a:lumMod val="75000"/>
                      <a:lumOff val="25000"/>
                    </a:schemeClr>
                  </a:solidFill>
                  <a:latin typeface="Arial Narrow" panose="020B0606020202030204" pitchFamily="34" charset="0"/>
                </a:rPr>
                <a:t>Costos de </a:t>
              </a:r>
              <a:r>
                <a:rPr lang="en-US" altLang="ko-KR" sz="1200" dirty="0" err="1">
                  <a:solidFill>
                    <a:schemeClr val="tx1">
                      <a:lumMod val="75000"/>
                      <a:lumOff val="25000"/>
                    </a:schemeClr>
                  </a:solidFill>
                  <a:latin typeface="Arial Narrow" panose="020B0606020202030204" pitchFamily="34" charset="0"/>
                </a:rPr>
                <a:t>todos</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aquellos</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esfuerzos</a:t>
              </a:r>
              <a:r>
                <a:rPr lang="en-US" altLang="ko-KR" sz="1200" dirty="0">
                  <a:solidFill>
                    <a:schemeClr val="tx1">
                      <a:lumMod val="75000"/>
                      <a:lumOff val="25000"/>
                    </a:schemeClr>
                  </a:solidFill>
                  <a:latin typeface="Arial Narrow" panose="020B0606020202030204" pitchFamily="34" charset="0"/>
                </a:rPr>
                <a:t> para </a:t>
              </a:r>
              <a:r>
                <a:rPr lang="en-US" altLang="ko-KR" sz="1200" dirty="0" err="1">
                  <a:solidFill>
                    <a:schemeClr val="tx1">
                      <a:lumMod val="75000"/>
                      <a:lumOff val="25000"/>
                    </a:schemeClr>
                  </a:solidFill>
                  <a:latin typeface="Arial Narrow" panose="020B0606020202030204" pitchFamily="34" charset="0"/>
                </a:rPr>
                <a:t>asegurar</a:t>
              </a:r>
              <a:r>
                <a:rPr lang="en-US" altLang="ko-KR" sz="1200" dirty="0">
                  <a:solidFill>
                    <a:schemeClr val="tx1">
                      <a:lumMod val="75000"/>
                      <a:lumOff val="25000"/>
                    </a:schemeClr>
                  </a:solidFill>
                  <a:latin typeface="Arial Narrow" panose="020B0606020202030204" pitchFamily="34" charset="0"/>
                </a:rPr>
                <a:t> la Calidad del Software y </a:t>
              </a:r>
              <a:r>
                <a:rPr lang="en-US" altLang="ko-KR" sz="1200" dirty="0" err="1">
                  <a:solidFill>
                    <a:schemeClr val="tx1">
                      <a:lumMod val="75000"/>
                      <a:lumOff val="25000"/>
                    </a:schemeClr>
                  </a:solidFill>
                  <a:latin typeface="Arial Narrow" panose="020B0606020202030204" pitchFamily="34" charset="0"/>
                </a:rPr>
                <a:t>prevenir</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defectos</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en</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todas</a:t>
              </a:r>
              <a:r>
                <a:rPr lang="en-US" altLang="ko-KR" sz="1200" dirty="0">
                  <a:solidFill>
                    <a:schemeClr val="tx1">
                      <a:lumMod val="75000"/>
                      <a:lumOff val="25000"/>
                    </a:schemeClr>
                  </a:solidFill>
                  <a:latin typeface="Arial Narrow" panose="020B0606020202030204" pitchFamily="34" charset="0"/>
                </a:rPr>
                <a:t> las </a:t>
              </a:r>
              <a:r>
                <a:rPr lang="en-US" altLang="ko-KR" sz="1200" dirty="0" err="1">
                  <a:solidFill>
                    <a:schemeClr val="tx1">
                      <a:lumMod val="75000"/>
                      <a:lumOff val="25000"/>
                    </a:schemeClr>
                  </a:solidFill>
                  <a:latin typeface="Arial Narrow" panose="020B0606020202030204" pitchFamily="34" charset="0"/>
                </a:rPr>
                <a:t>fases</a:t>
              </a:r>
              <a:r>
                <a:rPr lang="en-US" altLang="ko-KR" sz="1200" dirty="0">
                  <a:solidFill>
                    <a:schemeClr val="tx1">
                      <a:lumMod val="75000"/>
                      <a:lumOff val="25000"/>
                    </a:schemeClr>
                  </a:solidFill>
                  <a:latin typeface="Arial Narrow" panose="020B0606020202030204" pitchFamily="34" charset="0"/>
                </a:rPr>
                <a:t> del Desarrollo de Software. Por </a:t>
              </a:r>
              <a:r>
                <a:rPr lang="en-US" altLang="ko-KR" sz="1200" dirty="0" err="1">
                  <a:solidFill>
                    <a:schemeClr val="tx1">
                      <a:lumMod val="75000"/>
                      <a:lumOff val="25000"/>
                    </a:schemeClr>
                  </a:solidFill>
                  <a:latin typeface="Arial Narrow" panose="020B0606020202030204" pitchFamily="34" charset="0"/>
                </a:rPr>
                <a:t>ejemplo</a:t>
              </a:r>
              <a:r>
                <a:rPr lang="en-US" altLang="ko-KR" sz="1200" dirty="0">
                  <a:solidFill>
                    <a:schemeClr val="tx1">
                      <a:lumMod val="75000"/>
                      <a:lumOff val="25000"/>
                    </a:schemeClr>
                  </a:solidFill>
                  <a:latin typeface="Arial Narrow" panose="020B0606020202030204" pitchFamily="34" charset="0"/>
                </a:rPr>
                <a:t>: </a:t>
              </a:r>
              <a:r>
                <a:rPr lang="en-US" altLang="ko-KR" sz="1200" b="1" dirty="0" err="1">
                  <a:solidFill>
                    <a:schemeClr val="tx1">
                      <a:lumMod val="75000"/>
                      <a:lumOff val="25000"/>
                    </a:schemeClr>
                  </a:solidFill>
                  <a:latin typeface="Arial Narrow" panose="020B0606020202030204" pitchFamily="34" charset="0"/>
                </a:rPr>
                <a:t>Aseguramiento</a:t>
              </a:r>
              <a:r>
                <a:rPr lang="en-US" altLang="ko-KR" sz="1200" b="1" dirty="0">
                  <a:solidFill>
                    <a:schemeClr val="tx1">
                      <a:lumMod val="75000"/>
                      <a:lumOff val="25000"/>
                    </a:schemeClr>
                  </a:solidFill>
                  <a:latin typeface="Arial Narrow" panose="020B0606020202030204" pitchFamily="34" charset="0"/>
                </a:rPr>
                <a:t> de la Calidad</a:t>
              </a:r>
              <a:r>
                <a:rPr lang="en-US" altLang="ko-KR" sz="1200" dirty="0">
                  <a:solidFill>
                    <a:schemeClr val="tx1">
                      <a:lumMod val="75000"/>
                      <a:lumOff val="25000"/>
                    </a:schemeClr>
                  </a:solidFill>
                  <a:latin typeface="Arial Narrow" panose="020B0606020202030204" pitchFamily="34" charset="0"/>
                </a:rPr>
                <a:t>.</a:t>
              </a:r>
            </a:p>
          </p:txBody>
        </p:sp>
        <p:sp>
          <p:nvSpPr>
            <p:cNvPr id="6" name="Chevron 26">
              <a:extLst>
                <a:ext uri="{FF2B5EF4-FFF2-40B4-BE49-F238E27FC236}">
                  <a16:creationId xmlns:a16="http://schemas.microsoft.com/office/drawing/2014/main" id="{42F8A9C1-472E-A3D7-3662-61FDE710E667}"/>
                </a:ext>
              </a:extLst>
            </p:cNvPr>
            <p:cNvSpPr/>
            <p:nvPr/>
          </p:nvSpPr>
          <p:spPr>
            <a:xfrm>
              <a:off x="2335614" y="3753856"/>
              <a:ext cx="194565" cy="200987"/>
            </a:xfrm>
            <a:prstGeom prst="chevron">
              <a:avLst>
                <a:gd name="adj" fmla="val 5486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7" name="그룹 4">
            <a:extLst>
              <a:ext uri="{FF2B5EF4-FFF2-40B4-BE49-F238E27FC236}">
                <a16:creationId xmlns:a16="http://schemas.microsoft.com/office/drawing/2014/main" id="{5988B767-11C2-98FF-CF08-7EA7487EE7A5}"/>
              </a:ext>
            </a:extLst>
          </p:cNvPr>
          <p:cNvGrpSpPr/>
          <p:nvPr/>
        </p:nvGrpSpPr>
        <p:grpSpPr>
          <a:xfrm>
            <a:off x="19668" y="2931790"/>
            <a:ext cx="8929978" cy="461665"/>
            <a:chOff x="1018187" y="4662686"/>
            <a:chExt cx="4961021" cy="461665"/>
          </a:xfrm>
        </p:grpSpPr>
        <p:sp>
          <p:nvSpPr>
            <p:cNvPr id="9" name="TextBox 27">
              <a:extLst>
                <a:ext uri="{FF2B5EF4-FFF2-40B4-BE49-F238E27FC236}">
                  <a16:creationId xmlns:a16="http://schemas.microsoft.com/office/drawing/2014/main" id="{FAF2F656-6434-A440-0F18-C8E2A6BA17AA}"/>
                </a:ext>
              </a:extLst>
            </p:cNvPr>
            <p:cNvSpPr txBox="1"/>
            <p:nvPr/>
          </p:nvSpPr>
          <p:spPr>
            <a:xfrm>
              <a:off x="1018187" y="4742189"/>
              <a:ext cx="1121846" cy="276999"/>
            </a:xfrm>
            <a:prstGeom prst="rect">
              <a:avLst/>
            </a:prstGeom>
            <a:noFill/>
          </p:spPr>
          <p:txBody>
            <a:bodyPr wrap="square" rtlCol="0">
              <a:spAutoFit/>
            </a:bodyPr>
            <a:lstStyle/>
            <a:p>
              <a:pPr algn="r"/>
              <a:r>
                <a:rPr lang="en-US" altLang="ko-KR" sz="1200" b="1" dirty="0">
                  <a:solidFill>
                    <a:schemeClr val="accent2"/>
                  </a:solidFill>
                  <a:cs typeface="Arial" pitchFamily="34" charset="0"/>
                </a:rPr>
                <a:t>Costos de </a:t>
              </a:r>
              <a:r>
                <a:rPr lang="en-US" altLang="ko-KR" sz="1200" b="1" dirty="0" err="1">
                  <a:solidFill>
                    <a:schemeClr val="accent2"/>
                  </a:solidFill>
                  <a:cs typeface="Arial" pitchFamily="34" charset="0"/>
                </a:rPr>
                <a:t>fallas</a:t>
              </a:r>
              <a:r>
                <a:rPr lang="en-US" altLang="ko-KR" sz="1200" b="1" dirty="0">
                  <a:solidFill>
                    <a:schemeClr val="accent2"/>
                  </a:solidFill>
                  <a:cs typeface="Arial" pitchFamily="34" charset="0"/>
                </a:rPr>
                <a:t> </a:t>
              </a:r>
              <a:r>
                <a:rPr lang="en-US" altLang="ko-KR" sz="1200" b="1" dirty="0" err="1">
                  <a:solidFill>
                    <a:schemeClr val="accent2"/>
                  </a:solidFill>
                  <a:cs typeface="Arial" pitchFamily="34" charset="0"/>
                </a:rPr>
                <a:t>internas</a:t>
              </a:r>
              <a:endParaRPr lang="ko-KR" altLang="en-US" sz="1200" b="1" dirty="0">
                <a:solidFill>
                  <a:schemeClr val="accent2"/>
                </a:solidFill>
                <a:cs typeface="Arial" pitchFamily="34" charset="0"/>
              </a:endParaRPr>
            </a:p>
          </p:txBody>
        </p:sp>
        <p:sp>
          <p:nvSpPr>
            <p:cNvPr id="10" name="TextBox 28">
              <a:extLst>
                <a:ext uri="{FF2B5EF4-FFF2-40B4-BE49-F238E27FC236}">
                  <a16:creationId xmlns:a16="http://schemas.microsoft.com/office/drawing/2014/main" id="{94AED2A2-F885-12A5-65C3-4AE865F65144}"/>
                </a:ext>
              </a:extLst>
            </p:cNvPr>
            <p:cNvSpPr txBox="1"/>
            <p:nvPr/>
          </p:nvSpPr>
          <p:spPr>
            <a:xfrm>
              <a:off x="2483540" y="4662686"/>
              <a:ext cx="3495668" cy="461665"/>
            </a:xfrm>
            <a:prstGeom prst="rect">
              <a:avLst/>
            </a:prstGeom>
            <a:noFill/>
          </p:spPr>
          <p:txBody>
            <a:bodyPr wrap="square" rtlCol="0">
              <a:spAutoFit/>
            </a:bodyPr>
            <a:lstStyle/>
            <a:p>
              <a:pPr algn="just" latinLnBrk="0">
                <a:spcBef>
                  <a:spcPct val="20000"/>
                </a:spcBef>
              </a:pPr>
              <a:r>
                <a:rPr lang="es-MX" altLang="ko-KR" sz="1200" dirty="0">
                  <a:solidFill>
                    <a:schemeClr val="tx1">
                      <a:lumMod val="75000"/>
                      <a:lumOff val="25000"/>
                    </a:schemeClr>
                  </a:solidFill>
                  <a:latin typeface="Arial Narrow" panose="020B0606020202030204" pitchFamily="34" charset="0"/>
                </a:rPr>
                <a:t>Costo del esfuerzo para detectar y corregir problemas previos a que el usuario los detecte, por ejemplo: </a:t>
              </a:r>
              <a:r>
                <a:rPr lang="es-MX" altLang="ko-KR" sz="1200" b="1" dirty="0">
                  <a:solidFill>
                    <a:schemeClr val="tx1">
                      <a:lumMod val="75000"/>
                      <a:lumOff val="25000"/>
                    </a:schemeClr>
                  </a:solidFill>
                  <a:latin typeface="Arial Narrow" panose="020B0606020202030204" pitchFamily="34" charset="0"/>
                </a:rPr>
                <a:t>corregir defectos</a:t>
              </a:r>
              <a:r>
                <a:rPr lang="es-MX" altLang="ko-KR" sz="1200" dirty="0">
                  <a:solidFill>
                    <a:schemeClr val="tx1">
                      <a:lumMod val="75000"/>
                      <a:lumOff val="25000"/>
                    </a:schemeClr>
                  </a:solidFill>
                  <a:latin typeface="Arial Narrow" panose="020B0606020202030204" pitchFamily="34" charset="0"/>
                </a:rPr>
                <a:t> y el </a:t>
              </a:r>
              <a:r>
                <a:rPr lang="es-MX" altLang="ko-KR" sz="1200" b="1" dirty="0">
                  <a:solidFill>
                    <a:schemeClr val="tx1">
                      <a:lumMod val="75000"/>
                      <a:lumOff val="25000"/>
                    </a:schemeClr>
                  </a:solidFill>
                  <a:latin typeface="Arial Narrow" panose="020B0606020202030204" pitchFamily="34" charset="0"/>
                </a:rPr>
                <a:t>retrabajo correctivo </a:t>
              </a:r>
              <a:r>
                <a:rPr lang="es-MX" altLang="ko-KR" sz="1200" dirty="0">
                  <a:solidFill>
                    <a:schemeClr val="tx1">
                      <a:lumMod val="75000"/>
                      <a:lumOff val="25000"/>
                    </a:schemeClr>
                  </a:solidFill>
                  <a:latin typeface="Arial Narrow" panose="020B0606020202030204" pitchFamily="34" charset="0"/>
                </a:rPr>
                <a:t>en todas las etapas.</a:t>
              </a:r>
              <a:endParaRPr lang="en-US" altLang="ko-KR" sz="1200" dirty="0">
                <a:solidFill>
                  <a:schemeClr val="tx1">
                    <a:lumMod val="75000"/>
                    <a:lumOff val="25000"/>
                  </a:schemeClr>
                </a:solidFill>
                <a:latin typeface="Arial Narrow" panose="020B0606020202030204" pitchFamily="34" charset="0"/>
              </a:endParaRPr>
            </a:p>
          </p:txBody>
        </p:sp>
        <p:sp>
          <p:nvSpPr>
            <p:cNvPr id="11" name="Chevron 27">
              <a:extLst>
                <a:ext uri="{FF2B5EF4-FFF2-40B4-BE49-F238E27FC236}">
                  <a16:creationId xmlns:a16="http://schemas.microsoft.com/office/drawing/2014/main" id="{36E23BB3-BFEB-E233-845D-490A8FCF6E5F}"/>
                </a:ext>
              </a:extLst>
            </p:cNvPr>
            <p:cNvSpPr/>
            <p:nvPr/>
          </p:nvSpPr>
          <p:spPr>
            <a:xfrm>
              <a:off x="2227094" y="4835805"/>
              <a:ext cx="194565" cy="200987"/>
            </a:xfrm>
            <a:prstGeom prst="chevron">
              <a:avLst>
                <a:gd name="adj" fmla="val 5486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grpSp>
      <p:grpSp>
        <p:nvGrpSpPr>
          <p:cNvPr id="13" name="그룹 3">
            <a:extLst>
              <a:ext uri="{FF2B5EF4-FFF2-40B4-BE49-F238E27FC236}">
                <a16:creationId xmlns:a16="http://schemas.microsoft.com/office/drawing/2014/main" id="{13F72BF0-FF60-7A2C-548D-E30AC46D2080}"/>
              </a:ext>
            </a:extLst>
          </p:cNvPr>
          <p:cNvGrpSpPr/>
          <p:nvPr/>
        </p:nvGrpSpPr>
        <p:grpSpPr>
          <a:xfrm>
            <a:off x="19667" y="1851670"/>
            <a:ext cx="9052327" cy="830997"/>
            <a:chOff x="1009342" y="5695216"/>
            <a:chExt cx="4969867" cy="830997"/>
          </a:xfrm>
        </p:grpSpPr>
        <p:sp>
          <p:nvSpPr>
            <p:cNvPr id="14" name="TextBox 31">
              <a:extLst>
                <a:ext uri="{FF2B5EF4-FFF2-40B4-BE49-F238E27FC236}">
                  <a16:creationId xmlns:a16="http://schemas.microsoft.com/office/drawing/2014/main" id="{B038E89C-78F3-8EDE-7D29-28FA03C5BFDE}"/>
                </a:ext>
              </a:extLst>
            </p:cNvPr>
            <p:cNvSpPr txBox="1"/>
            <p:nvPr/>
          </p:nvSpPr>
          <p:spPr>
            <a:xfrm>
              <a:off x="1009342" y="5900567"/>
              <a:ext cx="1108657" cy="281256"/>
            </a:xfrm>
            <a:prstGeom prst="rect">
              <a:avLst/>
            </a:prstGeom>
            <a:noFill/>
          </p:spPr>
          <p:txBody>
            <a:bodyPr wrap="square" rtlCol="0">
              <a:spAutoFit/>
            </a:bodyPr>
            <a:lstStyle/>
            <a:p>
              <a:pPr algn="r"/>
              <a:r>
                <a:rPr lang="en-US" altLang="ko-KR" sz="1200" b="1" dirty="0">
                  <a:solidFill>
                    <a:schemeClr val="accent1"/>
                  </a:solidFill>
                  <a:cs typeface="Arial" pitchFamily="34" charset="0"/>
                </a:rPr>
                <a:t>Costos de </a:t>
              </a:r>
              <a:r>
                <a:rPr lang="en-US" altLang="ko-KR" sz="1200" b="1" dirty="0" err="1">
                  <a:solidFill>
                    <a:schemeClr val="accent1"/>
                  </a:solidFill>
                  <a:cs typeface="Arial" pitchFamily="34" charset="0"/>
                </a:rPr>
                <a:t>evaluación</a:t>
              </a:r>
              <a:endParaRPr lang="ko-KR" altLang="en-US" sz="1200" b="1" dirty="0">
                <a:solidFill>
                  <a:schemeClr val="accent1"/>
                </a:solidFill>
                <a:cs typeface="Arial" pitchFamily="34" charset="0"/>
              </a:endParaRPr>
            </a:p>
          </p:txBody>
        </p:sp>
        <p:sp>
          <p:nvSpPr>
            <p:cNvPr id="15" name="TextBox 32">
              <a:extLst>
                <a:ext uri="{FF2B5EF4-FFF2-40B4-BE49-F238E27FC236}">
                  <a16:creationId xmlns:a16="http://schemas.microsoft.com/office/drawing/2014/main" id="{D8861199-9FE4-3EBE-6014-D6BE18BE680E}"/>
                </a:ext>
              </a:extLst>
            </p:cNvPr>
            <p:cNvSpPr txBox="1"/>
            <p:nvPr/>
          </p:nvSpPr>
          <p:spPr>
            <a:xfrm>
              <a:off x="2447048" y="5695216"/>
              <a:ext cx="3532161" cy="830997"/>
            </a:xfrm>
            <a:prstGeom prst="rect">
              <a:avLst/>
            </a:prstGeom>
            <a:noFill/>
          </p:spPr>
          <p:txBody>
            <a:bodyPr wrap="square" rtlCol="0">
              <a:spAutoFit/>
            </a:bodyPr>
            <a:lstStyle/>
            <a:p>
              <a:pPr algn="just" latinLnBrk="0">
                <a:spcBef>
                  <a:spcPct val="20000"/>
                </a:spcBef>
              </a:pPr>
              <a:r>
                <a:rPr lang="en-US" altLang="ko-KR" sz="1200" dirty="0">
                  <a:solidFill>
                    <a:schemeClr val="tx1">
                      <a:lumMod val="75000"/>
                      <a:lumOff val="25000"/>
                    </a:schemeClr>
                  </a:solidFill>
                  <a:latin typeface="Arial Narrow" panose="020B0606020202030204" pitchFamily="34" charset="0"/>
                </a:rPr>
                <a:t>Costo del </a:t>
              </a:r>
              <a:r>
                <a:rPr lang="en-US" altLang="ko-KR" sz="1200" dirty="0" err="1">
                  <a:solidFill>
                    <a:schemeClr val="tx1">
                      <a:lumMod val="75000"/>
                      <a:lumOff val="25000"/>
                    </a:schemeClr>
                  </a:solidFill>
                  <a:latin typeface="Arial Narrow" panose="020B0606020202030204" pitchFamily="34" charset="0"/>
                </a:rPr>
                <a:t>esfuerzo</a:t>
              </a:r>
              <a:r>
                <a:rPr lang="en-US" altLang="ko-KR" sz="1200" dirty="0">
                  <a:solidFill>
                    <a:schemeClr val="tx1">
                      <a:lumMod val="75000"/>
                      <a:lumOff val="25000"/>
                    </a:schemeClr>
                  </a:solidFill>
                  <a:latin typeface="Arial Narrow" panose="020B0606020202030204" pitchFamily="34" charset="0"/>
                </a:rPr>
                <a:t> para </a:t>
              </a:r>
              <a:r>
                <a:rPr lang="en-US" altLang="ko-KR" sz="1200" dirty="0" err="1">
                  <a:solidFill>
                    <a:schemeClr val="tx1">
                      <a:lumMod val="75000"/>
                      <a:lumOff val="25000"/>
                    </a:schemeClr>
                  </a:solidFill>
                  <a:latin typeface="Arial Narrow" panose="020B0606020202030204" pitchFamily="34" charset="0"/>
                </a:rPr>
                <a:t>descubrir</a:t>
              </a:r>
              <a:r>
                <a:rPr lang="en-US" altLang="ko-KR" sz="1200" dirty="0">
                  <a:solidFill>
                    <a:schemeClr val="tx1">
                      <a:lumMod val="75000"/>
                      <a:lumOff val="25000"/>
                    </a:schemeClr>
                  </a:solidFill>
                  <a:latin typeface="Arial Narrow" panose="020B0606020202030204" pitchFamily="34" charset="0"/>
                </a:rPr>
                <a:t> la </a:t>
              </a:r>
              <a:r>
                <a:rPr lang="en-US" altLang="ko-KR" sz="1200" dirty="0" err="1">
                  <a:solidFill>
                    <a:schemeClr val="tx1">
                      <a:lumMod val="75000"/>
                      <a:lumOff val="25000"/>
                    </a:schemeClr>
                  </a:solidFill>
                  <a:latin typeface="Arial Narrow" panose="020B0606020202030204" pitchFamily="34" charset="0"/>
                </a:rPr>
                <a:t>condición</a:t>
              </a:r>
              <a:r>
                <a:rPr lang="en-US" altLang="ko-KR" sz="1200" dirty="0">
                  <a:solidFill>
                    <a:schemeClr val="tx1">
                      <a:lumMod val="75000"/>
                      <a:lumOff val="25000"/>
                    </a:schemeClr>
                  </a:solidFill>
                  <a:latin typeface="Arial Narrow" panose="020B0606020202030204" pitchFamily="34" charset="0"/>
                </a:rPr>
                <a:t> de la Calidad del Software(</a:t>
              </a:r>
              <a:r>
                <a:rPr lang="en-US" altLang="ko-KR" sz="1200" dirty="0" err="1">
                  <a:solidFill>
                    <a:schemeClr val="tx1">
                      <a:lumMod val="75000"/>
                      <a:lumOff val="25000"/>
                    </a:schemeClr>
                  </a:solidFill>
                  <a:latin typeface="Arial Narrow" panose="020B0606020202030204" pitchFamily="34" charset="0"/>
                </a:rPr>
                <a:t>evaluaciones</a:t>
              </a:r>
              <a:r>
                <a:rPr lang="en-US" altLang="ko-KR" sz="1200" dirty="0">
                  <a:solidFill>
                    <a:schemeClr val="tx1">
                      <a:lumMod val="75000"/>
                      <a:lumOff val="25000"/>
                    </a:schemeClr>
                  </a:solidFill>
                  <a:latin typeface="Arial Narrow" panose="020B0606020202030204" pitchFamily="34" charset="0"/>
                </a:rPr>
                <a:t> </a:t>
              </a:r>
              <a:r>
                <a:rPr lang="en-US" altLang="ko-KR" sz="1200" dirty="0" err="1">
                  <a:solidFill>
                    <a:schemeClr val="tx1">
                      <a:lumMod val="75000"/>
                      <a:lumOff val="25000"/>
                    </a:schemeClr>
                  </a:solidFill>
                  <a:latin typeface="Arial Narrow" panose="020B0606020202030204" pitchFamily="34" charset="0"/>
                </a:rPr>
                <a:t>planeadas</a:t>
              </a:r>
              <a:r>
                <a:rPr lang="en-US" altLang="ko-KR" sz="1200" dirty="0">
                  <a:solidFill>
                    <a:schemeClr val="tx1">
                      <a:lumMod val="75000"/>
                      <a:lumOff val="25000"/>
                    </a:schemeClr>
                  </a:solidFill>
                  <a:latin typeface="Arial Narrow" panose="020B0606020202030204" pitchFamily="34" charset="0"/>
                </a:rPr>
                <a:t>). Por </a:t>
              </a:r>
              <a:r>
                <a:rPr lang="en-US" altLang="ko-KR" sz="1200" dirty="0" err="1">
                  <a:solidFill>
                    <a:schemeClr val="tx1">
                      <a:lumMod val="75000"/>
                      <a:lumOff val="25000"/>
                    </a:schemeClr>
                  </a:solidFill>
                  <a:latin typeface="Arial Narrow" panose="020B0606020202030204" pitchFamily="34" charset="0"/>
                </a:rPr>
                <a:t>ejemplo</a:t>
              </a:r>
              <a:r>
                <a:rPr lang="en-US" altLang="ko-KR" sz="1200" dirty="0">
                  <a:solidFill>
                    <a:schemeClr val="tx1">
                      <a:lumMod val="75000"/>
                      <a:lumOff val="25000"/>
                    </a:schemeClr>
                  </a:solidFill>
                  <a:latin typeface="Arial Narrow" panose="020B0606020202030204" pitchFamily="34" charset="0"/>
                </a:rPr>
                <a:t>: </a:t>
              </a:r>
              <a:r>
                <a:rPr lang="es-MX" altLang="ko-KR" sz="1200" b="1" dirty="0">
                  <a:solidFill>
                    <a:schemeClr val="tx1">
                      <a:lumMod val="75000"/>
                      <a:lumOff val="25000"/>
                    </a:schemeClr>
                  </a:solidFill>
                  <a:latin typeface="Arial Narrow" panose="020B0606020202030204" pitchFamily="34" charset="0"/>
                </a:rPr>
                <a:t>Evaluación de proyectos </a:t>
              </a:r>
              <a:r>
                <a:rPr lang="es-MX" altLang="ko-KR" sz="1200" dirty="0">
                  <a:solidFill>
                    <a:schemeClr val="tx1">
                      <a:lumMod val="75000"/>
                      <a:lumOff val="25000"/>
                    </a:schemeClr>
                  </a:solidFill>
                  <a:latin typeface="Arial Narrow" panose="020B0606020202030204" pitchFamily="34" charset="0"/>
                </a:rPr>
                <a:t>(revisión de especificaciones de requerimientos, diseño y componentes, verificaciones y validaciones en general, inspecciones, pruebas unitarias, de integración y de sistema), </a:t>
              </a:r>
              <a:r>
                <a:rPr lang="es-MX" altLang="ko-KR" sz="1200" b="1" dirty="0">
                  <a:solidFill>
                    <a:schemeClr val="tx1">
                      <a:lumMod val="75000"/>
                      <a:lumOff val="25000"/>
                    </a:schemeClr>
                  </a:solidFill>
                  <a:latin typeface="Arial Narrow" panose="020B0606020202030204" pitchFamily="34" charset="0"/>
                </a:rPr>
                <a:t>auditorías de calidad del producto, evaluaciones externas, pruebas de productos adquiridos</a:t>
              </a:r>
              <a:r>
                <a:rPr lang="es-MX" altLang="ko-KR" sz="1200" dirty="0">
                  <a:solidFill>
                    <a:schemeClr val="tx1">
                      <a:lumMod val="75000"/>
                      <a:lumOff val="25000"/>
                    </a:schemeClr>
                  </a:solidFill>
                  <a:latin typeface="Arial Narrow" panose="020B0606020202030204" pitchFamily="34" charset="0"/>
                </a:rPr>
                <a:t>.</a:t>
              </a:r>
              <a:endParaRPr lang="en-US" altLang="ko-KR" sz="1200" dirty="0">
                <a:solidFill>
                  <a:schemeClr val="tx1">
                    <a:lumMod val="75000"/>
                    <a:lumOff val="25000"/>
                  </a:schemeClr>
                </a:solidFill>
                <a:latin typeface="Arial Narrow" panose="020B0606020202030204" pitchFamily="34" charset="0"/>
              </a:endParaRPr>
            </a:p>
          </p:txBody>
        </p:sp>
        <p:sp>
          <p:nvSpPr>
            <p:cNvPr id="16" name="Chevron 28">
              <a:extLst>
                <a:ext uri="{FF2B5EF4-FFF2-40B4-BE49-F238E27FC236}">
                  <a16:creationId xmlns:a16="http://schemas.microsoft.com/office/drawing/2014/main" id="{94C30A04-7378-7EA4-3A42-5DAA0D1A993C}"/>
                </a:ext>
              </a:extLst>
            </p:cNvPr>
            <p:cNvSpPr/>
            <p:nvPr/>
          </p:nvSpPr>
          <p:spPr>
            <a:xfrm>
              <a:off x="2205650" y="5970247"/>
              <a:ext cx="194565" cy="200987"/>
            </a:xfrm>
            <a:prstGeom prst="chevron">
              <a:avLst>
                <a:gd name="adj" fmla="val 548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grpSp>
      <p:grpSp>
        <p:nvGrpSpPr>
          <p:cNvPr id="17" name="그룹 4">
            <a:extLst>
              <a:ext uri="{FF2B5EF4-FFF2-40B4-BE49-F238E27FC236}">
                <a16:creationId xmlns:a16="http://schemas.microsoft.com/office/drawing/2014/main" id="{DBA9654B-CDA6-8E16-49C4-B652B1BD8814}"/>
              </a:ext>
            </a:extLst>
          </p:cNvPr>
          <p:cNvGrpSpPr/>
          <p:nvPr/>
        </p:nvGrpSpPr>
        <p:grpSpPr>
          <a:xfrm>
            <a:off x="26253" y="3651870"/>
            <a:ext cx="8987688" cy="1320362"/>
            <a:chOff x="1011489" y="4662686"/>
            <a:chExt cx="5594612" cy="1200329"/>
          </a:xfrm>
        </p:grpSpPr>
        <p:sp>
          <p:nvSpPr>
            <p:cNvPr id="18" name="TextBox 27">
              <a:extLst>
                <a:ext uri="{FF2B5EF4-FFF2-40B4-BE49-F238E27FC236}">
                  <a16:creationId xmlns:a16="http://schemas.microsoft.com/office/drawing/2014/main" id="{74CD9199-5830-0EE4-08FB-4384C5E46007}"/>
                </a:ext>
              </a:extLst>
            </p:cNvPr>
            <p:cNvSpPr txBox="1"/>
            <p:nvPr/>
          </p:nvSpPr>
          <p:spPr>
            <a:xfrm>
              <a:off x="1011489" y="5095747"/>
              <a:ext cx="1256998" cy="276999"/>
            </a:xfrm>
            <a:prstGeom prst="rect">
              <a:avLst/>
            </a:prstGeom>
            <a:noFill/>
          </p:spPr>
          <p:txBody>
            <a:bodyPr wrap="square" rtlCol="0">
              <a:spAutoFit/>
            </a:bodyPr>
            <a:lstStyle/>
            <a:p>
              <a:pPr algn="r"/>
              <a:r>
                <a:rPr lang="en-US" altLang="ko-KR" sz="1200" b="1" dirty="0">
                  <a:solidFill>
                    <a:schemeClr val="accent2"/>
                  </a:solidFill>
                  <a:cs typeface="Arial" pitchFamily="34" charset="0"/>
                </a:rPr>
                <a:t>Costos de </a:t>
              </a:r>
              <a:r>
                <a:rPr lang="en-US" altLang="ko-KR" sz="1200" b="1" dirty="0" err="1">
                  <a:solidFill>
                    <a:schemeClr val="accent2"/>
                  </a:solidFill>
                  <a:cs typeface="Arial" pitchFamily="34" charset="0"/>
                </a:rPr>
                <a:t>fallas</a:t>
              </a:r>
              <a:r>
                <a:rPr lang="en-US" altLang="ko-KR" sz="1200" b="1" dirty="0">
                  <a:solidFill>
                    <a:schemeClr val="accent2"/>
                  </a:solidFill>
                  <a:cs typeface="Arial" pitchFamily="34" charset="0"/>
                </a:rPr>
                <a:t> </a:t>
              </a:r>
              <a:r>
                <a:rPr lang="en-US" altLang="ko-KR" sz="1200" b="1" dirty="0" err="1">
                  <a:solidFill>
                    <a:schemeClr val="accent2"/>
                  </a:solidFill>
                  <a:cs typeface="Arial" pitchFamily="34" charset="0"/>
                </a:rPr>
                <a:t>externas</a:t>
              </a:r>
              <a:endParaRPr lang="ko-KR" altLang="en-US" sz="1200" b="1" dirty="0">
                <a:solidFill>
                  <a:schemeClr val="accent2"/>
                </a:solidFill>
                <a:cs typeface="Arial" pitchFamily="34" charset="0"/>
              </a:endParaRPr>
            </a:p>
          </p:txBody>
        </p:sp>
        <p:sp>
          <p:nvSpPr>
            <p:cNvPr id="19" name="TextBox 28">
              <a:extLst>
                <a:ext uri="{FF2B5EF4-FFF2-40B4-BE49-F238E27FC236}">
                  <a16:creationId xmlns:a16="http://schemas.microsoft.com/office/drawing/2014/main" id="{7B898BEA-8D0D-504E-8EC0-04E343EB60C0}"/>
                </a:ext>
              </a:extLst>
            </p:cNvPr>
            <p:cNvSpPr txBox="1"/>
            <p:nvPr/>
          </p:nvSpPr>
          <p:spPr>
            <a:xfrm>
              <a:off x="2649953" y="4662686"/>
              <a:ext cx="3956148" cy="1200329"/>
            </a:xfrm>
            <a:prstGeom prst="rect">
              <a:avLst/>
            </a:prstGeom>
            <a:noFill/>
          </p:spPr>
          <p:txBody>
            <a:bodyPr wrap="square" rtlCol="0">
              <a:spAutoFit/>
            </a:bodyPr>
            <a:lstStyle/>
            <a:p>
              <a:pPr algn="just" latinLnBrk="0">
                <a:spcBef>
                  <a:spcPct val="20000"/>
                </a:spcBef>
              </a:pPr>
              <a:r>
                <a:rPr lang="es-MX" altLang="ko-KR" sz="1200" dirty="0">
                  <a:solidFill>
                    <a:schemeClr val="tx1">
                      <a:lumMod val="75000"/>
                      <a:lumOff val="25000"/>
                    </a:schemeClr>
                  </a:solidFill>
                  <a:latin typeface="Arial Narrow" panose="020B0606020202030204" pitchFamily="34" charset="0"/>
                </a:rPr>
                <a:t>Costo del esfuerzo para corregir problemas que son detectados por el usuario. Esto incluye remoción de </a:t>
              </a:r>
              <a:r>
                <a:rPr lang="es-MX" altLang="ko-KR" sz="1200" b="1" dirty="0">
                  <a:solidFill>
                    <a:schemeClr val="tx1">
                      <a:lumMod val="75000"/>
                      <a:lumOff val="25000"/>
                    </a:schemeClr>
                  </a:solidFill>
                  <a:latin typeface="Arial Narrow" panose="020B0606020202030204" pitchFamily="34" charset="0"/>
                </a:rPr>
                <a:t>fallas</a:t>
              </a:r>
              <a:r>
                <a:rPr lang="es-MX" altLang="ko-KR" sz="1200" dirty="0">
                  <a:solidFill>
                    <a:schemeClr val="tx1">
                      <a:lumMod val="75000"/>
                      <a:lumOff val="25000"/>
                    </a:schemeClr>
                  </a:solidFill>
                  <a:latin typeface="Arial Narrow" panose="020B0606020202030204" pitchFamily="34" charset="0"/>
                </a:rPr>
                <a:t>(mantenimiento correctivo, retrabajo, codificación y prueba de defectos, compra de actualizaciones de productos), </a:t>
              </a:r>
              <a:r>
                <a:rPr lang="es-MX" altLang="ko-KR" sz="1200" b="1" dirty="0">
                  <a:solidFill>
                    <a:schemeClr val="tx1">
                      <a:lumMod val="75000"/>
                      <a:lumOff val="25000"/>
                    </a:schemeClr>
                  </a:solidFill>
                  <a:latin typeface="Arial Narrow" panose="020B0606020202030204" pitchFamily="34" charset="0"/>
                </a:rPr>
                <a:t>soporte</a:t>
              </a:r>
              <a:r>
                <a:rPr lang="es-MX" altLang="ko-KR" sz="1200" dirty="0">
                  <a:solidFill>
                    <a:schemeClr val="tx1">
                      <a:lumMod val="75000"/>
                      <a:lumOff val="25000"/>
                    </a:schemeClr>
                  </a:solidFill>
                  <a:latin typeface="Arial Narrow" panose="020B0606020202030204" pitchFamily="34" charset="0"/>
                </a:rPr>
                <a:t> (soporte técnico para responder por los defectos, preparación de apuntes de respuestas de soporte, investigación de las quejas del usuario), </a:t>
              </a:r>
              <a:r>
                <a:rPr lang="es-MX" altLang="ko-KR" sz="1200" b="1" dirty="0">
                  <a:solidFill>
                    <a:schemeClr val="tx1">
                      <a:lumMod val="75000"/>
                      <a:lumOff val="25000"/>
                    </a:schemeClr>
                  </a:solidFill>
                  <a:latin typeface="Arial Narrow" panose="020B0606020202030204" pitchFamily="34" charset="0"/>
                </a:rPr>
                <a:t>compensación</a:t>
              </a:r>
              <a:r>
                <a:rPr lang="es-MX" altLang="ko-KR" sz="1200" dirty="0">
                  <a:solidFill>
                    <a:schemeClr val="tx1">
                      <a:lumMod val="75000"/>
                      <a:lumOff val="25000"/>
                    </a:schemeClr>
                  </a:solidFill>
                  <a:latin typeface="Arial Narrow" panose="020B0606020202030204" pitchFamily="34" charset="0"/>
                </a:rPr>
                <a:t> (penalizaciones, reclamaciones, productos devueltos, reembolsos, descuentos, costos de garantía), </a:t>
              </a:r>
              <a:r>
                <a:rPr lang="es-MX" altLang="ko-KR" sz="1200" b="1" dirty="0">
                  <a:solidFill>
                    <a:schemeClr val="tx1">
                      <a:lumMod val="75000"/>
                      <a:lumOff val="25000"/>
                    </a:schemeClr>
                  </a:solidFill>
                  <a:latin typeface="Arial Narrow" panose="020B0606020202030204" pitchFamily="34" charset="0"/>
                </a:rPr>
                <a:t>otros</a:t>
              </a:r>
              <a:r>
                <a:rPr lang="es-MX" altLang="ko-KR" sz="1200" dirty="0">
                  <a:solidFill>
                    <a:schemeClr val="tx1">
                      <a:lumMod val="75000"/>
                      <a:lumOff val="25000"/>
                    </a:schemeClr>
                  </a:solidFill>
                  <a:latin typeface="Arial Narrow" panose="020B0606020202030204" pitchFamily="34" charset="0"/>
                </a:rPr>
                <a:t> (mala reputación, pérdida de ventas, usuario insatisfecho, pérdida de la confianza del cliente).</a:t>
              </a:r>
              <a:endParaRPr lang="en-US" altLang="ko-KR" sz="1200" dirty="0">
                <a:solidFill>
                  <a:schemeClr val="tx1">
                    <a:lumMod val="75000"/>
                    <a:lumOff val="25000"/>
                  </a:schemeClr>
                </a:solidFill>
                <a:latin typeface="Arial Narrow" panose="020B0606020202030204" pitchFamily="34" charset="0"/>
              </a:endParaRPr>
            </a:p>
          </p:txBody>
        </p:sp>
        <p:sp>
          <p:nvSpPr>
            <p:cNvPr id="20" name="Chevron 27">
              <a:extLst>
                <a:ext uri="{FF2B5EF4-FFF2-40B4-BE49-F238E27FC236}">
                  <a16:creationId xmlns:a16="http://schemas.microsoft.com/office/drawing/2014/main" id="{9B45E0B6-8908-9AE8-5110-E7C2AF5C66EB}"/>
                </a:ext>
              </a:extLst>
            </p:cNvPr>
            <p:cNvSpPr/>
            <p:nvPr/>
          </p:nvSpPr>
          <p:spPr>
            <a:xfrm>
              <a:off x="2361938" y="5128200"/>
              <a:ext cx="194565" cy="200987"/>
            </a:xfrm>
            <a:prstGeom prst="chevron">
              <a:avLst>
                <a:gd name="adj" fmla="val 5486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2597651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5731-0981-3694-D88B-11CBE98D14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1DC10F-BE19-A420-DC31-AAC2B48C1A00}"/>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3074" name="Picture 2">
            <a:extLst>
              <a:ext uri="{FF2B5EF4-FFF2-40B4-BE49-F238E27FC236}">
                <a16:creationId xmlns:a16="http://schemas.microsoft.com/office/drawing/2014/main" id="{FF00D212-2C3C-05E2-8FBB-531EE361F8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4466"/>
            <a:ext cx="9144000" cy="4259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101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636E-A493-2A83-9AE0-D06FEE4D31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1585E4-6285-B871-600A-057565BD9AF6}"/>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1026" name="Picture 2">
            <a:extLst>
              <a:ext uri="{FF2B5EF4-FFF2-40B4-BE49-F238E27FC236}">
                <a16:creationId xmlns:a16="http://schemas.microsoft.com/office/drawing/2014/main" id="{DCF240C2-634F-FE52-CE59-59BDD9713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915566"/>
            <a:ext cx="6888634" cy="4227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16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FB59-539D-4AAC-0079-50464FA07E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3F623A-4692-84B9-D9B9-6EE72875A84F}"/>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pic>
        <p:nvPicPr>
          <p:cNvPr id="2050" name="Picture 2">
            <a:extLst>
              <a:ext uri="{FF2B5EF4-FFF2-40B4-BE49-F238E27FC236}">
                <a16:creationId xmlns:a16="http://schemas.microsoft.com/office/drawing/2014/main" id="{DB2DE128-F69A-1FB4-ABB2-D2410BD130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 y="918108"/>
            <a:ext cx="9141843" cy="4225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402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75656" y="0"/>
            <a:ext cx="7668344" cy="884466"/>
          </a:xfrm>
        </p:spPr>
        <p:txBody>
          <a:bodyPr/>
          <a:lstStyle/>
          <a:p>
            <a:r>
              <a:rPr lang="en-US" sz="3200" dirty="0"/>
              <a:t>1.1 </a:t>
            </a:r>
            <a:r>
              <a:rPr lang="en-US" sz="3200" dirty="0" err="1"/>
              <a:t>Conceptos</a:t>
            </a:r>
            <a:r>
              <a:rPr lang="en-US" sz="3200" dirty="0"/>
              <a:t> de Calidad de Software</a:t>
            </a:r>
            <a:endParaRPr lang="ko-KR" altLang="en-US" sz="3200" dirty="0"/>
          </a:p>
        </p:txBody>
      </p:sp>
      <p:sp>
        <p:nvSpPr>
          <p:cNvPr id="2" name="Content Placeholder 1"/>
          <p:cNvSpPr>
            <a:spLocks noGrp="1"/>
          </p:cNvSpPr>
          <p:nvPr>
            <p:ph idx="1"/>
          </p:nvPr>
        </p:nvSpPr>
        <p:spPr>
          <a:xfrm>
            <a:off x="1853444" y="988080"/>
            <a:ext cx="6912768" cy="460648"/>
          </a:xfrm>
        </p:spPr>
        <p:txBody>
          <a:bodyPr/>
          <a:lstStyle/>
          <a:p>
            <a:r>
              <a:rPr lang="en-US" sz="2400" b="1" dirty="0" err="1">
                <a:latin typeface="Arial Narrow" panose="020B0606020202030204" pitchFamily="34" charset="0"/>
              </a:rPr>
              <a:t>Conclusión</a:t>
            </a:r>
            <a:endParaRPr lang="en-US" sz="2400" b="1" dirty="0">
              <a:latin typeface="Arial Narrow" panose="020B0606020202030204" pitchFamily="34" charset="0"/>
            </a:endParaRPr>
          </a:p>
        </p:txBody>
      </p:sp>
      <p:sp>
        <p:nvSpPr>
          <p:cNvPr id="5" name="Content Placeholder 4"/>
          <p:cNvSpPr>
            <a:spLocks noGrp="1"/>
          </p:cNvSpPr>
          <p:nvPr>
            <p:ph idx="10"/>
          </p:nvPr>
        </p:nvSpPr>
        <p:spPr>
          <a:xfrm>
            <a:off x="1547664" y="1448222"/>
            <a:ext cx="5256584" cy="3571800"/>
          </a:xfrm>
        </p:spPr>
        <p:txBody>
          <a:bodyPr/>
          <a:lstStyle/>
          <a:p>
            <a:pPr algn="just" latinLnBrk="0"/>
            <a:r>
              <a:rPr lang="es-MX" altLang="ko-KR" sz="1800" dirty="0">
                <a:latin typeface="Arial Narrow" panose="020B0606020202030204" pitchFamily="34" charset="0"/>
              </a:rPr>
              <a:t>La administración de la calidad total como una variable y estrategia de software, es la clave que siempre toman en cuenta en las empresas, las cuales necesitan verla y tratarla como corresponde.</a:t>
            </a:r>
          </a:p>
          <a:p>
            <a:pPr algn="just" latinLnBrk="0"/>
            <a:r>
              <a:rPr lang="es-MX" altLang="ko-KR" sz="1800" dirty="0">
                <a:latin typeface="Arial Narrow" panose="020B0606020202030204" pitchFamily="34" charset="0"/>
              </a:rPr>
              <a:t>Uno de los factores para promover un proceso de mejoramiento continuo de la calidad consiste en </a:t>
            </a:r>
            <a:r>
              <a:rPr lang="es-MX" altLang="ko-KR" sz="1800" b="1" dirty="0">
                <a:latin typeface="Arial Narrow" panose="020B0606020202030204" pitchFamily="34" charset="0"/>
              </a:rPr>
              <a:t>recopilar, documentar</a:t>
            </a:r>
            <a:r>
              <a:rPr lang="es-MX" altLang="ko-KR" sz="1800" dirty="0">
                <a:latin typeface="Arial Narrow" panose="020B0606020202030204" pitchFamily="34" charset="0"/>
              </a:rPr>
              <a:t> y usar la </a:t>
            </a:r>
            <a:r>
              <a:rPr lang="es-MX" altLang="ko-KR" sz="1800" b="1" dirty="0">
                <a:latin typeface="Arial Narrow" panose="020B0606020202030204" pitchFamily="34" charset="0"/>
              </a:rPr>
              <a:t>información</a:t>
            </a:r>
            <a:r>
              <a:rPr lang="es-MX" altLang="ko-KR" sz="1800" dirty="0">
                <a:latin typeface="Arial Narrow" panose="020B0606020202030204" pitchFamily="34" charset="0"/>
              </a:rPr>
              <a:t> sobre los costos relacionados con la calidad.</a:t>
            </a:r>
          </a:p>
          <a:p>
            <a:pPr algn="just" latinLnBrk="0"/>
            <a:r>
              <a:rPr lang="es-MX" altLang="ko-KR" sz="1800" dirty="0">
                <a:latin typeface="Arial Narrow" panose="020B0606020202030204" pitchFamily="34" charset="0"/>
              </a:rPr>
              <a:t>Es necesario que los costos de la calidad sean declarados formalmente por las empresas, parte de sus planes operacionales y sus sistemas presupuestarios, y que los ejecutivos los manejen como se debe.</a:t>
            </a:r>
            <a:endParaRPr lang="ko-KR" altLang="en-US" sz="1800" dirty="0">
              <a:latin typeface="Arial Narrow" panose="020B0606020202030204" pitchFamily="34" charset="0"/>
            </a:endParaRPr>
          </a:p>
        </p:txBody>
      </p:sp>
      <p:pic>
        <p:nvPicPr>
          <p:cNvPr id="6" name="Picture 5" descr="A colorful triangle with words&#10;&#10;AI-generated content may be incorrect.">
            <a:extLst>
              <a:ext uri="{FF2B5EF4-FFF2-40B4-BE49-F238E27FC236}">
                <a16:creationId xmlns:a16="http://schemas.microsoft.com/office/drawing/2014/main" id="{7782B691-3433-A3BC-A94E-D20F921E79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04248" y="1779662"/>
            <a:ext cx="2254291" cy="22117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79107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9161C-DBF7-88B0-1F9E-7D48DEE44061}"/>
            </a:ext>
          </a:extLst>
        </p:cNvPr>
        <p:cNvGrpSpPr/>
        <p:nvPr/>
      </p:nvGrpSpPr>
      <p:grpSpPr>
        <a:xfrm>
          <a:off x="0" y="0"/>
          <a:ext cx="0" cy="0"/>
          <a:chOff x="0" y="0"/>
          <a:chExt cx="0" cy="0"/>
        </a:xfrm>
      </p:grpSpPr>
      <p:pic>
        <p:nvPicPr>
          <p:cNvPr id="27" name="Picture 26" descr="A group of people around a table&#10;&#10;AI-generated content may be incorrect.">
            <a:extLst>
              <a:ext uri="{FF2B5EF4-FFF2-40B4-BE49-F238E27FC236}">
                <a16:creationId xmlns:a16="http://schemas.microsoft.com/office/drawing/2014/main" id="{F3FA705F-E343-0F84-F6E2-04C8090D84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977" y="1923678"/>
            <a:ext cx="2283954" cy="2592288"/>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5C304694-139F-3297-370B-836B37121611}"/>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graphicFrame>
        <p:nvGraphicFramePr>
          <p:cNvPr id="24" name="Diagram 23">
            <a:extLst>
              <a:ext uri="{FF2B5EF4-FFF2-40B4-BE49-F238E27FC236}">
                <a16:creationId xmlns:a16="http://schemas.microsoft.com/office/drawing/2014/main" id="{F807AF2A-3756-70A0-C5AF-6FBBF1FEDCF5}"/>
              </a:ext>
            </a:extLst>
          </p:cNvPr>
          <p:cNvGraphicFramePr/>
          <p:nvPr>
            <p:extLst>
              <p:ext uri="{D42A27DB-BD31-4B8C-83A1-F6EECF244321}">
                <p14:modId xmlns:p14="http://schemas.microsoft.com/office/powerpoint/2010/main" val="3438137071"/>
              </p:ext>
            </p:extLst>
          </p:nvPr>
        </p:nvGraphicFramePr>
        <p:xfrm>
          <a:off x="1403648" y="1491956"/>
          <a:ext cx="8496944" cy="3559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Rectangle: Rounded Corners 18">
            <a:extLst>
              <a:ext uri="{FF2B5EF4-FFF2-40B4-BE49-F238E27FC236}">
                <a16:creationId xmlns:a16="http://schemas.microsoft.com/office/drawing/2014/main" id="{42E1DCE1-8089-B628-9CAE-FAE74A4557A0}"/>
              </a:ext>
            </a:extLst>
          </p:cNvPr>
          <p:cNvSpPr/>
          <p:nvPr/>
        </p:nvSpPr>
        <p:spPr>
          <a:xfrm>
            <a:off x="2411730" y="1018667"/>
            <a:ext cx="4320540" cy="391140"/>
          </a:xfrm>
          <a:prstGeom prst="roundRect">
            <a:avLst>
              <a:gd name="adj" fmla="val 50000"/>
            </a:avLst>
          </a:prstGeom>
          <a:solidFill>
            <a:schemeClr val="tx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350" dirty="0">
                <a:solidFill>
                  <a:schemeClr val="bg1">
                    <a:lumMod val="95000"/>
                  </a:schemeClr>
                </a:solidFill>
                <a:latin typeface="Arial Narrow" panose="020B0606020202030204" pitchFamily="34" charset="0"/>
              </a:rPr>
              <a:t>Factores Clave de Calidad del Software</a:t>
            </a:r>
            <a:endParaRPr lang="en-US" sz="1350" dirty="0">
              <a:solidFill>
                <a:schemeClr val="bg1">
                  <a:lumMod val="95000"/>
                </a:schemeClr>
              </a:solidFill>
              <a:latin typeface="Arial Narrow" panose="020B0606020202030204" pitchFamily="34" charset="0"/>
            </a:endParaRPr>
          </a:p>
        </p:txBody>
      </p:sp>
      <p:sp>
        <p:nvSpPr>
          <p:cNvPr id="28" name="TextBox 27">
            <a:extLst>
              <a:ext uri="{FF2B5EF4-FFF2-40B4-BE49-F238E27FC236}">
                <a16:creationId xmlns:a16="http://schemas.microsoft.com/office/drawing/2014/main" id="{81FD6A80-23FD-BF14-DDF3-3377E9756470}"/>
              </a:ext>
            </a:extLst>
          </p:cNvPr>
          <p:cNvSpPr txBox="1"/>
          <p:nvPr/>
        </p:nvSpPr>
        <p:spPr>
          <a:xfrm>
            <a:off x="41732" y="4912668"/>
            <a:ext cx="1151277" cy="230832"/>
          </a:xfrm>
          <a:prstGeom prst="rect">
            <a:avLst/>
          </a:prstGeom>
          <a:noFill/>
        </p:spPr>
        <p:txBody>
          <a:bodyPr wrap="none" rtlCol="0">
            <a:spAutoFit/>
          </a:bodyPr>
          <a:lstStyle/>
          <a:p>
            <a:r>
              <a:rPr lang="es-MX" sz="900" i="1" dirty="0"/>
              <a:t>Fuente: ISO 25010</a:t>
            </a:r>
          </a:p>
        </p:txBody>
      </p:sp>
    </p:spTree>
    <p:extLst>
      <p:ext uri="{BB962C8B-B14F-4D97-AF65-F5344CB8AC3E}">
        <p14:creationId xmlns:p14="http://schemas.microsoft.com/office/powerpoint/2010/main" val="2246645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861D-5EF3-6C00-1246-4B428FFB0D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8F8C34-FCEA-5E78-E4A4-84327FA9B9FC}"/>
              </a:ext>
            </a:extLst>
          </p:cNvPr>
          <p:cNvSpPr>
            <a:spLocks noGrp="1"/>
          </p:cNvSpPr>
          <p:nvPr>
            <p:ph type="title"/>
          </p:nvPr>
        </p:nvSpPr>
        <p:spPr/>
        <p:txBody>
          <a:bodyPr/>
          <a:lstStyle/>
          <a:p>
            <a:r>
              <a:rPr lang="en-US" sz="3200" dirty="0"/>
              <a:t> 1.1 </a:t>
            </a:r>
            <a:r>
              <a:rPr lang="en-US" sz="3200" dirty="0" err="1"/>
              <a:t>Conceptos</a:t>
            </a:r>
            <a:r>
              <a:rPr lang="en-US" sz="3200" dirty="0"/>
              <a:t> de Calidad de Software</a:t>
            </a:r>
          </a:p>
        </p:txBody>
      </p:sp>
      <p:sp>
        <p:nvSpPr>
          <p:cNvPr id="25" name="Rectangle: Rounded Corners 18">
            <a:extLst>
              <a:ext uri="{FF2B5EF4-FFF2-40B4-BE49-F238E27FC236}">
                <a16:creationId xmlns:a16="http://schemas.microsoft.com/office/drawing/2014/main" id="{52F5F1A8-A219-EDE3-C39A-5B3B1942781F}"/>
              </a:ext>
            </a:extLst>
          </p:cNvPr>
          <p:cNvSpPr/>
          <p:nvPr/>
        </p:nvSpPr>
        <p:spPr>
          <a:xfrm>
            <a:off x="2411730" y="1018667"/>
            <a:ext cx="4320540" cy="391140"/>
          </a:xfrm>
          <a:prstGeom prst="roundRect">
            <a:avLst>
              <a:gd name="adj" fmla="val 50000"/>
            </a:avLst>
          </a:prstGeom>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solidFill>
                  <a:schemeClr val="bg1">
                    <a:lumMod val="95000"/>
                  </a:schemeClr>
                </a:solidFill>
                <a:latin typeface="Arial Narrow" panose="020B0606020202030204" pitchFamily="34" charset="0"/>
              </a:rPr>
              <a:t>¿Cómo Medimos la Calidad del Software?</a:t>
            </a:r>
            <a:endParaRPr lang="en-US" sz="1600" dirty="0">
              <a:solidFill>
                <a:schemeClr val="bg1">
                  <a:lumMod val="95000"/>
                </a:schemeClr>
              </a:solidFill>
              <a:latin typeface="Arial Narrow" panose="020B0606020202030204" pitchFamily="34" charset="0"/>
            </a:endParaRPr>
          </a:p>
        </p:txBody>
      </p:sp>
      <p:graphicFrame>
        <p:nvGraphicFramePr>
          <p:cNvPr id="2" name="Diagram 1">
            <a:extLst>
              <a:ext uri="{FF2B5EF4-FFF2-40B4-BE49-F238E27FC236}">
                <a16:creationId xmlns:a16="http://schemas.microsoft.com/office/drawing/2014/main" id="{21495202-80C2-4B06-6ABD-0104ADC5C5B4}"/>
              </a:ext>
            </a:extLst>
          </p:cNvPr>
          <p:cNvGraphicFramePr/>
          <p:nvPr>
            <p:extLst>
              <p:ext uri="{D42A27DB-BD31-4B8C-83A1-F6EECF244321}">
                <p14:modId xmlns:p14="http://schemas.microsoft.com/office/powerpoint/2010/main" val="3998005228"/>
              </p:ext>
            </p:extLst>
          </p:nvPr>
        </p:nvGraphicFramePr>
        <p:xfrm>
          <a:off x="395536" y="1509806"/>
          <a:ext cx="6096000" cy="347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ABF46F69-6711-BDF6-3789-820F9FE7CF86}"/>
              </a:ext>
            </a:extLst>
          </p:cNvPr>
          <p:cNvSpPr txBox="1"/>
          <p:nvPr/>
        </p:nvSpPr>
        <p:spPr>
          <a:xfrm>
            <a:off x="5796136" y="4851161"/>
            <a:ext cx="3441066" cy="246221"/>
          </a:xfrm>
          <a:prstGeom prst="rect">
            <a:avLst/>
          </a:prstGeom>
          <a:noFill/>
        </p:spPr>
        <p:txBody>
          <a:bodyPr wrap="square">
            <a:spAutoFit/>
          </a:bodyPr>
          <a:lstStyle/>
          <a:p>
            <a:r>
              <a:rPr lang="es-MX" sz="1000" b="0" i="1" dirty="0">
                <a:effectLst/>
                <a:latin typeface="Arial Narrow" panose="020B0606020202030204" pitchFamily="34" charset="0"/>
              </a:rPr>
              <a:t>ISO/IEC 25010 – Sistemas y software de producto </a:t>
            </a:r>
            <a:r>
              <a:rPr lang="es-MX" sz="1000" b="0" i="1" dirty="0" err="1">
                <a:effectLst/>
                <a:latin typeface="Arial Narrow" panose="020B0606020202030204" pitchFamily="34" charset="0"/>
              </a:rPr>
              <a:t>Quality</a:t>
            </a:r>
            <a:r>
              <a:rPr lang="es-MX" sz="1000" b="0" i="1" dirty="0">
                <a:effectLst/>
                <a:latin typeface="Arial Narrow" panose="020B0606020202030204" pitchFamily="34" charset="0"/>
              </a:rPr>
              <a:t> </a:t>
            </a:r>
            <a:r>
              <a:rPr lang="es-MX" sz="1000" b="0" i="1" dirty="0" err="1">
                <a:effectLst/>
                <a:latin typeface="Arial Narrow" panose="020B0606020202030204" pitchFamily="34" charset="0"/>
              </a:rPr>
              <a:t>Model</a:t>
            </a:r>
            <a:r>
              <a:rPr lang="es-MX" sz="1000" b="0" i="1" dirty="0">
                <a:effectLst/>
                <a:latin typeface="Arial Narrow" panose="020B0606020202030204" pitchFamily="34" charset="0"/>
              </a:rPr>
              <a:t> </a:t>
            </a:r>
            <a:endParaRPr lang="es-MX" sz="1000" i="1" dirty="0">
              <a:latin typeface="Arial Narrow" panose="020B0606020202030204" pitchFamily="34" charset="0"/>
            </a:endParaRPr>
          </a:p>
        </p:txBody>
      </p:sp>
      <p:pic>
        <p:nvPicPr>
          <p:cNvPr id="7" name="Picture 6" descr="A computer on top of a stack of books&#10;&#10;AI-generated content may be incorrect.">
            <a:extLst>
              <a:ext uri="{FF2B5EF4-FFF2-40B4-BE49-F238E27FC236}">
                <a16:creationId xmlns:a16="http://schemas.microsoft.com/office/drawing/2014/main" id="{21BDB0FB-5C45-8163-888E-8841A1E2A8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17016" y="1931268"/>
            <a:ext cx="2486537" cy="24277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16203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58;p123">
            <a:extLst>
              <a:ext uri="{FF2B5EF4-FFF2-40B4-BE49-F238E27FC236}">
                <a16:creationId xmlns:a16="http://schemas.microsoft.com/office/drawing/2014/main" id="{7A31EBC7-A35C-08EB-0115-A52C336F5B81}"/>
              </a:ext>
            </a:extLst>
          </p:cNvPr>
          <p:cNvSpPr txBox="1">
            <a:spLocks/>
          </p:cNvSpPr>
          <p:nvPr/>
        </p:nvSpPr>
        <p:spPr>
          <a:xfrm>
            <a:off x="179937" y="680022"/>
            <a:ext cx="4077692" cy="1086324"/>
          </a:xfrm>
          <a:prstGeom prst="rect">
            <a:avLst/>
          </a:prstGeom>
        </p:spPr>
        <p:txBody>
          <a:bodyPr spcFirstLastPara="1" wrap="square" lIns="68569" tIns="68569" rIns="68569" bIns="68569"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s-PE" sz="6600" dirty="0">
                <a:solidFill>
                  <a:srgbClr val="013857"/>
                </a:solidFill>
                <a:latin typeface="Arial Narrow" panose="020B0606020202030204" pitchFamily="34" charset="0"/>
              </a:rPr>
              <a:t>Gracias</a:t>
            </a:r>
          </a:p>
        </p:txBody>
      </p:sp>
      <p:sp>
        <p:nvSpPr>
          <p:cNvPr id="3" name="Google Shape;2559;p123">
            <a:extLst>
              <a:ext uri="{FF2B5EF4-FFF2-40B4-BE49-F238E27FC236}">
                <a16:creationId xmlns:a16="http://schemas.microsoft.com/office/drawing/2014/main" id="{05EFDCAC-4C20-4A71-99AD-EDE58FDB108E}"/>
              </a:ext>
            </a:extLst>
          </p:cNvPr>
          <p:cNvSpPr txBox="1">
            <a:spLocks/>
          </p:cNvSpPr>
          <p:nvPr/>
        </p:nvSpPr>
        <p:spPr>
          <a:xfrm>
            <a:off x="323528" y="1922242"/>
            <a:ext cx="4077692" cy="481138"/>
          </a:xfrm>
          <a:prstGeom prst="rect">
            <a:avLst/>
          </a:prstGeom>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200" dirty="0" err="1">
                <a:solidFill>
                  <a:schemeClr val="tx2">
                    <a:lumMod val="50000"/>
                  </a:schemeClr>
                </a:solidFill>
                <a:latin typeface="Aptos Narrow" panose="020B0004020202020204" pitchFamily="34" charset="0"/>
              </a:rPr>
              <a:t>Preguntas</a:t>
            </a:r>
            <a:r>
              <a:rPr lang="en-US" sz="3200" dirty="0">
                <a:solidFill>
                  <a:schemeClr val="tx2">
                    <a:lumMod val="50000"/>
                  </a:schemeClr>
                </a:solidFill>
                <a:latin typeface="Aptos Narrow" panose="020B0004020202020204" pitchFamily="34" charset="0"/>
              </a:rPr>
              <a:t>?</a:t>
            </a:r>
          </a:p>
        </p:txBody>
      </p:sp>
      <p:grpSp>
        <p:nvGrpSpPr>
          <p:cNvPr id="18" name="Group 4">
            <a:extLst>
              <a:ext uri="{FF2B5EF4-FFF2-40B4-BE49-F238E27FC236}">
                <a16:creationId xmlns:a16="http://schemas.microsoft.com/office/drawing/2014/main" id="{65857BDB-D5F1-AED2-D331-E16F29E8FC45}"/>
              </a:ext>
            </a:extLst>
          </p:cNvPr>
          <p:cNvGrpSpPr>
            <a:grpSpLocks noChangeAspect="1"/>
          </p:cNvGrpSpPr>
          <p:nvPr/>
        </p:nvGrpSpPr>
        <p:grpSpPr bwMode="auto">
          <a:xfrm>
            <a:off x="4257629" y="989708"/>
            <a:ext cx="1324947" cy="1156580"/>
            <a:chOff x="2446" y="1449"/>
            <a:chExt cx="1928" cy="1683"/>
          </a:xfrm>
        </p:grpSpPr>
        <p:sp>
          <p:nvSpPr>
            <p:cNvPr id="19" name="AutoShape 3">
              <a:extLst>
                <a:ext uri="{FF2B5EF4-FFF2-40B4-BE49-F238E27FC236}">
                  <a16:creationId xmlns:a16="http://schemas.microsoft.com/office/drawing/2014/main" id="{4D296F52-A8EF-99BF-1522-5E01C9E8F8B5}"/>
                </a:ext>
              </a:extLst>
            </p:cNvPr>
            <p:cNvSpPr>
              <a:spLocks noChangeAspect="1" noChangeArrowheads="1" noTextEdit="1"/>
            </p:cNvSpPr>
            <p:nvPr/>
          </p:nvSpPr>
          <p:spPr bwMode="auto">
            <a:xfrm>
              <a:off x="2446" y="1449"/>
              <a:ext cx="1928" cy="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s-PE" sz="1350"/>
            </a:p>
          </p:txBody>
        </p:sp>
        <p:sp>
          <p:nvSpPr>
            <p:cNvPr id="20" name="Freeform 5">
              <a:extLst>
                <a:ext uri="{FF2B5EF4-FFF2-40B4-BE49-F238E27FC236}">
                  <a16:creationId xmlns:a16="http://schemas.microsoft.com/office/drawing/2014/main" id="{2A4A50EB-0B27-359B-D7B3-C54959C368EC}"/>
                </a:ext>
              </a:extLst>
            </p:cNvPr>
            <p:cNvSpPr>
              <a:spLocks/>
            </p:cNvSpPr>
            <p:nvPr/>
          </p:nvSpPr>
          <p:spPr bwMode="auto">
            <a:xfrm>
              <a:off x="2444" y="1447"/>
              <a:ext cx="1935" cy="1685"/>
            </a:xfrm>
            <a:custGeom>
              <a:avLst/>
              <a:gdLst>
                <a:gd name="T0" fmla="*/ 1138 w 1156"/>
                <a:gd name="T1" fmla="*/ 990 h 1006"/>
                <a:gd name="T2" fmla="*/ 1104 w 1156"/>
                <a:gd name="T3" fmla="*/ 973 h 1006"/>
                <a:gd name="T4" fmla="*/ 1048 w 1156"/>
                <a:gd name="T5" fmla="*/ 929 h 1006"/>
                <a:gd name="T6" fmla="*/ 993 w 1156"/>
                <a:gd name="T7" fmla="*/ 837 h 1006"/>
                <a:gd name="T8" fmla="*/ 992 w 1156"/>
                <a:gd name="T9" fmla="*/ 814 h 1006"/>
                <a:gd name="T10" fmla="*/ 1050 w 1156"/>
                <a:gd name="T11" fmla="*/ 753 h 1006"/>
                <a:gd name="T12" fmla="*/ 1123 w 1156"/>
                <a:gd name="T13" fmla="*/ 631 h 1006"/>
                <a:gd name="T14" fmla="*/ 1143 w 1156"/>
                <a:gd name="T15" fmla="*/ 568 h 1006"/>
                <a:gd name="T16" fmla="*/ 1147 w 1156"/>
                <a:gd name="T17" fmla="*/ 396 h 1006"/>
                <a:gd name="T18" fmla="*/ 1128 w 1156"/>
                <a:gd name="T19" fmla="*/ 332 h 1006"/>
                <a:gd name="T20" fmla="*/ 1061 w 1156"/>
                <a:gd name="T21" fmla="*/ 211 h 1006"/>
                <a:gd name="T22" fmla="*/ 1044 w 1156"/>
                <a:gd name="T23" fmla="*/ 192 h 1006"/>
                <a:gd name="T24" fmla="*/ 970 w 1156"/>
                <a:gd name="T25" fmla="*/ 124 h 1006"/>
                <a:gd name="T26" fmla="*/ 972 w 1156"/>
                <a:gd name="T27" fmla="*/ 121 h 1006"/>
                <a:gd name="T28" fmla="*/ 948 w 1156"/>
                <a:gd name="T29" fmla="*/ 111 h 1006"/>
                <a:gd name="T30" fmla="*/ 600 w 1156"/>
                <a:gd name="T31" fmla="*/ 1 h 1006"/>
                <a:gd name="T32" fmla="*/ 427 w 1156"/>
                <a:gd name="T33" fmla="*/ 17 h 1006"/>
                <a:gd name="T34" fmla="*/ 427 w 1156"/>
                <a:gd name="T35" fmla="*/ 17 h 1006"/>
                <a:gd name="T36" fmla="*/ 424 w 1156"/>
                <a:gd name="T37" fmla="*/ 17 h 1006"/>
                <a:gd name="T38" fmla="*/ 404 w 1156"/>
                <a:gd name="T39" fmla="*/ 20 h 1006"/>
                <a:gd name="T40" fmla="*/ 266 w 1156"/>
                <a:gd name="T41" fmla="*/ 76 h 1006"/>
                <a:gd name="T42" fmla="*/ 62 w 1156"/>
                <a:gd name="T43" fmla="*/ 271 h 1006"/>
                <a:gd name="T44" fmla="*/ 13 w 1156"/>
                <a:gd name="T45" fmla="*/ 393 h 1006"/>
                <a:gd name="T46" fmla="*/ 3 w 1156"/>
                <a:gd name="T47" fmla="*/ 453 h 1006"/>
                <a:gd name="T48" fmla="*/ 2 w 1156"/>
                <a:gd name="T49" fmla="*/ 507 h 1006"/>
                <a:gd name="T50" fmla="*/ 6 w 1156"/>
                <a:gd name="T51" fmla="*/ 526 h 1006"/>
                <a:gd name="T52" fmla="*/ 59 w 1156"/>
                <a:gd name="T53" fmla="*/ 697 h 1006"/>
                <a:gd name="T54" fmla="*/ 265 w 1156"/>
                <a:gd name="T55" fmla="*/ 892 h 1006"/>
                <a:gd name="T56" fmla="*/ 387 w 1156"/>
                <a:gd name="T57" fmla="*/ 941 h 1006"/>
                <a:gd name="T58" fmla="*/ 449 w 1156"/>
                <a:gd name="T59" fmla="*/ 957 h 1006"/>
                <a:gd name="T60" fmla="*/ 626 w 1156"/>
                <a:gd name="T61" fmla="*/ 965 h 1006"/>
                <a:gd name="T62" fmla="*/ 686 w 1156"/>
                <a:gd name="T63" fmla="*/ 957 h 1006"/>
                <a:gd name="T64" fmla="*/ 745 w 1156"/>
                <a:gd name="T65" fmla="*/ 944 h 1006"/>
                <a:gd name="T66" fmla="*/ 788 w 1156"/>
                <a:gd name="T67" fmla="*/ 931 h 1006"/>
                <a:gd name="T68" fmla="*/ 851 w 1156"/>
                <a:gd name="T69" fmla="*/ 936 h 1006"/>
                <a:gd name="T70" fmla="*/ 1053 w 1156"/>
                <a:gd name="T71" fmla="*/ 1000 h 1006"/>
                <a:gd name="T72" fmla="*/ 1106 w 1156"/>
                <a:gd name="T73" fmla="*/ 1005 h 1006"/>
                <a:gd name="T74" fmla="*/ 1137 w 1156"/>
                <a:gd name="T75" fmla="*/ 1004 h 1006"/>
                <a:gd name="T76" fmla="*/ 1138 w 1156"/>
                <a:gd name="T77" fmla="*/ 99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56" h="1006">
                  <a:moveTo>
                    <a:pt x="1138" y="990"/>
                  </a:moveTo>
                  <a:cubicBezTo>
                    <a:pt x="1126" y="985"/>
                    <a:pt x="1114" y="981"/>
                    <a:pt x="1104" y="973"/>
                  </a:cubicBezTo>
                  <a:cubicBezTo>
                    <a:pt x="1082" y="962"/>
                    <a:pt x="1064" y="946"/>
                    <a:pt x="1048" y="929"/>
                  </a:cubicBezTo>
                  <a:cubicBezTo>
                    <a:pt x="1023" y="902"/>
                    <a:pt x="1007" y="870"/>
                    <a:pt x="993" y="837"/>
                  </a:cubicBezTo>
                  <a:cubicBezTo>
                    <a:pt x="990" y="830"/>
                    <a:pt x="986" y="822"/>
                    <a:pt x="992" y="814"/>
                  </a:cubicBezTo>
                  <a:cubicBezTo>
                    <a:pt x="1012" y="794"/>
                    <a:pt x="1033" y="776"/>
                    <a:pt x="1050" y="753"/>
                  </a:cubicBezTo>
                  <a:cubicBezTo>
                    <a:pt x="1080" y="716"/>
                    <a:pt x="1104" y="675"/>
                    <a:pt x="1123" y="631"/>
                  </a:cubicBezTo>
                  <a:cubicBezTo>
                    <a:pt x="1130" y="611"/>
                    <a:pt x="1137" y="589"/>
                    <a:pt x="1143" y="568"/>
                  </a:cubicBezTo>
                  <a:cubicBezTo>
                    <a:pt x="1156" y="511"/>
                    <a:pt x="1155" y="454"/>
                    <a:pt x="1147" y="396"/>
                  </a:cubicBezTo>
                  <a:cubicBezTo>
                    <a:pt x="1141" y="374"/>
                    <a:pt x="1136" y="353"/>
                    <a:pt x="1128" y="332"/>
                  </a:cubicBezTo>
                  <a:cubicBezTo>
                    <a:pt x="1113" y="288"/>
                    <a:pt x="1088" y="249"/>
                    <a:pt x="1061" y="211"/>
                  </a:cubicBezTo>
                  <a:cubicBezTo>
                    <a:pt x="1055" y="205"/>
                    <a:pt x="1050" y="198"/>
                    <a:pt x="1044" y="192"/>
                  </a:cubicBezTo>
                  <a:cubicBezTo>
                    <a:pt x="1022" y="167"/>
                    <a:pt x="999" y="141"/>
                    <a:pt x="970" y="124"/>
                  </a:cubicBezTo>
                  <a:cubicBezTo>
                    <a:pt x="971" y="124"/>
                    <a:pt x="972" y="123"/>
                    <a:pt x="972" y="121"/>
                  </a:cubicBezTo>
                  <a:cubicBezTo>
                    <a:pt x="962" y="122"/>
                    <a:pt x="955" y="116"/>
                    <a:pt x="948" y="111"/>
                  </a:cubicBezTo>
                  <a:cubicBezTo>
                    <a:pt x="843" y="40"/>
                    <a:pt x="727" y="3"/>
                    <a:pt x="600" y="1"/>
                  </a:cubicBezTo>
                  <a:cubicBezTo>
                    <a:pt x="542" y="0"/>
                    <a:pt x="484" y="7"/>
                    <a:pt x="427" y="17"/>
                  </a:cubicBezTo>
                  <a:cubicBezTo>
                    <a:pt x="427" y="17"/>
                    <a:pt x="427" y="17"/>
                    <a:pt x="427" y="17"/>
                  </a:cubicBezTo>
                  <a:cubicBezTo>
                    <a:pt x="426" y="17"/>
                    <a:pt x="425" y="17"/>
                    <a:pt x="424" y="17"/>
                  </a:cubicBezTo>
                  <a:cubicBezTo>
                    <a:pt x="417" y="16"/>
                    <a:pt x="411" y="18"/>
                    <a:pt x="404" y="20"/>
                  </a:cubicBezTo>
                  <a:cubicBezTo>
                    <a:pt x="356" y="33"/>
                    <a:pt x="310" y="52"/>
                    <a:pt x="266" y="76"/>
                  </a:cubicBezTo>
                  <a:cubicBezTo>
                    <a:pt x="182" y="124"/>
                    <a:pt x="111" y="187"/>
                    <a:pt x="62" y="271"/>
                  </a:cubicBezTo>
                  <a:cubicBezTo>
                    <a:pt x="39" y="309"/>
                    <a:pt x="23" y="350"/>
                    <a:pt x="13" y="393"/>
                  </a:cubicBezTo>
                  <a:cubicBezTo>
                    <a:pt x="8" y="412"/>
                    <a:pt x="6" y="433"/>
                    <a:pt x="3" y="453"/>
                  </a:cubicBezTo>
                  <a:cubicBezTo>
                    <a:pt x="2" y="471"/>
                    <a:pt x="0" y="489"/>
                    <a:pt x="2" y="507"/>
                  </a:cubicBezTo>
                  <a:cubicBezTo>
                    <a:pt x="4" y="513"/>
                    <a:pt x="5" y="520"/>
                    <a:pt x="6" y="526"/>
                  </a:cubicBezTo>
                  <a:cubicBezTo>
                    <a:pt x="8" y="588"/>
                    <a:pt x="29" y="644"/>
                    <a:pt x="59" y="697"/>
                  </a:cubicBezTo>
                  <a:cubicBezTo>
                    <a:pt x="108" y="783"/>
                    <a:pt x="180" y="845"/>
                    <a:pt x="265" y="892"/>
                  </a:cubicBezTo>
                  <a:cubicBezTo>
                    <a:pt x="303" y="913"/>
                    <a:pt x="344" y="928"/>
                    <a:pt x="387" y="941"/>
                  </a:cubicBezTo>
                  <a:cubicBezTo>
                    <a:pt x="407" y="947"/>
                    <a:pt x="428" y="953"/>
                    <a:pt x="449" y="957"/>
                  </a:cubicBezTo>
                  <a:cubicBezTo>
                    <a:pt x="507" y="968"/>
                    <a:pt x="567" y="966"/>
                    <a:pt x="626" y="965"/>
                  </a:cubicBezTo>
                  <a:cubicBezTo>
                    <a:pt x="646" y="964"/>
                    <a:pt x="666" y="959"/>
                    <a:pt x="686" y="957"/>
                  </a:cubicBezTo>
                  <a:cubicBezTo>
                    <a:pt x="706" y="954"/>
                    <a:pt x="725" y="949"/>
                    <a:pt x="745" y="944"/>
                  </a:cubicBezTo>
                  <a:cubicBezTo>
                    <a:pt x="759" y="939"/>
                    <a:pt x="775" y="938"/>
                    <a:pt x="788" y="931"/>
                  </a:cubicBezTo>
                  <a:cubicBezTo>
                    <a:pt x="811" y="918"/>
                    <a:pt x="831" y="921"/>
                    <a:pt x="851" y="936"/>
                  </a:cubicBezTo>
                  <a:cubicBezTo>
                    <a:pt x="914" y="969"/>
                    <a:pt x="982" y="988"/>
                    <a:pt x="1053" y="1000"/>
                  </a:cubicBezTo>
                  <a:cubicBezTo>
                    <a:pt x="1070" y="1001"/>
                    <a:pt x="1088" y="1004"/>
                    <a:pt x="1106" y="1005"/>
                  </a:cubicBezTo>
                  <a:cubicBezTo>
                    <a:pt x="1116" y="1005"/>
                    <a:pt x="1127" y="1006"/>
                    <a:pt x="1137" y="1004"/>
                  </a:cubicBezTo>
                  <a:cubicBezTo>
                    <a:pt x="1149" y="1001"/>
                    <a:pt x="1149" y="995"/>
                    <a:pt x="1138" y="990"/>
                  </a:cubicBezTo>
                  <a:close/>
                </a:path>
              </a:pathLst>
            </a:custGeom>
            <a:solidFill>
              <a:srgbClr val="33AA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s-PE" sz="1350"/>
            </a:p>
          </p:txBody>
        </p:sp>
        <p:sp>
          <p:nvSpPr>
            <p:cNvPr id="21" name="Freeform 6">
              <a:extLst>
                <a:ext uri="{FF2B5EF4-FFF2-40B4-BE49-F238E27FC236}">
                  <a16:creationId xmlns:a16="http://schemas.microsoft.com/office/drawing/2014/main" id="{74452D56-A81E-71FE-883C-C629983EB8F6}"/>
                </a:ext>
              </a:extLst>
            </p:cNvPr>
            <p:cNvSpPr>
              <a:spLocks/>
            </p:cNvSpPr>
            <p:nvPr/>
          </p:nvSpPr>
          <p:spPr bwMode="auto">
            <a:xfrm>
              <a:off x="3094" y="1843"/>
              <a:ext cx="524" cy="629"/>
            </a:xfrm>
            <a:custGeom>
              <a:avLst/>
              <a:gdLst>
                <a:gd name="T0" fmla="*/ 311 w 313"/>
                <a:gd name="T1" fmla="*/ 121 h 376"/>
                <a:gd name="T2" fmla="*/ 158 w 313"/>
                <a:gd name="T3" fmla="*/ 12 h 376"/>
                <a:gd name="T4" fmla="*/ 14 w 313"/>
                <a:gd name="T5" fmla="*/ 84 h 376"/>
                <a:gd name="T6" fmla="*/ 4 w 313"/>
                <a:gd name="T7" fmla="*/ 108 h 376"/>
                <a:gd name="T8" fmla="*/ 43 w 313"/>
                <a:gd name="T9" fmla="*/ 178 h 376"/>
                <a:gd name="T10" fmla="*/ 44 w 313"/>
                <a:gd name="T11" fmla="*/ 154 h 376"/>
                <a:gd name="T12" fmla="*/ 101 w 313"/>
                <a:gd name="T13" fmla="*/ 51 h 376"/>
                <a:gd name="T14" fmla="*/ 189 w 313"/>
                <a:gd name="T15" fmla="*/ 97 h 376"/>
                <a:gd name="T16" fmla="*/ 189 w 313"/>
                <a:gd name="T17" fmla="*/ 97 h 376"/>
                <a:gd name="T18" fmla="*/ 200 w 313"/>
                <a:gd name="T19" fmla="*/ 164 h 376"/>
                <a:gd name="T20" fmla="*/ 200 w 313"/>
                <a:gd name="T21" fmla="*/ 164 h 376"/>
                <a:gd name="T22" fmla="*/ 186 w 313"/>
                <a:gd name="T23" fmla="*/ 212 h 376"/>
                <a:gd name="T24" fmla="*/ 186 w 313"/>
                <a:gd name="T25" fmla="*/ 212 h 376"/>
                <a:gd name="T26" fmla="*/ 186 w 313"/>
                <a:gd name="T27" fmla="*/ 212 h 376"/>
                <a:gd name="T28" fmla="*/ 152 w 313"/>
                <a:gd name="T29" fmla="*/ 290 h 376"/>
                <a:gd name="T30" fmla="*/ 229 w 313"/>
                <a:gd name="T31" fmla="*/ 372 h 376"/>
                <a:gd name="T32" fmla="*/ 214 w 313"/>
                <a:gd name="T33" fmla="*/ 328 h 376"/>
                <a:gd name="T34" fmla="*/ 239 w 313"/>
                <a:gd name="T35" fmla="*/ 276 h 376"/>
                <a:gd name="T36" fmla="*/ 239 w 313"/>
                <a:gd name="T37" fmla="*/ 276 h 376"/>
                <a:gd name="T38" fmla="*/ 286 w 313"/>
                <a:gd name="T39" fmla="*/ 207 h 376"/>
                <a:gd name="T40" fmla="*/ 311 w 313"/>
                <a:gd name="T41" fmla="*/ 12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3" h="376">
                  <a:moveTo>
                    <a:pt x="311" y="121"/>
                  </a:moveTo>
                  <a:cubicBezTo>
                    <a:pt x="304" y="38"/>
                    <a:pt x="235" y="0"/>
                    <a:pt x="158" y="12"/>
                  </a:cubicBezTo>
                  <a:cubicBezTo>
                    <a:pt x="100" y="15"/>
                    <a:pt x="49" y="34"/>
                    <a:pt x="14" y="84"/>
                  </a:cubicBezTo>
                  <a:cubicBezTo>
                    <a:pt x="9" y="91"/>
                    <a:pt x="0" y="100"/>
                    <a:pt x="4" y="108"/>
                  </a:cubicBezTo>
                  <a:cubicBezTo>
                    <a:pt x="15" y="131"/>
                    <a:pt x="29" y="154"/>
                    <a:pt x="43" y="178"/>
                  </a:cubicBezTo>
                  <a:cubicBezTo>
                    <a:pt x="49" y="168"/>
                    <a:pt x="45" y="161"/>
                    <a:pt x="44" y="154"/>
                  </a:cubicBezTo>
                  <a:cubicBezTo>
                    <a:pt x="35" y="102"/>
                    <a:pt x="57" y="63"/>
                    <a:pt x="101" y="51"/>
                  </a:cubicBezTo>
                  <a:cubicBezTo>
                    <a:pt x="139" y="41"/>
                    <a:pt x="163" y="53"/>
                    <a:pt x="189" y="97"/>
                  </a:cubicBezTo>
                  <a:cubicBezTo>
                    <a:pt x="189" y="97"/>
                    <a:pt x="189" y="97"/>
                    <a:pt x="189" y="97"/>
                  </a:cubicBezTo>
                  <a:cubicBezTo>
                    <a:pt x="196" y="119"/>
                    <a:pt x="201" y="141"/>
                    <a:pt x="200" y="164"/>
                  </a:cubicBezTo>
                  <a:cubicBezTo>
                    <a:pt x="200" y="164"/>
                    <a:pt x="200" y="164"/>
                    <a:pt x="200" y="164"/>
                  </a:cubicBezTo>
                  <a:cubicBezTo>
                    <a:pt x="199" y="181"/>
                    <a:pt x="192" y="196"/>
                    <a:pt x="186" y="212"/>
                  </a:cubicBezTo>
                  <a:cubicBezTo>
                    <a:pt x="186" y="212"/>
                    <a:pt x="186" y="212"/>
                    <a:pt x="186" y="212"/>
                  </a:cubicBezTo>
                  <a:cubicBezTo>
                    <a:pt x="186" y="212"/>
                    <a:pt x="186" y="212"/>
                    <a:pt x="186" y="212"/>
                  </a:cubicBezTo>
                  <a:cubicBezTo>
                    <a:pt x="172" y="237"/>
                    <a:pt x="157" y="261"/>
                    <a:pt x="152" y="290"/>
                  </a:cubicBezTo>
                  <a:cubicBezTo>
                    <a:pt x="144" y="334"/>
                    <a:pt x="186" y="376"/>
                    <a:pt x="229" y="372"/>
                  </a:cubicBezTo>
                  <a:cubicBezTo>
                    <a:pt x="213" y="360"/>
                    <a:pt x="214" y="344"/>
                    <a:pt x="214" y="328"/>
                  </a:cubicBezTo>
                  <a:cubicBezTo>
                    <a:pt x="219" y="309"/>
                    <a:pt x="231" y="294"/>
                    <a:pt x="239" y="276"/>
                  </a:cubicBezTo>
                  <a:cubicBezTo>
                    <a:pt x="239" y="276"/>
                    <a:pt x="239" y="276"/>
                    <a:pt x="239" y="276"/>
                  </a:cubicBezTo>
                  <a:cubicBezTo>
                    <a:pt x="255" y="253"/>
                    <a:pt x="270" y="230"/>
                    <a:pt x="286" y="207"/>
                  </a:cubicBezTo>
                  <a:cubicBezTo>
                    <a:pt x="303" y="181"/>
                    <a:pt x="313" y="153"/>
                    <a:pt x="311" y="1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s-PE" sz="1350"/>
            </a:p>
          </p:txBody>
        </p:sp>
        <p:sp>
          <p:nvSpPr>
            <p:cNvPr id="22" name="Freeform 7">
              <a:extLst>
                <a:ext uri="{FF2B5EF4-FFF2-40B4-BE49-F238E27FC236}">
                  <a16:creationId xmlns:a16="http://schemas.microsoft.com/office/drawing/2014/main" id="{E8F091EB-3B7B-EBA2-406C-6EC1D11641EB}"/>
                </a:ext>
              </a:extLst>
            </p:cNvPr>
            <p:cNvSpPr>
              <a:spLocks/>
            </p:cNvSpPr>
            <p:nvPr/>
          </p:nvSpPr>
          <p:spPr bwMode="auto">
            <a:xfrm>
              <a:off x="3380" y="2541"/>
              <a:ext cx="194" cy="198"/>
            </a:xfrm>
            <a:custGeom>
              <a:avLst/>
              <a:gdLst>
                <a:gd name="T0" fmla="*/ 79 w 116"/>
                <a:gd name="T1" fmla="*/ 13 h 118"/>
                <a:gd name="T2" fmla="*/ 11 w 116"/>
                <a:gd name="T3" fmla="*/ 39 h 118"/>
                <a:gd name="T4" fmla="*/ 27 w 116"/>
                <a:gd name="T5" fmla="*/ 99 h 118"/>
                <a:gd name="T6" fmla="*/ 27 w 116"/>
                <a:gd name="T7" fmla="*/ 99 h 118"/>
                <a:gd name="T8" fmla="*/ 27 w 116"/>
                <a:gd name="T9" fmla="*/ 99 h 118"/>
                <a:gd name="T10" fmla="*/ 31 w 116"/>
                <a:gd name="T11" fmla="*/ 104 h 118"/>
                <a:gd name="T12" fmla="*/ 103 w 116"/>
                <a:gd name="T13" fmla="*/ 82 h 118"/>
                <a:gd name="T14" fmla="*/ 79 w 116"/>
                <a:gd name="T15" fmla="*/ 13 h 1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18">
                  <a:moveTo>
                    <a:pt x="79" y="13"/>
                  </a:moveTo>
                  <a:cubicBezTo>
                    <a:pt x="52" y="0"/>
                    <a:pt x="25" y="10"/>
                    <a:pt x="11" y="39"/>
                  </a:cubicBezTo>
                  <a:cubicBezTo>
                    <a:pt x="0" y="64"/>
                    <a:pt x="6" y="88"/>
                    <a:pt x="27" y="99"/>
                  </a:cubicBezTo>
                  <a:cubicBezTo>
                    <a:pt x="27" y="99"/>
                    <a:pt x="27" y="99"/>
                    <a:pt x="27" y="99"/>
                  </a:cubicBezTo>
                  <a:cubicBezTo>
                    <a:pt x="27" y="99"/>
                    <a:pt x="27" y="99"/>
                    <a:pt x="27" y="99"/>
                  </a:cubicBezTo>
                  <a:cubicBezTo>
                    <a:pt x="28" y="100"/>
                    <a:pt x="29" y="103"/>
                    <a:pt x="31" y="104"/>
                  </a:cubicBezTo>
                  <a:cubicBezTo>
                    <a:pt x="56" y="118"/>
                    <a:pt x="91" y="108"/>
                    <a:pt x="103" y="82"/>
                  </a:cubicBezTo>
                  <a:cubicBezTo>
                    <a:pt x="116" y="58"/>
                    <a:pt x="104" y="25"/>
                    <a:pt x="79"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s-PE" sz="1350"/>
            </a:p>
          </p:txBody>
        </p:sp>
      </p:grpSp>
      <p:grpSp>
        <p:nvGrpSpPr>
          <p:cNvPr id="6" name="Group 5">
            <a:extLst>
              <a:ext uri="{FF2B5EF4-FFF2-40B4-BE49-F238E27FC236}">
                <a16:creationId xmlns:a16="http://schemas.microsoft.com/office/drawing/2014/main" id="{C81A1586-DEF6-7084-E621-7D9D1A965923}"/>
              </a:ext>
            </a:extLst>
          </p:cNvPr>
          <p:cNvGrpSpPr/>
          <p:nvPr/>
        </p:nvGrpSpPr>
        <p:grpSpPr>
          <a:xfrm>
            <a:off x="5112486" y="1283786"/>
            <a:ext cx="2952328" cy="2647701"/>
            <a:chOff x="8567057" y="1362510"/>
            <a:chExt cx="715363" cy="754212"/>
          </a:xfrm>
        </p:grpSpPr>
        <p:sp>
          <p:nvSpPr>
            <p:cNvPr id="4" name="Google Shape;10090;p74">
              <a:extLst>
                <a:ext uri="{FF2B5EF4-FFF2-40B4-BE49-F238E27FC236}">
                  <a16:creationId xmlns:a16="http://schemas.microsoft.com/office/drawing/2014/main" id="{C6A822AF-3B68-EE80-346A-82FE6C41777C}"/>
                </a:ext>
              </a:extLst>
            </p:cNvPr>
            <p:cNvSpPr/>
            <p:nvPr/>
          </p:nvSpPr>
          <p:spPr>
            <a:xfrm>
              <a:off x="8733293" y="1362510"/>
              <a:ext cx="382495" cy="476838"/>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sp>
          <p:nvSpPr>
            <p:cNvPr id="5" name="Google Shape;10091;p74">
              <a:extLst>
                <a:ext uri="{FF2B5EF4-FFF2-40B4-BE49-F238E27FC236}">
                  <a16:creationId xmlns:a16="http://schemas.microsoft.com/office/drawing/2014/main" id="{8D1120F1-DAC3-5B44-06ED-1A7D88773DB3}"/>
                </a:ext>
              </a:extLst>
            </p:cNvPr>
            <p:cNvSpPr/>
            <p:nvPr/>
          </p:nvSpPr>
          <p:spPr>
            <a:xfrm>
              <a:off x="8567057" y="1834069"/>
              <a:ext cx="715363" cy="282653"/>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013857"/>
            </a:solidFill>
            <a:ln>
              <a:noFill/>
            </a:ln>
          </p:spPr>
          <p:txBody>
            <a:bodyPr spcFirstLastPara="1" wrap="square" lIns="68569" tIns="68569" rIns="68569" bIns="68569" anchor="ctr" anchorCtr="0">
              <a:noAutofit/>
            </a:bodyPr>
            <a:lstStyle/>
            <a:p>
              <a:endParaRPr sz="1050"/>
            </a:p>
          </p:txBody>
        </p:sp>
      </p:grpSp>
      <p:pic>
        <p:nvPicPr>
          <p:cNvPr id="8" name="Picture 7" descr="A green check mark on a white circle&#10;&#10;AI-generated content may be incorrect.">
            <a:extLst>
              <a:ext uri="{FF2B5EF4-FFF2-40B4-BE49-F238E27FC236}">
                <a16:creationId xmlns:a16="http://schemas.microsoft.com/office/drawing/2014/main" id="{6D892299-2D9D-3963-222B-ADB11BDFF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8240" y="2571750"/>
            <a:ext cx="1944216" cy="19442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7885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9290</TotalTime>
  <Words>2471</Words>
  <Application>Microsoft Office PowerPoint</Application>
  <PresentationFormat>On-screen Show (16:9)</PresentationFormat>
  <Paragraphs>217</Paragraphs>
  <Slides>37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Aptos</vt:lpstr>
      <vt:lpstr>Aptos Narrow</vt:lpstr>
      <vt:lpstr>Arial</vt:lpstr>
      <vt:lpstr>Arial Narrow</vt:lpstr>
      <vt:lpstr>Calibri</vt:lpstr>
      <vt:lpstr>Wingdings</vt:lpstr>
      <vt:lpstr>Office Theme</vt:lpstr>
      <vt:lpstr>Custom Design</vt:lpstr>
      <vt:lpstr>PowerPoint Presentation</vt:lpstr>
      <vt:lpstr>PowerPoint Presentation</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 1.1 Conceptos de Calidad de Software</vt:lpstr>
      <vt:lpstr>1.1 Conceptos de Calidad de Software</vt:lpstr>
      <vt:lpstr> 1.1 Conceptos de Calidad de Software</vt:lpstr>
      <vt:lpstr> 1.1 Conceptos de Calidad de Software</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Diego Gamboa</cp:lastModifiedBy>
  <cp:revision>75</cp:revision>
  <dcterms:created xsi:type="dcterms:W3CDTF">2014-04-01T16:27:38Z</dcterms:created>
  <dcterms:modified xsi:type="dcterms:W3CDTF">2025-10-08T18:51:07Z</dcterms:modified>
</cp:coreProperties>
</file>