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4" r:id="rId3"/>
  </p:sldMasterIdLst>
  <p:notesMasterIdLst>
    <p:notesMasterId r:id="rId23"/>
  </p:notesMasterIdLst>
  <p:sldIdLst>
    <p:sldId id="256" r:id="rId4"/>
    <p:sldId id="257" r:id="rId5"/>
    <p:sldId id="317" r:id="rId6"/>
    <p:sldId id="260" r:id="rId7"/>
    <p:sldId id="413" r:id="rId8"/>
    <p:sldId id="414" r:id="rId9"/>
    <p:sldId id="423" r:id="rId10"/>
    <p:sldId id="424" r:id="rId11"/>
    <p:sldId id="425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6" r:id="rId21"/>
    <p:sldId id="379" r:id="rId2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DC9CCB"/>
    <a:srgbClr val="045E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6512" autoAdjust="0"/>
  </p:normalViewPr>
  <p:slideViewPr>
    <p:cSldViewPr>
      <p:cViewPr varScale="1">
        <p:scale>
          <a:sx n="160" d="100"/>
          <a:sy n="160" d="100"/>
        </p:scale>
        <p:origin x="144" y="156"/>
      </p:cViewPr>
      <p:guideLst>
        <p:guide orient="horz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0773B-9661-48FD-A80A-96CC3513A32C}" type="datetimeFigureOut">
              <a:rPr lang="es-MX" smtClean="0"/>
              <a:t>13/10/2025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2CCE7-5212-43A7-8614-AF823CD94E8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529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mailto:dlgamboa1@espe.edu.ec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987574"/>
            <a:ext cx="6912768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1664245"/>
            <a:ext cx="6912768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68F9F4F-59F9-4D80-0F8E-0EE7EB47E09C}"/>
              </a:ext>
            </a:extLst>
          </p:cNvPr>
          <p:cNvCxnSpPr/>
          <p:nvPr userDrawn="1"/>
        </p:nvCxnSpPr>
        <p:spPr>
          <a:xfrm>
            <a:off x="1558455" y="207785"/>
            <a:ext cx="7307249" cy="0"/>
          </a:xfrm>
          <a:prstGeom prst="line">
            <a:avLst/>
          </a:prstGeom>
          <a:ln w="28575">
            <a:solidFill>
              <a:srgbClr val="013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5">
            <a:extLst>
              <a:ext uri="{FF2B5EF4-FFF2-40B4-BE49-F238E27FC236}">
                <a16:creationId xmlns:a16="http://schemas.microsoft.com/office/drawing/2014/main" id="{04B4A941-B74D-5B47-102C-CDFD8863210B}"/>
              </a:ext>
            </a:extLst>
          </p:cNvPr>
          <p:cNvCxnSpPr/>
          <p:nvPr userDrawn="1"/>
        </p:nvCxnSpPr>
        <p:spPr>
          <a:xfrm>
            <a:off x="2563800" y="467882"/>
            <a:ext cx="6301904" cy="0"/>
          </a:xfrm>
          <a:prstGeom prst="line">
            <a:avLst/>
          </a:prstGeom>
          <a:ln w="28575">
            <a:solidFill>
              <a:srgbClr val="33AA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7">
            <a:extLst>
              <a:ext uri="{FF2B5EF4-FFF2-40B4-BE49-F238E27FC236}">
                <a16:creationId xmlns:a16="http://schemas.microsoft.com/office/drawing/2014/main" id="{43B19AC1-DF7A-517B-4179-1E3A8E530E38}"/>
              </a:ext>
            </a:extLst>
          </p:cNvPr>
          <p:cNvCxnSpPr/>
          <p:nvPr userDrawn="1"/>
        </p:nvCxnSpPr>
        <p:spPr>
          <a:xfrm>
            <a:off x="3730175" y="727979"/>
            <a:ext cx="5135529" cy="0"/>
          </a:xfrm>
          <a:prstGeom prst="line">
            <a:avLst/>
          </a:prstGeom>
          <a:ln w="28575">
            <a:solidFill>
              <a:srgbClr val="0138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12">
            <a:extLst>
              <a:ext uri="{FF2B5EF4-FFF2-40B4-BE49-F238E27FC236}">
                <a16:creationId xmlns:a16="http://schemas.microsoft.com/office/drawing/2014/main" id="{044FA9B8-F883-7FAD-A780-883482584150}"/>
              </a:ext>
            </a:extLst>
          </p:cNvPr>
          <p:cNvSpPr/>
          <p:nvPr userDrawn="1"/>
        </p:nvSpPr>
        <p:spPr>
          <a:xfrm>
            <a:off x="7502645" y="4007612"/>
            <a:ext cx="467403" cy="928104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rgbClr val="013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13">
            <a:extLst>
              <a:ext uri="{FF2B5EF4-FFF2-40B4-BE49-F238E27FC236}">
                <a16:creationId xmlns:a16="http://schemas.microsoft.com/office/drawing/2014/main" id="{9AC9CB10-95FA-427B-B018-6169D853A7BF}"/>
              </a:ext>
            </a:extLst>
          </p:cNvPr>
          <p:cNvSpPr/>
          <p:nvPr userDrawn="1"/>
        </p:nvSpPr>
        <p:spPr>
          <a:xfrm>
            <a:off x="7801196" y="4007612"/>
            <a:ext cx="467403" cy="928104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rgbClr val="013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14">
            <a:extLst>
              <a:ext uri="{FF2B5EF4-FFF2-40B4-BE49-F238E27FC236}">
                <a16:creationId xmlns:a16="http://schemas.microsoft.com/office/drawing/2014/main" id="{DB8B4677-7A78-EF79-4439-767D2FEEE227}"/>
              </a:ext>
            </a:extLst>
          </p:cNvPr>
          <p:cNvSpPr/>
          <p:nvPr userDrawn="1"/>
        </p:nvSpPr>
        <p:spPr>
          <a:xfrm>
            <a:off x="8099747" y="4007612"/>
            <a:ext cx="467403" cy="928104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rgbClr val="013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5">
            <a:extLst>
              <a:ext uri="{FF2B5EF4-FFF2-40B4-BE49-F238E27FC236}">
                <a16:creationId xmlns:a16="http://schemas.microsoft.com/office/drawing/2014/main" id="{2C17C69D-1C23-BDDF-544D-19988481B08B}"/>
              </a:ext>
            </a:extLst>
          </p:cNvPr>
          <p:cNvSpPr/>
          <p:nvPr userDrawn="1"/>
        </p:nvSpPr>
        <p:spPr>
          <a:xfrm>
            <a:off x="8398301" y="4007612"/>
            <a:ext cx="467403" cy="928104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rgbClr val="013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23">
            <a:extLst>
              <a:ext uri="{FF2B5EF4-FFF2-40B4-BE49-F238E27FC236}">
                <a16:creationId xmlns:a16="http://schemas.microsoft.com/office/drawing/2014/main" id="{17F4AB63-8A6B-602D-9223-219627CC0B78}"/>
              </a:ext>
            </a:extLst>
          </p:cNvPr>
          <p:cNvSpPr/>
          <p:nvPr userDrawn="1"/>
        </p:nvSpPr>
        <p:spPr>
          <a:xfrm>
            <a:off x="7394057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24">
            <a:extLst>
              <a:ext uri="{FF2B5EF4-FFF2-40B4-BE49-F238E27FC236}">
                <a16:creationId xmlns:a16="http://schemas.microsoft.com/office/drawing/2014/main" id="{D6B24CF7-833B-6C6B-FB2A-0549FC73DDC0}"/>
              </a:ext>
            </a:extLst>
          </p:cNvPr>
          <p:cNvSpPr/>
          <p:nvPr userDrawn="1"/>
        </p:nvSpPr>
        <p:spPr>
          <a:xfrm>
            <a:off x="7315235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25">
            <a:extLst>
              <a:ext uri="{FF2B5EF4-FFF2-40B4-BE49-F238E27FC236}">
                <a16:creationId xmlns:a16="http://schemas.microsoft.com/office/drawing/2014/main" id="{B5C7DAE8-7FB7-43CC-8D44-1B8C37CE28B0}"/>
              </a:ext>
            </a:extLst>
          </p:cNvPr>
          <p:cNvSpPr/>
          <p:nvPr userDrawn="1"/>
        </p:nvSpPr>
        <p:spPr>
          <a:xfrm>
            <a:off x="7236410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26">
            <a:extLst>
              <a:ext uri="{FF2B5EF4-FFF2-40B4-BE49-F238E27FC236}">
                <a16:creationId xmlns:a16="http://schemas.microsoft.com/office/drawing/2014/main" id="{81ABE45D-A26D-4272-6EB4-502A143807CE}"/>
              </a:ext>
            </a:extLst>
          </p:cNvPr>
          <p:cNvSpPr/>
          <p:nvPr userDrawn="1"/>
        </p:nvSpPr>
        <p:spPr>
          <a:xfrm>
            <a:off x="7157586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27">
            <a:extLst>
              <a:ext uri="{FF2B5EF4-FFF2-40B4-BE49-F238E27FC236}">
                <a16:creationId xmlns:a16="http://schemas.microsoft.com/office/drawing/2014/main" id="{F3BD7D99-95F7-2251-3201-CC2EF05B3D2A}"/>
              </a:ext>
            </a:extLst>
          </p:cNvPr>
          <p:cNvSpPr/>
          <p:nvPr userDrawn="1"/>
        </p:nvSpPr>
        <p:spPr>
          <a:xfrm>
            <a:off x="7078761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28">
            <a:extLst>
              <a:ext uri="{FF2B5EF4-FFF2-40B4-BE49-F238E27FC236}">
                <a16:creationId xmlns:a16="http://schemas.microsoft.com/office/drawing/2014/main" id="{6916794D-627B-62B4-98F5-94CDDA0CCF6E}"/>
              </a:ext>
            </a:extLst>
          </p:cNvPr>
          <p:cNvSpPr/>
          <p:nvPr userDrawn="1"/>
        </p:nvSpPr>
        <p:spPr>
          <a:xfrm>
            <a:off x="6999937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任意多边形 29">
            <a:extLst>
              <a:ext uri="{FF2B5EF4-FFF2-40B4-BE49-F238E27FC236}">
                <a16:creationId xmlns:a16="http://schemas.microsoft.com/office/drawing/2014/main" id="{91E4DF5B-B2F0-D4AA-C64A-0D6111A089A5}"/>
              </a:ext>
            </a:extLst>
          </p:cNvPr>
          <p:cNvSpPr/>
          <p:nvPr userDrawn="1"/>
        </p:nvSpPr>
        <p:spPr>
          <a:xfrm>
            <a:off x="6921112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任意多边形 30">
            <a:extLst>
              <a:ext uri="{FF2B5EF4-FFF2-40B4-BE49-F238E27FC236}">
                <a16:creationId xmlns:a16="http://schemas.microsoft.com/office/drawing/2014/main" id="{85049E78-29D5-09CA-8D3F-0EA306484D98}"/>
              </a:ext>
            </a:extLst>
          </p:cNvPr>
          <p:cNvSpPr/>
          <p:nvPr userDrawn="1"/>
        </p:nvSpPr>
        <p:spPr>
          <a:xfrm>
            <a:off x="6842288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任意多边形 31">
            <a:extLst>
              <a:ext uri="{FF2B5EF4-FFF2-40B4-BE49-F238E27FC236}">
                <a16:creationId xmlns:a16="http://schemas.microsoft.com/office/drawing/2014/main" id="{B4FE22BE-F65A-AB43-1429-B0D92F349714}"/>
              </a:ext>
            </a:extLst>
          </p:cNvPr>
          <p:cNvSpPr/>
          <p:nvPr userDrawn="1"/>
        </p:nvSpPr>
        <p:spPr>
          <a:xfrm>
            <a:off x="6763463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任意多边形 32">
            <a:extLst>
              <a:ext uri="{FF2B5EF4-FFF2-40B4-BE49-F238E27FC236}">
                <a16:creationId xmlns:a16="http://schemas.microsoft.com/office/drawing/2014/main" id="{BE06ED34-2CD9-079E-E595-EA8666DE9031}"/>
              </a:ext>
            </a:extLst>
          </p:cNvPr>
          <p:cNvSpPr/>
          <p:nvPr userDrawn="1"/>
        </p:nvSpPr>
        <p:spPr>
          <a:xfrm>
            <a:off x="6684639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任意多边形 33">
            <a:extLst>
              <a:ext uri="{FF2B5EF4-FFF2-40B4-BE49-F238E27FC236}">
                <a16:creationId xmlns:a16="http://schemas.microsoft.com/office/drawing/2014/main" id="{2A78FBCC-5C0D-04C4-081B-EF063BD76B65}"/>
              </a:ext>
            </a:extLst>
          </p:cNvPr>
          <p:cNvSpPr/>
          <p:nvPr userDrawn="1"/>
        </p:nvSpPr>
        <p:spPr>
          <a:xfrm>
            <a:off x="6605815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任意多边形 34">
            <a:extLst>
              <a:ext uri="{FF2B5EF4-FFF2-40B4-BE49-F238E27FC236}">
                <a16:creationId xmlns:a16="http://schemas.microsoft.com/office/drawing/2014/main" id="{F3EF85F7-7AF3-C0C1-DEFA-1E5357CA692E}"/>
              </a:ext>
            </a:extLst>
          </p:cNvPr>
          <p:cNvSpPr/>
          <p:nvPr userDrawn="1"/>
        </p:nvSpPr>
        <p:spPr>
          <a:xfrm>
            <a:off x="6526990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任意多边形 35">
            <a:extLst>
              <a:ext uri="{FF2B5EF4-FFF2-40B4-BE49-F238E27FC236}">
                <a16:creationId xmlns:a16="http://schemas.microsoft.com/office/drawing/2014/main" id="{2756CF1E-F407-A757-8715-88B745369421}"/>
              </a:ext>
            </a:extLst>
          </p:cNvPr>
          <p:cNvSpPr/>
          <p:nvPr userDrawn="1"/>
        </p:nvSpPr>
        <p:spPr>
          <a:xfrm>
            <a:off x="6448165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任意多边形 36">
            <a:extLst>
              <a:ext uri="{FF2B5EF4-FFF2-40B4-BE49-F238E27FC236}">
                <a16:creationId xmlns:a16="http://schemas.microsoft.com/office/drawing/2014/main" id="{A652370F-C790-F32B-9D62-8F17F3995C07}"/>
              </a:ext>
            </a:extLst>
          </p:cNvPr>
          <p:cNvSpPr/>
          <p:nvPr userDrawn="1"/>
        </p:nvSpPr>
        <p:spPr>
          <a:xfrm>
            <a:off x="6369340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任意多边形 37">
            <a:extLst>
              <a:ext uri="{FF2B5EF4-FFF2-40B4-BE49-F238E27FC236}">
                <a16:creationId xmlns:a16="http://schemas.microsoft.com/office/drawing/2014/main" id="{F2BDA48E-53AB-E484-A358-4D4E66DC300F}"/>
              </a:ext>
            </a:extLst>
          </p:cNvPr>
          <p:cNvSpPr/>
          <p:nvPr userDrawn="1"/>
        </p:nvSpPr>
        <p:spPr>
          <a:xfrm>
            <a:off x="6290516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任意多边形 38">
            <a:extLst>
              <a:ext uri="{FF2B5EF4-FFF2-40B4-BE49-F238E27FC236}">
                <a16:creationId xmlns:a16="http://schemas.microsoft.com/office/drawing/2014/main" id="{DAE0FB34-A5A1-41F9-665A-C248F70A6CB6}"/>
              </a:ext>
            </a:extLst>
          </p:cNvPr>
          <p:cNvSpPr/>
          <p:nvPr userDrawn="1"/>
        </p:nvSpPr>
        <p:spPr>
          <a:xfrm>
            <a:off x="6211691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任意多边形 39">
            <a:extLst>
              <a:ext uri="{FF2B5EF4-FFF2-40B4-BE49-F238E27FC236}">
                <a16:creationId xmlns:a16="http://schemas.microsoft.com/office/drawing/2014/main" id="{05BCAE7F-C1E6-3862-BA06-A8B8708D36D0}"/>
              </a:ext>
            </a:extLst>
          </p:cNvPr>
          <p:cNvSpPr/>
          <p:nvPr userDrawn="1"/>
        </p:nvSpPr>
        <p:spPr>
          <a:xfrm>
            <a:off x="6132867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任意多边形 40">
            <a:extLst>
              <a:ext uri="{FF2B5EF4-FFF2-40B4-BE49-F238E27FC236}">
                <a16:creationId xmlns:a16="http://schemas.microsoft.com/office/drawing/2014/main" id="{EB7BFB27-1060-CE3D-5045-2E458DABE1A1}"/>
              </a:ext>
            </a:extLst>
          </p:cNvPr>
          <p:cNvSpPr/>
          <p:nvPr userDrawn="1"/>
        </p:nvSpPr>
        <p:spPr>
          <a:xfrm>
            <a:off x="6054042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任意多边形 41">
            <a:extLst>
              <a:ext uri="{FF2B5EF4-FFF2-40B4-BE49-F238E27FC236}">
                <a16:creationId xmlns:a16="http://schemas.microsoft.com/office/drawing/2014/main" id="{D17DEF29-35F7-D8C2-4BFC-40AB55810D63}"/>
              </a:ext>
            </a:extLst>
          </p:cNvPr>
          <p:cNvSpPr/>
          <p:nvPr userDrawn="1"/>
        </p:nvSpPr>
        <p:spPr>
          <a:xfrm>
            <a:off x="5975218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1" name="任意多边形 42">
            <a:extLst>
              <a:ext uri="{FF2B5EF4-FFF2-40B4-BE49-F238E27FC236}">
                <a16:creationId xmlns:a16="http://schemas.microsoft.com/office/drawing/2014/main" id="{F0F34ABE-8A34-4925-52A3-E12CB1E3DD7A}"/>
              </a:ext>
            </a:extLst>
          </p:cNvPr>
          <p:cNvSpPr/>
          <p:nvPr userDrawn="1"/>
        </p:nvSpPr>
        <p:spPr>
          <a:xfrm>
            <a:off x="5896393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2" name="任意多边形 43">
            <a:extLst>
              <a:ext uri="{FF2B5EF4-FFF2-40B4-BE49-F238E27FC236}">
                <a16:creationId xmlns:a16="http://schemas.microsoft.com/office/drawing/2014/main" id="{E2F67CF9-A1E5-2D41-0F38-C988C6FA63AD}"/>
              </a:ext>
            </a:extLst>
          </p:cNvPr>
          <p:cNvSpPr/>
          <p:nvPr userDrawn="1"/>
        </p:nvSpPr>
        <p:spPr>
          <a:xfrm>
            <a:off x="5817568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任意多边形 44">
            <a:extLst>
              <a:ext uri="{FF2B5EF4-FFF2-40B4-BE49-F238E27FC236}">
                <a16:creationId xmlns:a16="http://schemas.microsoft.com/office/drawing/2014/main" id="{DACA4110-ABB2-5595-C2D7-DCE857D4FA8D}"/>
              </a:ext>
            </a:extLst>
          </p:cNvPr>
          <p:cNvSpPr/>
          <p:nvPr userDrawn="1"/>
        </p:nvSpPr>
        <p:spPr>
          <a:xfrm>
            <a:off x="5738743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4" name="任意多边形 45">
            <a:extLst>
              <a:ext uri="{FF2B5EF4-FFF2-40B4-BE49-F238E27FC236}">
                <a16:creationId xmlns:a16="http://schemas.microsoft.com/office/drawing/2014/main" id="{3CFFD2A3-9C9C-4EC7-7884-1A82F32A947C}"/>
              </a:ext>
            </a:extLst>
          </p:cNvPr>
          <p:cNvSpPr/>
          <p:nvPr userDrawn="1"/>
        </p:nvSpPr>
        <p:spPr>
          <a:xfrm>
            <a:off x="5659919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5" name="任意多边形 46">
            <a:extLst>
              <a:ext uri="{FF2B5EF4-FFF2-40B4-BE49-F238E27FC236}">
                <a16:creationId xmlns:a16="http://schemas.microsoft.com/office/drawing/2014/main" id="{EFBE7983-87E9-D139-CDA7-E34196EE1869}"/>
              </a:ext>
            </a:extLst>
          </p:cNvPr>
          <p:cNvSpPr/>
          <p:nvPr userDrawn="1"/>
        </p:nvSpPr>
        <p:spPr>
          <a:xfrm>
            <a:off x="5581094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任意多边形 47">
            <a:extLst>
              <a:ext uri="{FF2B5EF4-FFF2-40B4-BE49-F238E27FC236}">
                <a16:creationId xmlns:a16="http://schemas.microsoft.com/office/drawing/2014/main" id="{8A29669D-6A7C-14DF-56E0-67E9636B8B76}"/>
              </a:ext>
            </a:extLst>
          </p:cNvPr>
          <p:cNvSpPr/>
          <p:nvPr userDrawn="1"/>
        </p:nvSpPr>
        <p:spPr>
          <a:xfrm>
            <a:off x="5502270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7" name="任意多边形 48">
            <a:extLst>
              <a:ext uri="{FF2B5EF4-FFF2-40B4-BE49-F238E27FC236}">
                <a16:creationId xmlns:a16="http://schemas.microsoft.com/office/drawing/2014/main" id="{997169CB-E4C8-149D-E401-547E22C7732F}"/>
              </a:ext>
            </a:extLst>
          </p:cNvPr>
          <p:cNvSpPr/>
          <p:nvPr userDrawn="1"/>
        </p:nvSpPr>
        <p:spPr>
          <a:xfrm>
            <a:off x="5423445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8" name="任意多边形 49">
            <a:extLst>
              <a:ext uri="{FF2B5EF4-FFF2-40B4-BE49-F238E27FC236}">
                <a16:creationId xmlns:a16="http://schemas.microsoft.com/office/drawing/2014/main" id="{6496FE16-D1BA-AE4A-EE4B-A7A4EF61EA52}"/>
              </a:ext>
            </a:extLst>
          </p:cNvPr>
          <p:cNvSpPr/>
          <p:nvPr userDrawn="1"/>
        </p:nvSpPr>
        <p:spPr>
          <a:xfrm>
            <a:off x="5344621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9" name="任意多边形 50">
            <a:extLst>
              <a:ext uri="{FF2B5EF4-FFF2-40B4-BE49-F238E27FC236}">
                <a16:creationId xmlns:a16="http://schemas.microsoft.com/office/drawing/2014/main" id="{BB32AE0B-4BFA-B6DF-D2DF-CBAB3C67E710}"/>
              </a:ext>
            </a:extLst>
          </p:cNvPr>
          <p:cNvSpPr/>
          <p:nvPr userDrawn="1"/>
        </p:nvSpPr>
        <p:spPr>
          <a:xfrm>
            <a:off x="5265796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" name="任意多边形 51">
            <a:extLst>
              <a:ext uri="{FF2B5EF4-FFF2-40B4-BE49-F238E27FC236}">
                <a16:creationId xmlns:a16="http://schemas.microsoft.com/office/drawing/2014/main" id="{7822426A-F467-D1D8-9459-5ED48884CB19}"/>
              </a:ext>
            </a:extLst>
          </p:cNvPr>
          <p:cNvSpPr/>
          <p:nvPr userDrawn="1"/>
        </p:nvSpPr>
        <p:spPr>
          <a:xfrm>
            <a:off x="5186971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任意多边形 52">
            <a:extLst>
              <a:ext uri="{FF2B5EF4-FFF2-40B4-BE49-F238E27FC236}">
                <a16:creationId xmlns:a16="http://schemas.microsoft.com/office/drawing/2014/main" id="{5157896D-3F36-1810-247B-E0051BB50EAC}"/>
              </a:ext>
            </a:extLst>
          </p:cNvPr>
          <p:cNvSpPr/>
          <p:nvPr userDrawn="1"/>
        </p:nvSpPr>
        <p:spPr>
          <a:xfrm>
            <a:off x="5108146" y="4593245"/>
            <a:ext cx="130715" cy="342471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4" name="Google Shape;2577;p124">
            <a:extLst>
              <a:ext uri="{FF2B5EF4-FFF2-40B4-BE49-F238E27FC236}">
                <a16:creationId xmlns:a16="http://schemas.microsoft.com/office/drawing/2014/main" id="{655D8A8E-73B1-BC6D-4A79-32B21283798E}"/>
              </a:ext>
            </a:extLst>
          </p:cNvPr>
          <p:cNvSpPr txBox="1">
            <a:spLocks/>
          </p:cNvSpPr>
          <p:nvPr userDrawn="1"/>
        </p:nvSpPr>
        <p:spPr>
          <a:xfrm>
            <a:off x="703999" y="4675619"/>
            <a:ext cx="4491347" cy="40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5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Hammersmith One"/>
              <a:buNone/>
              <a:defRPr sz="36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es-PE" sz="2100" dirty="0">
                <a:solidFill>
                  <a:srgbClr val="013857"/>
                </a:solidFill>
                <a:hlinkClick r:id="rId2"/>
              </a:rPr>
              <a:t>dlgamboa1@espe.edu.ec</a:t>
            </a:r>
            <a:r>
              <a:rPr lang="es-PE" sz="2100" dirty="0">
                <a:solidFill>
                  <a:srgbClr val="013857"/>
                </a:solidFill>
              </a:rPr>
              <a:t>  ESPE</a:t>
            </a:r>
          </a:p>
        </p:txBody>
      </p:sp>
    </p:spTree>
    <p:extLst>
      <p:ext uri="{BB962C8B-B14F-4D97-AF65-F5344CB8AC3E}">
        <p14:creationId xmlns:p14="http://schemas.microsoft.com/office/powerpoint/2010/main" val="35601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09241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175227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834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367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599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1018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5488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163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6175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B47D6-DAD7-40A6-BD10-CD2FABB1321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7317202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7960874-3F9B-4D3F-855A-5669B09C929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1"/>
            <a:ext cx="9144000" cy="23513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B1140DE-B7EF-4821-92DB-87F8292871A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79217" y="1558700"/>
            <a:ext cx="1723620" cy="156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2D1BE3B-CE32-4F45-9E7C-3CF4C5DACDC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711771" y="1558700"/>
            <a:ext cx="1723620" cy="156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F1FA09A-98C2-4BC7-A032-43C843531C6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2695494" y="1558700"/>
            <a:ext cx="1723620" cy="156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8718837-365D-4859-B99D-1C4C5BB7E50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728048" y="1558700"/>
            <a:ext cx="1723620" cy="156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55507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422643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E24A2BE-80CE-4B79-BF31-91FA62C0442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1620499"/>
            <a:ext cx="9144000" cy="1877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50" baseline="0">
                <a:latin typeface="+mn-lt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51014-6E90-4769-BCD9-A06A9FC17AC8}"/>
              </a:ext>
            </a:extLst>
          </p:cNvPr>
          <p:cNvSpPr/>
          <p:nvPr userDrawn="1"/>
        </p:nvSpPr>
        <p:spPr>
          <a:xfrm>
            <a:off x="0" y="1520205"/>
            <a:ext cx="9144000" cy="5400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C926F-7282-4E00-BF8A-8D24B274039B}"/>
              </a:ext>
            </a:extLst>
          </p:cNvPr>
          <p:cNvSpPr/>
          <p:nvPr userDrawn="1"/>
        </p:nvSpPr>
        <p:spPr>
          <a:xfrm>
            <a:off x="0" y="3543858"/>
            <a:ext cx="9144000" cy="5400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3899664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069000" y="409368"/>
            <a:ext cx="6075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2681553"/>
            <a:ext cx="6075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299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12">
            <a:extLst>
              <a:ext uri="{FF2B5EF4-FFF2-40B4-BE49-F238E27FC236}">
                <a16:creationId xmlns:a16="http://schemas.microsoft.com/office/drawing/2014/main" id="{A7A44CD1-8791-4411-9DCF-BE8F9EB9EB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9302" y="917488"/>
            <a:ext cx="4080821" cy="3541485"/>
          </a:xfrm>
          <a:custGeom>
            <a:avLst/>
            <a:gdLst>
              <a:gd name="connsiteX0" fmla="*/ 2090352 w 5441094"/>
              <a:gd name="connsiteY0" fmla="*/ 2977952 h 4721980"/>
              <a:gd name="connsiteX1" fmla="*/ 3101888 w 5441094"/>
              <a:gd name="connsiteY1" fmla="*/ 4721980 h 4721980"/>
              <a:gd name="connsiteX2" fmla="*/ 1078816 w 5441094"/>
              <a:gd name="connsiteY2" fmla="*/ 4721980 h 4721980"/>
              <a:gd name="connsiteX3" fmla="*/ 2191267 w 5441094"/>
              <a:gd name="connsiteY3" fmla="*/ 2940880 h 4721980"/>
              <a:gd name="connsiteX4" fmla="*/ 4155992 w 5441094"/>
              <a:gd name="connsiteY4" fmla="*/ 2940880 h 4721980"/>
              <a:gd name="connsiteX5" fmla="*/ 3173629 w 5441094"/>
              <a:gd name="connsiteY5" fmla="*/ 4634609 h 4721980"/>
              <a:gd name="connsiteX6" fmla="*/ 0 w 5441094"/>
              <a:gd name="connsiteY6" fmla="*/ 2928524 h 4721980"/>
              <a:gd name="connsiteX7" fmla="*/ 2023072 w 5441094"/>
              <a:gd name="connsiteY7" fmla="*/ 2928524 h 4721980"/>
              <a:gd name="connsiteX8" fmla="*/ 1011536 w 5441094"/>
              <a:gd name="connsiteY8" fmla="*/ 4672552 h 4721980"/>
              <a:gd name="connsiteX9" fmla="*/ 982363 w 5441094"/>
              <a:gd name="connsiteY9" fmla="*/ 1120204 h 4721980"/>
              <a:gd name="connsiteX10" fmla="*/ 1964725 w 5441094"/>
              <a:gd name="connsiteY10" fmla="*/ 2813933 h 4721980"/>
              <a:gd name="connsiteX11" fmla="*/ 0 w 5441094"/>
              <a:gd name="connsiteY11" fmla="*/ 2813933 h 4721980"/>
              <a:gd name="connsiteX12" fmla="*/ 3816180 w 5441094"/>
              <a:gd name="connsiteY12" fmla="*/ 12357 h 4721980"/>
              <a:gd name="connsiteX13" fmla="*/ 5441094 w 5441094"/>
              <a:gd name="connsiteY13" fmla="*/ 2813933 h 4721980"/>
              <a:gd name="connsiteX14" fmla="*/ 2191266 w 5441094"/>
              <a:gd name="connsiteY14" fmla="*/ 2813933 h 4721980"/>
              <a:gd name="connsiteX15" fmla="*/ 465439 w 5441094"/>
              <a:gd name="connsiteY15" fmla="*/ 0 h 4721980"/>
              <a:gd name="connsiteX16" fmla="*/ 3715267 w 5441094"/>
              <a:gd name="connsiteY16" fmla="*/ 0 h 4721980"/>
              <a:gd name="connsiteX17" fmla="*/ 2090353 w 5441094"/>
              <a:gd name="connsiteY17" fmla="*/ 2801576 h 47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1094" h="4721980">
                <a:moveTo>
                  <a:pt x="2090352" y="2977952"/>
                </a:moveTo>
                <a:lnTo>
                  <a:pt x="3101888" y="4721980"/>
                </a:lnTo>
                <a:lnTo>
                  <a:pt x="1078816" y="4721980"/>
                </a:lnTo>
                <a:close/>
                <a:moveTo>
                  <a:pt x="2191267" y="2940880"/>
                </a:moveTo>
                <a:lnTo>
                  <a:pt x="4155992" y="2940880"/>
                </a:lnTo>
                <a:lnTo>
                  <a:pt x="3173629" y="4634609"/>
                </a:lnTo>
                <a:close/>
                <a:moveTo>
                  <a:pt x="0" y="2928524"/>
                </a:moveTo>
                <a:lnTo>
                  <a:pt x="2023072" y="2928524"/>
                </a:lnTo>
                <a:lnTo>
                  <a:pt x="1011536" y="4672552"/>
                </a:lnTo>
                <a:close/>
                <a:moveTo>
                  <a:pt x="982363" y="1120204"/>
                </a:moveTo>
                <a:lnTo>
                  <a:pt x="1964725" y="2813933"/>
                </a:lnTo>
                <a:lnTo>
                  <a:pt x="0" y="2813933"/>
                </a:lnTo>
                <a:close/>
                <a:moveTo>
                  <a:pt x="3816180" y="12357"/>
                </a:moveTo>
                <a:lnTo>
                  <a:pt x="5441094" y="2813933"/>
                </a:lnTo>
                <a:lnTo>
                  <a:pt x="2191266" y="2813933"/>
                </a:lnTo>
                <a:close/>
                <a:moveTo>
                  <a:pt x="465439" y="0"/>
                </a:moveTo>
                <a:lnTo>
                  <a:pt x="3715267" y="0"/>
                </a:lnTo>
                <a:lnTo>
                  <a:pt x="2090353" y="2801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583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73A78E6-F71D-4312-BDB2-FA26CAF574B4}"/>
              </a:ext>
            </a:extLst>
          </p:cNvPr>
          <p:cNvSpPr/>
          <p:nvPr userDrawn="1"/>
        </p:nvSpPr>
        <p:spPr>
          <a:xfrm flipH="1" flipV="1">
            <a:off x="3839270" y="0"/>
            <a:ext cx="5304729" cy="5143500"/>
          </a:xfrm>
          <a:custGeom>
            <a:avLst/>
            <a:gdLst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75BF01-2621-417D-9B96-39DD8D0867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5304729" cy="5143500"/>
          </a:xfrm>
          <a:custGeom>
            <a:avLst/>
            <a:gdLst>
              <a:gd name="connsiteX0" fmla="*/ 0 w 6200775"/>
              <a:gd name="connsiteY0" fmla="*/ 0 h 6858000"/>
              <a:gd name="connsiteX1" fmla="*/ 2158503 w 6200775"/>
              <a:gd name="connsiteY1" fmla="*/ 0 h 6858000"/>
              <a:gd name="connsiteX2" fmla="*/ 6200775 w 6200775"/>
              <a:gd name="connsiteY2" fmla="*/ 3676650 h 6858000"/>
              <a:gd name="connsiteX3" fmla="*/ 3307176 w 6200775"/>
              <a:gd name="connsiteY3" fmla="*/ 6858000 h 6858000"/>
              <a:gd name="connsiteX4" fmla="*/ 0 w 6200775"/>
              <a:gd name="connsiteY4" fmla="*/ 6858000 h 6858000"/>
              <a:gd name="connsiteX0" fmla="*/ 0 w 7424664"/>
              <a:gd name="connsiteY0" fmla="*/ 0 h 6858000"/>
              <a:gd name="connsiteX1" fmla="*/ 2158503 w 7424664"/>
              <a:gd name="connsiteY1" fmla="*/ 0 h 6858000"/>
              <a:gd name="connsiteX2" fmla="*/ 7424664 w 7424664"/>
              <a:gd name="connsiteY2" fmla="*/ 2326151 h 6858000"/>
              <a:gd name="connsiteX3" fmla="*/ 3307176 w 7424664"/>
              <a:gd name="connsiteY3" fmla="*/ 6858000 h 6858000"/>
              <a:gd name="connsiteX4" fmla="*/ 0 w 7424664"/>
              <a:gd name="connsiteY4" fmla="*/ 6858000 h 6858000"/>
              <a:gd name="connsiteX5" fmla="*/ 0 w 7424664"/>
              <a:gd name="connsiteY5" fmla="*/ 0 h 6858000"/>
              <a:gd name="connsiteX0" fmla="*/ 0 w 7424664"/>
              <a:gd name="connsiteY0" fmla="*/ 0 h 6858000"/>
              <a:gd name="connsiteX1" fmla="*/ 7424664 w 7424664"/>
              <a:gd name="connsiteY1" fmla="*/ 2326151 h 6858000"/>
              <a:gd name="connsiteX2" fmla="*/ 3307176 w 7424664"/>
              <a:gd name="connsiteY2" fmla="*/ 6858000 h 6858000"/>
              <a:gd name="connsiteX3" fmla="*/ 0 w 7424664"/>
              <a:gd name="connsiteY3" fmla="*/ 6858000 h 6858000"/>
              <a:gd name="connsiteX4" fmla="*/ 0 w 7424664"/>
              <a:gd name="connsiteY4" fmla="*/ 0 h 6858000"/>
              <a:gd name="connsiteX0" fmla="*/ 0 w 6904159"/>
              <a:gd name="connsiteY0" fmla="*/ 0 h 6858000"/>
              <a:gd name="connsiteX1" fmla="*/ 6904159 w 6904159"/>
              <a:gd name="connsiteY1" fmla="*/ 1805646 h 6858000"/>
              <a:gd name="connsiteX2" fmla="*/ 3307176 w 6904159"/>
              <a:gd name="connsiteY2" fmla="*/ 6858000 h 6858000"/>
              <a:gd name="connsiteX3" fmla="*/ 0 w 6904159"/>
              <a:gd name="connsiteY3" fmla="*/ 6858000 h 6858000"/>
              <a:gd name="connsiteX4" fmla="*/ 0 w 6904159"/>
              <a:gd name="connsiteY4" fmla="*/ 0 h 6858000"/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  <a:gd name="connsiteX4" fmla="*/ 0 w 70729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9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24402-8447-448E-89E3-183EBB1DA00D}"/>
              </a:ext>
            </a:extLst>
          </p:cNvPr>
          <p:cNvSpPr/>
          <p:nvPr userDrawn="1"/>
        </p:nvSpPr>
        <p:spPr>
          <a:xfrm>
            <a:off x="0" y="2247714"/>
            <a:ext cx="9144000" cy="14041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E4CF9D97-FAE0-4B0A-A30C-8936E46C66B2}"/>
              </a:ext>
            </a:extLst>
          </p:cNvPr>
          <p:cNvGrpSpPr/>
          <p:nvPr userDrawn="1"/>
        </p:nvGrpSpPr>
        <p:grpSpPr>
          <a:xfrm>
            <a:off x="3572889" y="1165200"/>
            <a:ext cx="1998222" cy="3512770"/>
            <a:chOff x="445712" y="1449040"/>
            <a:chExt cx="2113018" cy="3924176"/>
          </a:xfrm>
        </p:grpSpPr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A665FA86-6430-4D7E-ABCB-4F8C3E52E0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53DAFBD2-84EC-4D6B-80BE-DA2118509069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8866A3A-5A93-49E6-8DE2-C98FC661D430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11">
                <a:extLst>
                  <a:ext uri="{FF2B5EF4-FFF2-40B4-BE49-F238E27FC236}">
                    <a16:creationId xmlns:a16="http://schemas.microsoft.com/office/drawing/2014/main" id="{EB10029A-074D-4812-8AB6-62EF3ED73579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0" name="Rounded Rectangle 12">
                <a:extLst>
                  <a:ext uri="{FF2B5EF4-FFF2-40B4-BE49-F238E27FC236}">
                    <a16:creationId xmlns:a16="http://schemas.microsoft.com/office/drawing/2014/main" id="{BE572564-2A3A-45E0-93B7-2FB78757998F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42F8FDE-91AA-45DB-A05E-7507C27F30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13828" y="1473878"/>
            <a:ext cx="1716345" cy="281480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5433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12FC24-B0BB-43AE-AB6F-2F8A6318C976}"/>
              </a:ext>
            </a:extLst>
          </p:cNvPr>
          <p:cNvGrpSpPr/>
          <p:nvPr userDrawn="1"/>
        </p:nvGrpSpPr>
        <p:grpSpPr>
          <a:xfrm flipH="1">
            <a:off x="364688" y="357852"/>
            <a:ext cx="8778240" cy="4451348"/>
            <a:chOff x="-161213" y="477136"/>
            <a:chExt cx="11704320" cy="593513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2B0099-32CD-4A9E-A010-EB75F1B7AD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FFECB2-D63A-4DED-B565-1B5EC1C6DBC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23856D-6F4B-428C-8039-92BC2469A8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3480D-83E6-465D-B9EC-FA0799699FB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51514" y="0"/>
            <a:ext cx="5192486" cy="5143500"/>
          </a:xfrm>
          <a:custGeom>
            <a:avLst/>
            <a:gdLst>
              <a:gd name="connsiteX0" fmla="*/ 1714500 w 6923314"/>
              <a:gd name="connsiteY0" fmla="*/ 0 h 6858000"/>
              <a:gd name="connsiteX1" fmla="*/ 6923314 w 6923314"/>
              <a:gd name="connsiteY1" fmla="*/ 0 h 6858000"/>
              <a:gd name="connsiteX2" fmla="*/ 6923314 w 6923314"/>
              <a:gd name="connsiteY2" fmla="*/ 1637212 h 6858000"/>
              <a:gd name="connsiteX3" fmla="*/ 5618117 w 6923314"/>
              <a:gd name="connsiteY3" fmla="*/ 6858000 h 6858000"/>
              <a:gd name="connsiteX4" fmla="*/ 0 w 692331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1714500" y="0"/>
                </a:moveTo>
                <a:lnTo>
                  <a:pt x="6923314" y="0"/>
                </a:lnTo>
                <a:lnTo>
                  <a:pt x="6923314" y="1637212"/>
                </a:lnTo>
                <a:lnTo>
                  <a:pt x="561811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9321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D10489-647D-4424-92F3-2E31185A69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170636" y="0"/>
            <a:ext cx="5973367" cy="5143500"/>
          </a:xfrm>
          <a:custGeom>
            <a:avLst/>
            <a:gdLst>
              <a:gd name="connsiteX0" fmla="*/ 7895557 w 7964489"/>
              <a:gd name="connsiteY0" fmla="*/ 1035541 h 6858000"/>
              <a:gd name="connsiteX1" fmla="*/ 6561027 w 7964489"/>
              <a:gd name="connsiteY1" fmla="*/ 6858000 h 6858000"/>
              <a:gd name="connsiteX2" fmla="*/ 3421268 w 7964489"/>
              <a:gd name="connsiteY2" fmla="*/ 6858000 h 6858000"/>
              <a:gd name="connsiteX3" fmla="*/ 4816845 w 7964489"/>
              <a:gd name="connsiteY3" fmla="*/ 380744 h 6858000"/>
              <a:gd name="connsiteX4" fmla="*/ 3224260 w 7964489"/>
              <a:gd name="connsiteY4" fmla="*/ 6858000 h 6858000"/>
              <a:gd name="connsiteX5" fmla="*/ 0 w 7964489"/>
              <a:gd name="connsiteY5" fmla="*/ 6858000 h 6858000"/>
              <a:gd name="connsiteX6" fmla="*/ 5167647 w 7964489"/>
              <a:gd name="connsiteY6" fmla="*/ 0 h 6858000"/>
              <a:gd name="connsiteX7" fmla="*/ 7964489 w 7964489"/>
              <a:gd name="connsiteY7" fmla="*/ 0 h 6858000"/>
              <a:gd name="connsiteX8" fmla="*/ 7964489 w 7964489"/>
              <a:gd name="connsiteY8" fmla="*/ 581734 h 6858000"/>
              <a:gd name="connsiteX9" fmla="*/ 3748483 w 7964489"/>
              <a:gd name="connsiteY9" fmla="*/ 59826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64489" h="6858000">
                <a:moveTo>
                  <a:pt x="7895557" y="1035541"/>
                </a:moveTo>
                <a:lnTo>
                  <a:pt x="6561027" y="6858000"/>
                </a:lnTo>
                <a:lnTo>
                  <a:pt x="3421268" y="6858000"/>
                </a:lnTo>
                <a:close/>
                <a:moveTo>
                  <a:pt x="4816845" y="380744"/>
                </a:moveTo>
                <a:lnTo>
                  <a:pt x="3224260" y="6858000"/>
                </a:lnTo>
                <a:lnTo>
                  <a:pt x="0" y="6858000"/>
                </a:lnTo>
                <a:close/>
                <a:moveTo>
                  <a:pt x="5167647" y="0"/>
                </a:moveTo>
                <a:lnTo>
                  <a:pt x="7964489" y="0"/>
                </a:lnTo>
                <a:lnTo>
                  <a:pt x="7964489" y="581734"/>
                </a:lnTo>
                <a:lnTo>
                  <a:pt x="3748483" y="59826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1962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4936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9680406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265508" y="848694"/>
            <a:ext cx="2670575" cy="405192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4" name="Rounded Rectangle 3"/>
          <p:cNvSpPr/>
          <p:nvPr userDrawn="1"/>
        </p:nvSpPr>
        <p:spPr>
          <a:xfrm>
            <a:off x="398950" y="1010625"/>
            <a:ext cx="115401" cy="37614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2292883" y="957490"/>
            <a:ext cx="514387" cy="51386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533778" y="1216369"/>
            <a:ext cx="1674186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05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533778" y="1584056"/>
            <a:ext cx="1674186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05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540922" y="4344787"/>
            <a:ext cx="1674000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05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540922" y="3326202"/>
            <a:ext cx="2037972" cy="10618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1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1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57454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00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free-powerpoint-templates-design.com/free-powerpoint-templates-desig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v91_2N6VDA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7958" y="2340917"/>
            <a:ext cx="4139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UNIDAD 1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563888" y="1358386"/>
            <a:ext cx="5514061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INTRODUCCIÓN A LA</a:t>
            </a:r>
          </a:p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CALIDAD DEL SOFTWARE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0" y="4925734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Ing. Diego Gamboa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Mgtr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              dlgamboa1@espe.edu.ec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 descr="Mi ESPE">
            <a:extLst>
              <a:ext uri="{FF2B5EF4-FFF2-40B4-BE49-F238E27FC236}">
                <a16:creationId xmlns:a16="http://schemas.microsoft.com/office/drawing/2014/main" id="{F04F2875-C293-17C3-5A57-0AE5A76D1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5" y="134179"/>
            <a:ext cx="4680520" cy="88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aper with a magnifying glass and tools&#10;&#10;AI-generated content may be incorrect.">
            <a:extLst>
              <a:ext uri="{FF2B5EF4-FFF2-40B4-BE49-F238E27FC236}">
                <a16:creationId xmlns:a16="http://schemas.microsoft.com/office/drawing/2014/main" id="{08B52E2F-D9B6-E9BD-AA87-497E457C66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795" y="3626346"/>
            <a:ext cx="1517154" cy="1517154"/>
          </a:xfrm>
          <a:prstGeom prst="rect">
            <a:avLst/>
          </a:prstGeom>
        </p:spPr>
      </p:pic>
      <p:pic>
        <p:nvPicPr>
          <p:cNvPr id="10" name="Graphic 9" descr="Email with solid fill">
            <a:extLst>
              <a:ext uri="{FF2B5EF4-FFF2-40B4-BE49-F238E27FC236}">
                <a16:creationId xmlns:a16="http://schemas.microsoft.com/office/drawing/2014/main" id="{44432089-C10B-90FD-95BB-7E0252D86C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4427984" y="4865305"/>
            <a:ext cx="28803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87164" y="267958"/>
            <a:ext cx="4680520" cy="460648"/>
          </a:xfrm>
        </p:spPr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Temario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A1121680-C649-8120-9EB3-276E84E05551}"/>
              </a:ext>
            </a:extLst>
          </p:cNvPr>
          <p:cNvPicPr/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149"/>
            <a:ext cx="4211960" cy="5140352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21ED591D-47E8-DB2D-44FD-4ED17FFA241F}"/>
              </a:ext>
            </a:extLst>
          </p:cNvPr>
          <p:cNvSpPr txBox="1"/>
          <p:nvPr/>
        </p:nvSpPr>
        <p:spPr>
          <a:xfrm>
            <a:off x="323528" y="2139702"/>
            <a:ext cx="3528392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Aseguramiento de la Calidad (SQA)</a:t>
            </a:r>
            <a:endParaRPr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Mi ESPE">
            <a:extLst>
              <a:ext uri="{FF2B5EF4-FFF2-40B4-BE49-F238E27FC236}">
                <a16:creationId xmlns:a16="http://schemas.microsoft.com/office/drawing/2014/main" id="{AA10760D-69AA-CDF0-51F7-186EB89FC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96" y="4500549"/>
            <a:ext cx="2057169" cy="61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3">
            <a:extLst>
              <a:ext uri="{FF2B5EF4-FFF2-40B4-BE49-F238E27FC236}">
                <a16:creationId xmlns:a16="http://schemas.microsoft.com/office/drawing/2014/main" id="{DE35181F-3768-7B58-69C9-66497E16C5B9}"/>
              </a:ext>
            </a:extLst>
          </p:cNvPr>
          <p:cNvSpPr/>
          <p:nvPr/>
        </p:nvSpPr>
        <p:spPr>
          <a:xfrm>
            <a:off x="4187960" y="0"/>
            <a:ext cx="66088" cy="5211479"/>
          </a:xfrm>
          <a:prstGeom prst="rect">
            <a:avLst/>
          </a:prstGeom>
          <a:solidFill>
            <a:srgbClr val="0138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2" name="Oval 5">
            <a:extLst>
              <a:ext uri="{FF2B5EF4-FFF2-40B4-BE49-F238E27FC236}">
                <a16:creationId xmlns:a16="http://schemas.microsoft.com/office/drawing/2014/main" id="{84D9C254-CA13-E711-E9C5-5CAA30DEB0FB}"/>
              </a:ext>
            </a:extLst>
          </p:cNvPr>
          <p:cNvSpPr/>
          <p:nvPr/>
        </p:nvSpPr>
        <p:spPr>
          <a:xfrm>
            <a:off x="4476191" y="1647737"/>
            <a:ext cx="288000" cy="288000"/>
          </a:xfrm>
          <a:prstGeom prst="ellipse">
            <a:avLst/>
          </a:prstGeom>
          <a:solidFill>
            <a:srgbClr val="33AAB9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3" name="Oval 6">
            <a:extLst>
              <a:ext uri="{FF2B5EF4-FFF2-40B4-BE49-F238E27FC236}">
                <a16:creationId xmlns:a16="http://schemas.microsoft.com/office/drawing/2014/main" id="{41C04F99-48A3-C660-D3CD-5332A7C48F4F}"/>
              </a:ext>
            </a:extLst>
          </p:cNvPr>
          <p:cNvSpPr/>
          <p:nvPr/>
        </p:nvSpPr>
        <p:spPr>
          <a:xfrm>
            <a:off x="4476191" y="2655857"/>
            <a:ext cx="288000" cy="288000"/>
          </a:xfrm>
          <a:prstGeom prst="ellipse">
            <a:avLst/>
          </a:prstGeom>
          <a:solidFill>
            <a:srgbClr val="013857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4" name="Oval 7">
            <a:extLst>
              <a:ext uri="{FF2B5EF4-FFF2-40B4-BE49-F238E27FC236}">
                <a16:creationId xmlns:a16="http://schemas.microsoft.com/office/drawing/2014/main" id="{29EC70DA-100A-0E0B-C514-7EEEF222DB91}"/>
              </a:ext>
            </a:extLst>
          </p:cNvPr>
          <p:cNvSpPr/>
          <p:nvPr/>
        </p:nvSpPr>
        <p:spPr>
          <a:xfrm>
            <a:off x="4476191" y="3663977"/>
            <a:ext cx="288000" cy="288000"/>
          </a:xfrm>
          <a:prstGeom prst="ellipse">
            <a:avLst/>
          </a:prstGeom>
          <a:solidFill>
            <a:srgbClr val="33AAB9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7" name="TextBox 10">
            <a:extLst>
              <a:ext uri="{FF2B5EF4-FFF2-40B4-BE49-F238E27FC236}">
                <a16:creationId xmlns:a16="http://schemas.microsoft.com/office/drawing/2014/main" id="{A7DF0E44-DF31-3A56-4FA2-3551FD55415E}"/>
              </a:ext>
            </a:extLst>
          </p:cNvPr>
          <p:cNvSpPr txBox="1"/>
          <p:nvPr/>
        </p:nvSpPr>
        <p:spPr>
          <a:xfrm>
            <a:off x="4938340" y="1483961"/>
            <a:ext cx="803599" cy="584775"/>
          </a:xfrm>
          <a:prstGeom prst="rect">
            <a:avLst/>
          </a:prstGeom>
          <a:solidFill>
            <a:srgbClr val="33AAB9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3200" b="1" dirty="0">
                <a:solidFill>
                  <a:prstClr val="white"/>
                </a:solidFill>
                <a:latin typeface="Arial"/>
                <a:cs typeface="Arial" pitchFamily="34" charset="0"/>
              </a:rPr>
              <a:t>01</a:t>
            </a:r>
            <a:endParaRPr lang="ko-KR" altLang="en-US" sz="3200" b="1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128" name="TextBox 11">
            <a:extLst>
              <a:ext uri="{FF2B5EF4-FFF2-40B4-BE49-F238E27FC236}">
                <a16:creationId xmlns:a16="http://schemas.microsoft.com/office/drawing/2014/main" id="{05DC3E29-4878-E646-A8B5-8BDE16018591}"/>
              </a:ext>
            </a:extLst>
          </p:cNvPr>
          <p:cNvSpPr txBox="1"/>
          <p:nvPr/>
        </p:nvSpPr>
        <p:spPr>
          <a:xfrm>
            <a:off x="4946409" y="2492081"/>
            <a:ext cx="803599" cy="584775"/>
          </a:xfrm>
          <a:prstGeom prst="rect">
            <a:avLst/>
          </a:prstGeom>
          <a:solidFill>
            <a:srgbClr val="013857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3200" b="1" dirty="0">
                <a:solidFill>
                  <a:prstClr val="white"/>
                </a:solidFill>
                <a:latin typeface="Arial"/>
                <a:cs typeface="Arial" pitchFamily="34" charset="0"/>
              </a:rPr>
              <a:t>02</a:t>
            </a:r>
            <a:endParaRPr lang="ko-KR" altLang="en-US" sz="3200" b="1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129" name="TextBox 12">
            <a:extLst>
              <a:ext uri="{FF2B5EF4-FFF2-40B4-BE49-F238E27FC236}">
                <a16:creationId xmlns:a16="http://schemas.microsoft.com/office/drawing/2014/main" id="{D228F476-C08B-1873-998C-81DFF8B3CED5}"/>
              </a:ext>
            </a:extLst>
          </p:cNvPr>
          <p:cNvSpPr txBox="1"/>
          <p:nvPr/>
        </p:nvSpPr>
        <p:spPr>
          <a:xfrm>
            <a:off x="4954478" y="3500201"/>
            <a:ext cx="803599" cy="584775"/>
          </a:xfrm>
          <a:prstGeom prst="rect">
            <a:avLst/>
          </a:prstGeom>
          <a:solidFill>
            <a:srgbClr val="33AAB9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3200" b="1" dirty="0">
                <a:solidFill>
                  <a:prstClr val="white"/>
                </a:solidFill>
                <a:latin typeface="Arial"/>
                <a:cs typeface="Arial" pitchFamily="34" charset="0"/>
              </a:rPr>
              <a:t>03</a:t>
            </a:r>
            <a:endParaRPr lang="ko-KR" altLang="en-US" sz="3200" b="1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136" name="TextBox 19">
            <a:extLst>
              <a:ext uri="{FF2B5EF4-FFF2-40B4-BE49-F238E27FC236}">
                <a16:creationId xmlns:a16="http://schemas.microsoft.com/office/drawing/2014/main" id="{1F22B35F-CE45-53B2-E5D8-17D642ED6C0E}"/>
              </a:ext>
            </a:extLst>
          </p:cNvPr>
          <p:cNvSpPr txBox="1"/>
          <p:nvPr/>
        </p:nvSpPr>
        <p:spPr>
          <a:xfrm>
            <a:off x="5844430" y="1484868"/>
            <a:ext cx="3053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Técnicas</a:t>
            </a:r>
            <a:r>
              <a:rPr lang="en-US" altLang="ko-KR" sz="1600" b="1" dirty="0">
                <a:solidFill>
                  <a:srgbClr val="787878"/>
                </a:solidFill>
                <a:latin typeface="Arial"/>
                <a:cs typeface="Arial" pitchFamily="34" charset="0"/>
              </a:rPr>
              <a:t> para </a:t>
            </a:r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el</a:t>
            </a:r>
            <a:r>
              <a:rPr lang="en-US" altLang="ko-KR" sz="1600" b="1" dirty="0">
                <a:solidFill>
                  <a:srgbClr val="787878"/>
                </a:solidFill>
                <a:latin typeface="Arial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aseguramiento</a:t>
            </a:r>
            <a:r>
              <a:rPr lang="en-US" altLang="ko-KR" sz="1600" b="1" dirty="0">
                <a:solidFill>
                  <a:srgbClr val="787878"/>
                </a:solidFill>
                <a:latin typeface="Arial"/>
                <a:cs typeface="Arial" pitchFamily="34" charset="0"/>
              </a:rPr>
              <a:t> de la </a:t>
            </a:r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calidad</a:t>
            </a:r>
            <a:endParaRPr lang="ko-KR" altLang="en-US" sz="1600" b="1" dirty="0">
              <a:solidFill>
                <a:srgbClr val="787878"/>
              </a:solidFill>
              <a:latin typeface="Arial"/>
              <a:cs typeface="Arial" pitchFamily="34" charset="0"/>
            </a:endParaRPr>
          </a:p>
        </p:txBody>
      </p:sp>
      <p:sp>
        <p:nvSpPr>
          <p:cNvPr id="139" name="TextBox 22">
            <a:extLst>
              <a:ext uri="{FF2B5EF4-FFF2-40B4-BE49-F238E27FC236}">
                <a16:creationId xmlns:a16="http://schemas.microsoft.com/office/drawing/2014/main" id="{2E397C52-0B7A-1299-C376-F9511E53D133}"/>
              </a:ext>
            </a:extLst>
          </p:cNvPr>
          <p:cNvSpPr txBox="1"/>
          <p:nvPr/>
        </p:nvSpPr>
        <p:spPr>
          <a:xfrm>
            <a:off x="5844430" y="2595226"/>
            <a:ext cx="4032448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Técnicas</a:t>
            </a:r>
            <a:r>
              <a:rPr lang="en-US" altLang="ko-KR" sz="1600" b="1" dirty="0">
                <a:solidFill>
                  <a:srgbClr val="787878"/>
                </a:solidFill>
                <a:latin typeface="Arial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estáticas</a:t>
            </a:r>
            <a:endParaRPr lang="ko-KR" altLang="en-US" sz="1600" b="1" dirty="0">
              <a:solidFill>
                <a:srgbClr val="787878"/>
              </a:solidFill>
              <a:latin typeface="Arial"/>
              <a:cs typeface="Arial" pitchFamily="34" charset="0"/>
            </a:endParaRPr>
          </a:p>
        </p:txBody>
      </p:sp>
      <p:sp>
        <p:nvSpPr>
          <p:cNvPr id="142" name="TextBox 25">
            <a:extLst>
              <a:ext uri="{FF2B5EF4-FFF2-40B4-BE49-F238E27FC236}">
                <a16:creationId xmlns:a16="http://schemas.microsoft.com/office/drawing/2014/main" id="{F254AEB4-0084-1499-35FA-935FF6DB992E}"/>
              </a:ext>
            </a:extLst>
          </p:cNvPr>
          <p:cNvSpPr txBox="1"/>
          <p:nvPr/>
        </p:nvSpPr>
        <p:spPr>
          <a:xfrm>
            <a:off x="5844430" y="3579862"/>
            <a:ext cx="4032448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Técnicas</a:t>
            </a:r>
            <a:r>
              <a:rPr lang="en-US" altLang="ko-KR" sz="1600" b="1" dirty="0">
                <a:solidFill>
                  <a:srgbClr val="787878"/>
                </a:solidFill>
                <a:latin typeface="Arial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rgbClr val="787878"/>
                </a:solidFill>
                <a:latin typeface="Arial"/>
                <a:cs typeface="Arial" pitchFamily="34" charset="0"/>
              </a:rPr>
              <a:t>Dinámicas</a:t>
            </a:r>
            <a:endParaRPr lang="ko-KR" altLang="en-US" sz="1600" b="1" dirty="0">
              <a:solidFill>
                <a:srgbClr val="787878"/>
              </a:solidFill>
              <a:latin typeface="Arial"/>
              <a:cs typeface="Arial" pitchFamily="34" charset="0"/>
            </a:endParaRPr>
          </a:p>
        </p:txBody>
      </p:sp>
      <p:sp>
        <p:nvSpPr>
          <p:cNvPr id="146" name="Pentagon 50">
            <a:extLst>
              <a:ext uri="{FF2B5EF4-FFF2-40B4-BE49-F238E27FC236}">
                <a16:creationId xmlns:a16="http://schemas.microsoft.com/office/drawing/2014/main" id="{BC9DECC7-5BAE-E780-77B4-A0B5067560D7}"/>
              </a:ext>
            </a:extLst>
          </p:cNvPr>
          <p:cNvSpPr/>
          <p:nvPr/>
        </p:nvSpPr>
        <p:spPr>
          <a:xfrm rot="5400000">
            <a:off x="1431893" y="-622525"/>
            <a:ext cx="1346950" cy="2592000"/>
          </a:xfrm>
          <a:prstGeom prst="homePlate">
            <a:avLst>
              <a:gd name="adj" fmla="val 34833"/>
            </a:avLst>
          </a:prstGeom>
          <a:solidFill>
            <a:srgbClr val="33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07CF6C8-3D98-F68F-9CB4-A52C9B0929C0}"/>
              </a:ext>
            </a:extLst>
          </p:cNvPr>
          <p:cNvGrpSpPr/>
          <p:nvPr/>
        </p:nvGrpSpPr>
        <p:grpSpPr>
          <a:xfrm>
            <a:off x="1136764" y="86620"/>
            <a:ext cx="1937208" cy="557984"/>
            <a:chOff x="568120" y="1217156"/>
            <a:chExt cx="1937208" cy="557984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0DDC393-03B4-42CA-9BD9-2DA9B17FAE40}"/>
                </a:ext>
              </a:extLst>
            </p:cNvPr>
            <p:cNvSpPr txBox="1"/>
            <p:nvPr/>
          </p:nvSpPr>
          <p:spPr>
            <a:xfrm>
              <a:off x="568120" y="1217156"/>
              <a:ext cx="1937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Unidad</a:t>
              </a:r>
              <a:endParaRPr lang="ko-KR" alt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AFAAC5AE-5F80-3ACB-9AC8-B8F60D765E43}"/>
                </a:ext>
              </a:extLst>
            </p:cNvPr>
            <p:cNvSpPr txBox="1"/>
            <p:nvPr/>
          </p:nvSpPr>
          <p:spPr>
            <a:xfrm>
              <a:off x="587633" y="1467363"/>
              <a:ext cx="19176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ko-KR" alt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52" name="Graphic 151" descr="Clipboard Badge outline">
            <a:extLst>
              <a:ext uri="{FF2B5EF4-FFF2-40B4-BE49-F238E27FC236}">
                <a16:creationId xmlns:a16="http://schemas.microsoft.com/office/drawing/2014/main" id="{658AFF8C-51EA-BBD1-06FE-5BAF49C87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6361" y="541813"/>
            <a:ext cx="707407" cy="70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499E92-50A7-4680-90CB-41532F4FC718}"/>
              </a:ext>
            </a:extLst>
          </p:cNvPr>
          <p:cNvSpPr/>
          <p:nvPr/>
        </p:nvSpPr>
        <p:spPr>
          <a:xfrm>
            <a:off x="4328820" y="220208"/>
            <a:ext cx="4707676" cy="4703084"/>
          </a:xfrm>
          <a:prstGeom prst="roundRect">
            <a:avLst>
              <a:gd name="adj" fmla="val 1286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685800" latinLnBrk="0"/>
            <a:endParaRPr lang="en-US" sz="135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1A18A-7559-4485-BC2C-6ACBBA9F87DF}"/>
              </a:ext>
            </a:extLst>
          </p:cNvPr>
          <p:cNvSpPr txBox="1"/>
          <p:nvPr/>
        </p:nvSpPr>
        <p:spPr>
          <a:xfrm>
            <a:off x="4572000" y="1635646"/>
            <a:ext cx="4222205" cy="2896947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pPr algn="just" defTabSz="685800" latinLnBrk="0"/>
            <a:r>
              <a:rPr lang="es-MX" altLang="ko-KR" sz="2025" b="1" dirty="0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Es  el  conjunto  de  actividades  planificadas  y sistemáticas necesarias para aportar la confianza que el software satisfará los requisitos dados de  calidad.  Este  aseguramiento  se  diseña  para  cada  aplicación  antes  de  comenzar  a desarrollarla y no después. El aseguramiento de la calidad del software engloba: </a:t>
            </a:r>
            <a:endParaRPr lang="ko-KR" altLang="en-US" sz="2025" b="1" dirty="0">
              <a:solidFill>
                <a:prstClr val="white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C12F7-AE9B-40D2-A6C4-2F1B6BC860EE}"/>
              </a:ext>
            </a:extLst>
          </p:cNvPr>
          <p:cNvSpPr txBox="1"/>
          <p:nvPr/>
        </p:nvSpPr>
        <p:spPr>
          <a:xfrm>
            <a:off x="4499992" y="610907"/>
            <a:ext cx="446449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685800" latinLnBrk="0"/>
            <a:r>
              <a:rPr lang="en-US" altLang="ko-KR" sz="3200" dirty="0" err="1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Aseguramiento</a:t>
            </a:r>
            <a:r>
              <a:rPr lang="en-US" altLang="ko-KR" sz="3200" dirty="0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 de la </a:t>
            </a:r>
            <a:r>
              <a:rPr lang="en-US" altLang="ko-KR" sz="3200" dirty="0" err="1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calidad</a:t>
            </a:r>
            <a:endParaRPr lang="ko-KR" altLang="en-US" sz="3200" dirty="0">
              <a:solidFill>
                <a:prstClr val="white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A0488-C6C1-4AAD-DA83-E6BDDE447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79" y="0"/>
            <a:ext cx="14287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0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4464C-724A-B430-6E59-5E70E95F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35026F-868E-613F-C266-2171C3EB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C1586-5CCA-23FA-61AC-50466729CAA1}"/>
              </a:ext>
            </a:extLst>
          </p:cNvPr>
          <p:cNvSpPr/>
          <p:nvPr/>
        </p:nvSpPr>
        <p:spPr>
          <a:xfrm>
            <a:off x="0" y="2620110"/>
            <a:ext cx="9144000" cy="15421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2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D4A92-67B0-C02B-2B77-EC230425FE6E}"/>
              </a:ext>
            </a:extLst>
          </p:cNvPr>
          <p:cNvSpPr txBox="1"/>
          <p:nvPr/>
        </p:nvSpPr>
        <p:spPr>
          <a:xfrm>
            <a:off x="107504" y="2283718"/>
            <a:ext cx="88569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r>
              <a:rPr lang="en-US" altLang="ko-KR" sz="1050" dirty="0">
                <a:solidFill>
                  <a:schemeClr val="bg1"/>
                </a:solidFill>
              </a:rPr>
              <a:t>Get a modern PowerPoint  Presentation that is beautifully designed</a:t>
            </a:r>
            <a:endParaRPr lang="en-US" altLang="ko-KR" sz="105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943779-FF04-70E3-B4D4-05748A600A81}"/>
              </a:ext>
            </a:extLst>
          </p:cNvPr>
          <p:cNvSpPr/>
          <p:nvPr/>
        </p:nvSpPr>
        <p:spPr>
          <a:xfrm>
            <a:off x="0" y="1104136"/>
            <a:ext cx="9144000" cy="15421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2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82405-E1ED-2AAB-E651-25B330F84549}"/>
              </a:ext>
            </a:extLst>
          </p:cNvPr>
          <p:cNvSpPr txBox="1"/>
          <p:nvPr/>
        </p:nvSpPr>
        <p:spPr>
          <a:xfrm>
            <a:off x="179512" y="1248103"/>
            <a:ext cx="87032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Las técnicas de Administración de Calidad de software pueden ser clasificadas en muchos sentidos: estáticas, personales-intensivas, analíticas, y dinámicas.</a:t>
            </a:r>
          </a:p>
          <a:p>
            <a:pPr algn="just"/>
            <a:endParaRPr lang="es-MX" altLang="ko-KR" sz="2000" dirty="0">
              <a:solidFill>
                <a:schemeClr val="bg1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Técnicas para evaluación de la calidad</a:t>
            </a:r>
          </a:p>
          <a:p>
            <a:pPr algn="just"/>
            <a:endParaRPr lang="es-MX" altLang="ko-KR" sz="2000" dirty="0">
              <a:solidFill>
                <a:schemeClr val="bg1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 algn="just"/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Las mediciones que se realizan sobre la calidad pueden</a:t>
            </a:r>
          </a:p>
          <a:p>
            <a:pPr algn="just"/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tener distintos objetivos, dependiendo de la situación en la</a:t>
            </a:r>
          </a:p>
          <a:p>
            <a:pPr algn="just"/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que se encuentre el proyecto y la aplicabilidad de las técnicas</a:t>
            </a:r>
          </a:p>
          <a:p>
            <a:pPr algn="just"/>
            <a:r>
              <a:rPr lang="es-MX" altLang="ko-KR" sz="2000" dirty="0">
                <a:solidFill>
                  <a:schemeClr val="bg1"/>
                </a:solidFill>
                <a:latin typeface="Arial Narrow" panose="020B0606020202030204" pitchFamily="34" charset="0"/>
                <a:cs typeface="Arial" pitchFamily="34" charset="0"/>
              </a:rPr>
              <a:t>que emplean.</a:t>
            </a:r>
            <a:endParaRPr lang="en-US" altLang="ko-KR" sz="2000" dirty="0">
              <a:solidFill>
                <a:schemeClr val="bg1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  <p:pic>
        <p:nvPicPr>
          <p:cNvPr id="13" name="Picture 12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B8491B20-27C3-EAC0-3D03-FC650FFEB6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4" y="2548080"/>
            <a:ext cx="3048006" cy="3048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819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7B6D-75B7-4365-ED3C-D57E346A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9973E8-66DD-CE24-3E5C-5F5C11BC0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D89328A-8193-66AB-660B-832661DBD5DC}"/>
              </a:ext>
            </a:extLst>
          </p:cNvPr>
          <p:cNvSpPr/>
          <p:nvPr/>
        </p:nvSpPr>
        <p:spPr>
          <a:xfrm>
            <a:off x="789136" y="1203598"/>
            <a:ext cx="7560840" cy="3600400"/>
          </a:xfrm>
          <a:prstGeom prst="roundRect">
            <a:avLst>
              <a:gd name="adj" fmla="val 15250"/>
            </a:avLst>
          </a:prstGeom>
          <a:noFill/>
          <a:ln w="38100" cap="flat" cmpd="sng" algn="ctr">
            <a:solidFill>
              <a:srgbClr val="0587AF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4ADBC2-DAF8-EB34-CB0A-0341DAFD2524}"/>
              </a:ext>
            </a:extLst>
          </p:cNvPr>
          <p:cNvGrpSpPr/>
          <p:nvPr/>
        </p:nvGrpSpPr>
        <p:grpSpPr>
          <a:xfrm>
            <a:off x="1187624" y="1707654"/>
            <a:ext cx="7081996" cy="2684245"/>
            <a:chOff x="3017859" y="4318401"/>
            <a:chExt cx="1886852" cy="15031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207DA1-DCD5-6241-D772-7CD1B9C96324}"/>
                </a:ext>
              </a:extLst>
            </p:cNvPr>
            <p:cNvSpPr txBox="1"/>
            <p:nvPr/>
          </p:nvSpPr>
          <p:spPr>
            <a:xfrm>
              <a:off x="3017859" y="4684036"/>
              <a:ext cx="1886852" cy="11375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Un enfoque de gestión de calidad.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Métodos y herramientas de Ingeniería del Software.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Revisiones técnicas formales aplicables en el proceso de software.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Una estrategia de prueba </a:t>
              </a:r>
              <a:r>
                <a:rPr lang="es-MX" altLang="ko-KR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multiescala</a:t>
              </a: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El control de la documentación del software y de los cambios realizados.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Procedimientos para ajustarse a los estándares de desarrollo del software.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r>
                <a:rPr lang="es-MX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Mecanismos de medición y de generación de informes</a:t>
              </a:r>
              <a:endPara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90D85E-BEF1-4B98-BC05-440720E80D7B}"/>
                </a:ext>
              </a:extLst>
            </p:cNvPr>
            <p:cNvSpPr txBox="1"/>
            <p:nvPr/>
          </p:nvSpPr>
          <p:spPr>
            <a:xfrm>
              <a:off x="3017859" y="4318401"/>
              <a:ext cx="1886852" cy="2068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atinLnBrk="0"/>
              <a:r>
                <a:rPr lang="en-US" altLang="ko-KR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Aseguramiento</a:t>
              </a:r>
              <a:r>
                <a:rPr lang="en-US" altLang="ko-KR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de la Calidad (SQA)</a:t>
              </a:r>
              <a:endPara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72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8FC1-0068-FC57-41AC-FDB8243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9CF689-9E1F-FBDD-6550-C27AF3B1C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C2FEA36-47D5-090A-15D9-64934E3CC81D}"/>
              </a:ext>
            </a:extLst>
          </p:cNvPr>
          <p:cNvSpPr/>
          <p:nvPr/>
        </p:nvSpPr>
        <p:spPr>
          <a:xfrm>
            <a:off x="789136" y="1203598"/>
            <a:ext cx="7560840" cy="3600400"/>
          </a:xfrm>
          <a:prstGeom prst="roundRect">
            <a:avLst>
              <a:gd name="adj" fmla="val 15250"/>
            </a:avLst>
          </a:prstGeom>
          <a:noFill/>
          <a:ln w="38100" cap="flat" cmpd="sng" algn="ctr">
            <a:solidFill>
              <a:srgbClr val="0587AF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8E7927-4E18-D9F7-0452-7173EB68B9C6}"/>
              </a:ext>
            </a:extLst>
          </p:cNvPr>
          <p:cNvGrpSpPr/>
          <p:nvPr/>
        </p:nvGrpSpPr>
        <p:grpSpPr>
          <a:xfrm>
            <a:off x="1156408" y="1491630"/>
            <a:ext cx="7113213" cy="3585173"/>
            <a:chOff x="3009542" y="4318401"/>
            <a:chExt cx="1895169" cy="200769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0BE589-7815-3B09-2679-FBBD0626246E}"/>
                </a:ext>
              </a:extLst>
            </p:cNvPr>
            <p:cNvSpPr txBox="1"/>
            <p:nvPr/>
          </p:nvSpPr>
          <p:spPr>
            <a:xfrm>
              <a:off x="3009542" y="4568078"/>
              <a:ext cx="1886852" cy="17580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 latinLnBrk="0"/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Proceso sistemático para garantizar que el software cumpla con requisitos funcionales y no funcionales.</a:t>
              </a:r>
            </a:p>
            <a:p>
              <a:pPr algn="just" latinLnBrk="0"/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Objetivos:</a:t>
              </a:r>
            </a:p>
            <a:p>
              <a:pPr marL="742950" lvl="2" indent="-285750" algn="just" latinLnBrk="0">
                <a:buFont typeface="Wingdings" panose="05000000000000000000" pitchFamily="2" charset="2"/>
                <a:buChar char="ü"/>
              </a:pPr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Detectar errores temprano</a:t>
              </a:r>
            </a:p>
            <a:p>
              <a:pPr marL="742950" lvl="2" indent="-285750" algn="just" latinLnBrk="0">
                <a:buFont typeface="Wingdings" panose="05000000000000000000" pitchFamily="2" charset="2"/>
                <a:buChar char="ü"/>
              </a:pPr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Mejorar experiencia del usuario</a:t>
              </a:r>
            </a:p>
            <a:p>
              <a:pPr marL="742950" lvl="2" indent="-285750" algn="just" latinLnBrk="0">
                <a:buFont typeface="Wingdings" panose="05000000000000000000" pitchFamily="2" charset="2"/>
                <a:buChar char="ü"/>
              </a:pPr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Reducir costos de mantenimiento</a:t>
              </a:r>
            </a:p>
            <a:p>
              <a:pPr marL="457200" lvl="2" algn="just" latinLnBrk="0"/>
              <a:endParaRPr lang="es-MX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  <a:p>
              <a:pPr algn="just" latinLnBrk="0"/>
              <a:r>
                <a:rPr lang="es-MX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Enfoques modernos: Automatización, CI/CD, inteligencia artificial</a:t>
              </a:r>
            </a:p>
            <a:p>
              <a:pPr algn="just" latinLnBrk="0"/>
              <a:endParaRPr lang="es-MX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  <a:p>
              <a:pPr algn="just" latinLnBrk="0"/>
              <a:endParaRPr lang="es-MX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  <a:p>
              <a:pPr algn="just" latinLnBrk="0"/>
              <a:r>
                <a:rPr lang="es-MX" sz="1200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				El QA va más allá de las pruebas: es cultura de calidad. </a:t>
              </a:r>
            </a:p>
            <a:p>
              <a:pPr marL="171459" indent="-171459" algn="just" latinLnBrk="0">
                <a:buFont typeface="Wingdings" pitchFamily="2" charset="2"/>
                <a:buChar char="v"/>
              </a:pPr>
              <a:endPara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1AC80B-CA6A-1061-E2FD-13AA734E0DC6}"/>
                </a:ext>
              </a:extLst>
            </p:cNvPr>
            <p:cNvSpPr txBox="1"/>
            <p:nvPr/>
          </p:nvSpPr>
          <p:spPr>
            <a:xfrm>
              <a:off x="3017859" y="4318401"/>
              <a:ext cx="1886852" cy="2068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atinLnBrk="0"/>
              <a:r>
                <a:rPr lang="en-US" altLang="ko-KR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Aseguramiento</a:t>
              </a:r>
              <a:r>
                <a:rPr lang="en-US" altLang="ko-KR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anose="020B0606020202030204" pitchFamily="34" charset="0"/>
                  <a:cs typeface="Arial" pitchFamily="34" charset="0"/>
                </a:rPr>
                <a:t> de la Calidad (SQA)</a:t>
              </a:r>
              <a:endPara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21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E112-AD5B-AF87-9518-FF2F8855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69C7D-AAA5-9605-CC76-0A20A899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88175-4F91-DE22-67B6-AC4A23AC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495" y="1563638"/>
            <a:ext cx="4858121" cy="3470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BE3168A0-3674-10A3-A995-5962B913C026}"/>
              </a:ext>
            </a:extLst>
          </p:cNvPr>
          <p:cNvSpPr txBox="1"/>
          <p:nvPr/>
        </p:nvSpPr>
        <p:spPr>
          <a:xfrm>
            <a:off x="1835696" y="953708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Enfoques del Aseguramiento de la Calidad del Software(SQA)</a:t>
            </a:r>
          </a:p>
        </p:txBody>
      </p:sp>
    </p:spTree>
    <p:extLst>
      <p:ext uri="{BB962C8B-B14F-4D97-AF65-F5344CB8AC3E}">
        <p14:creationId xmlns:p14="http://schemas.microsoft.com/office/powerpoint/2010/main" val="235976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3FA0-52F5-13CB-6F00-3BAEC496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23EB04-FF75-365B-5CF1-F5B8C5B5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FC2E6138-D75E-CCFF-2A3B-C57B8941239B}"/>
              </a:ext>
            </a:extLst>
          </p:cNvPr>
          <p:cNvSpPr txBox="1"/>
          <p:nvPr/>
        </p:nvSpPr>
        <p:spPr>
          <a:xfrm>
            <a:off x="179512" y="1059582"/>
            <a:ext cx="288032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altLang="ko-KR" sz="1400" b="1" kern="0" dirty="0" err="1">
                <a:solidFill>
                  <a:prstClr val="white"/>
                </a:solidFill>
                <a:latin typeface="Arial"/>
              </a:rPr>
              <a:t>Quality</a:t>
            </a:r>
            <a:r>
              <a:rPr lang="es-MX" altLang="ko-KR" sz="1400" b="1" kern="0" dirty="0">
                <a:solidFill>
                  <a:prstClr val="white"/>
                </a:solidFill>
                <a:latin typeface="Arial"/>
              </a:rPr>
              <a:t> </a:t>
            </a:r>
            <a:r>
              <a:rPr lang="es-MX" altLang="ko-KR" sz="1400" b="1" kern="0" dirty="0" err="1">
                <a:solidFill>
                  <a:prstClr val="white"/>
                </a:solidFill>
                <a:latin typeface="Arial"/>
              </a:rPr>
              <a:t>Assurance</a:t>
            </a:r>
            <a:r>
              <a:rPr lang="es-MX" altLang="ko-KR" sz="1400" b="1" kern="0" dirty="0">
                <a:solidFill>
                  <a:prstClr val="white"/>
                </a:solidFill>
                <a:latin typeface="Arial"/>
              </a:rPr>
              <a:t> (QA)</a:t>
            </a:r>
            <a:endParaRPr kumimoji="0" lang="es-MX" altLang="ko-K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2382B-0EAD-2F3F-7C0F-80FA9D24617D}"/>
              </a:ext>
            </a:extLst>
          </p:cNvPr>
          <p:cNvSpPr txBox="1"/>
          <p:nvPr/>
        </p:nvSpPr>
        <p:spPr>
          <a:xfrm>
            <a:off x="159381" y="1670547"/>
            <a:ext cx="43406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0"/>
            <a:r>
              <a:rPr lang="es-MX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Mejoramiento Continuo por medio de Plan, Do, </a:t>
            </a:r>
            <a:r>
              <a:rPr lang="es-MX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Check</a:t>
            </a:r>
            <a:r>
              <a:rPr lang="es-MX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, </a:t>
            </a:r>
            <a:r>
              <a:rPr lang="es-MX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Act</a:t>
            </a:r>
            <a:r>
              <a:rPr lang="es-MX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s-MX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Process</a:t>
            </a:r>
            <a:r>
              <a:rPr lang="es-MX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 (PDCA)</a:t>
            </a:r>
          </a:p>
          <a:p>
            <a:pPr algn="just" latinLnBrk="0"/>
            <a:endParaRPr lang="es-MX" b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 marL="285750" indent="-285750" algn="just" latinLnBrk="0">
              <a:buFont typeface="Wingdings" panose="05000000000000000000" pitchFamily="2" charset="2"/>
              <a:buChar char="q"/>
            </a:pPr>
            <a:r>
              <a:rPr lang="es-MX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La mejora continua es un esfuerzo continuo para mejorar productos, servicios o procesos. </a:t>
            </a:r>
          </a:p>
          <a:p>
            <a:pPr marL="285750" indent="-285750" algn="just" latinLnBrk="0">
              <a:buFont typeface="Wingdings" panose="05000000000000000000" pitchFamily="2" charset="2"/>
              <a:buChar char="q"/>
            </a:pPr>
            <a:r>
              <a:rPr lang="es-MX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Estos esfuerzos pueden buscar una mejora "incremental" a lo largo del tiempo o una mejora "revolucionaria" de una sola vez.</a:t>
            </a:r>
          </a:p>
          <a:p>
            <a:pPr marL="285750" indent="-285750" algn="just" latinLnBrk="0">
              <a:buFont typeface="Wingdings" panose="05000000000000000000" pitchFamily="2" charset="2"/>
              <a:buChar char="q"/>
            </a:pPr>
            <a:r>
              <a:rPr lang="es-MX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cs typeface="Arial" pitchFamily="34" charset="0"/>
              </a:rPr>
              <a:t>PDCA Deming es la herramienta más utilizada para la mejora continua.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B759CA-735B-209A-C6F9-9931F7DA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63" y="1670547"/>
            <a:ext cx="4369956" cy="2862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390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FCAD-182B-0020-8EAB-1335AE17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C4560-42F1-9663-1181-5B16F9B8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88FE250-A701-BFF5-60CB-D408F86F5B10}"/>
              </a:ext>
            </a:extLst>
          </p:cNvPr>
          <p:cNvSpPr txBox="1"/>
          <p:nvPr/>
        </p:nvSpPr>
        <p:spPr>
          <a:xfrm>
            <a:off x="1835696" y="953708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PDCA</a:t>
            </a:r>
          </a:p>
        </p:txBody>
      </p:sp>
      <p:pic>
        <p:nvPicPr>
          <p:cNvPr id="5" name="Online Media 4" title="Ciclo PHVA (Planear-Hacer-Verificar-actuar)">
            <a:hlinkClick r:id="" action="ppaction://media"/>
            <a:extLst>
              <a:ext uri="{FF2B5EF4-FFF2-40B4-BE49-F238E27FC236}">
                <a16:creationId xmlns:a16="http://schemas.microsoft.com/office/drawing/2014/main" id="{9A6DDA72-CB6A-B773-724A-79D6A67516A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91680" y="1563638"/>
            <a:ext cx="6063531" cy="34256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189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0FA7-B22A-53F4-06AE-87C093D7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B95217-32F6-2F91-0587-BD71A50C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9" name="L 도형 36">
            <a:extLst>
              <a:ext uri="{FF2B5EF4-FFF2-40B4-BE49-F238E27FC236}">
                <a16:creationId xmlns:a16="http://schemas.microsoft.com/office/drawing/2014/main" id="{FFD08C2D-F15B-DE0D-FD0C-F618EEEE87CB}"/>
              </a:ext>
            </a:extLst>
          </p:cNvPr>
          <p:cNvSpPr/>
          <p:nvPr/>
        </p:nvSpPr>
        <p:spPr>
          <a:xfrm rot="5400000">
            <a:off x="3241040" y="-676633"/>
            <a:ext cx="1437786" cy="6696746"/>
          </a:xfrm>
          <a:prstGeom prst="corner">
            <a:avLst>
              <a:gd name="adj1" fmla="val 22091"/>
              <a:gd name="adj2" fmla="val 20975"/>
            </a:avLst>
          </a:prstGeom>
          <a:solidFill>
            <a:srgbClr val="196491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11" name="그룹 38">
            <a:extLst>
              <a:ext uri="{FF2B5EF4-FFF2-40B4-BE49-F238E27FC236}">
                <a16:creationId xmlns:a16="http://schemas.microsoft.com/office/drawing/2014/main" id="{8CA6FEA5-8271-94BB-DA79-4B556D6CBBD1}"/>
              </a:ext>
            </a:extLst>
          </p:cNvPr>
          <p:cNvGrpSpPr/>
          <p:nvPr/>
        </p:nvGrpSpPr>
        <p:grpSpPr>
          <a:xfrm>
            <a:off x="951857" y="1794647"/>
            <a:ext cx="6356447" cy="1068476"/>
            <a:chOff x="1464245" y="3368607"/>
            <a:chExt cx="1955627" cy="106847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885FA6-E335-4BA1-9FAC-373492180DA7}"/>
                </a:ext>
              </a:extLst>
            </p:cNvPr>
            <p:cNvSpPr txBox="1"/>
            <p:nvPr/>
          </p:nvSpPr>
          <p:spPr>
            <a:xfrm>
              <a:off x="1464245" y="4160084"/>
              <a:ext cx="19556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111B8B-3DBA-C8B1-116A-76F8A36132FB}"/>
                </a:ext>
              </a:extLst>
            </p:cNvPr>
            <p:cNvSpPr txBox="1"/>
            <p:nvPr/>
          </p:nvSpPr>
          <p:spPr>
            <a:xfrm>
              <a:off x="1467692" y="3368607"/>
              <a:ext cx="1952180" cy="83099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latinLnBrk="0"/>
              <a:r>
                <a:rPr lang="en-US" altLang="ko-KR" sz="1600" dirty="0">
                  <a:solidFill>
                    <a:srgbClr val="196491"/>
                  </a:solidFill>
                  <a:latin typeface="Arial"/>
                </a:rPr>
                <a:t>01  </a:t>
              </a:r>
              <a:r>
                <a:rPr lang="en-US" altLang="ko-KR" sz="1600" dirty="0" err="1">
                  <a:solidFill>
                    <a:srgbClr val="196491"/>
                  </a:solidFill>
                  <a:latin typeface="Arial"/>
                </a:rPr>
                <a:t>Técnicas</a:t>
              </a:r>
              <a:r>
                <a:rPr lang="en-US" altLang="ko-KR" sz="1600" dirty="0">
                  <a:solidFill>
                    <a:srgbClr val="196491"/>
                  </a:solidFill>
                  <a:latin typeface="Arial"/>
                </a:rPr>
                <a:t> </a:t>
              </a:r>
              <a:r>
                <a:rPr lang="en-US" altLang="ko-KR" sz="1600" dirty="0" err="1">
                  <a:solidFill>
                    <a:srgbClr val="196491"/>
                  </a:solidFill>
                  <a:latin typeface="Arial"/>
                </a:rPr>
                <a:t>Estáticas</a:t>
              </a:r>
              <a:r>
                <a:rPr lang="en-US" altLang="ko-KR" sz="1600" dirty="0">
                  <a:solidFill>
                    <a:srgbClr val="196491"/>
                  </a:solidFill>
                  <a:latin typeface="Arial"/>
                </a:rPr>
                <a:t> vs. </a:t>
              </a:r>
              <a:r>
                <a:rPr lang="en-US" altLang="ko-KR" sz="1600" dirty="0" err="1">
                  <a:solidFill>
                    <a:srgbClr val="196491"/>
                  </a:solidFill>
                  <a:latin typeface="Arial"/>
                </a:rPr>
                <a:t>Dinámicas</a:t>
              </a:r>
              <a:r>
                <a:rPr lang="en-US" altLang="ko-KR" sz="1600" dirty="0">
                  <a:solidFill>
                    <a:srgbClr val="196491"/>
                  </a:solidFill>
                  <a:latin typeface="Arial"/>
                </a:rPr>
                <a:t> </a:t>
              </a:r>
              <a:r>
                <a:rPr lang="en-US" altLang="ko-KR" sz="1600" dirty="0" err="1">
                  <a:solidFill>
                    <a:srgbClr val="196491"/>
                  </a:solidFill>
                  <a:latin typeface="Arial"/>
                </a:rPr>
                <a:t>en</a:t>
              </a:r>
              <a:r>
                <a:rPr lang="en-US" altLang="ko-KR" sz="1600" dirty="0">
                  <a:solidFill>
                    <a:srgbClr val="196491"/>
                  </a:solidFill>
                  <a:latin typeface="Arial"/>
                </a:rPr>
                <a:t> QA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7A959E4-E47E-02D8-0864-3D3E0F2D0306}"/>
              </a:ext>
            </a:extLst>
          </p:cNvPr>
          <p:cNvSpPr/>
          <p:nvPr/>
        </p:nvSpPr>
        <p:spPr>
          <a:xfrm>
            <a:off x="899592" y="1003622"/>
            <a:ext cx="749248" cy="749248"/>
          </a:xfrm>
          <a:prstGeom prst="rect">
            <a:avLst/>
          </a:prstGeom>
          <a:solidFill>
            <a:srgbClr val="0587AF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perspectiveLeft"/>
            <a:lightRig rig="balanced" dir="t"/>
          </a:scene3d>
          <a:sp3d extrusionH="508000" prstMaterial="matte">
            <a:extrusionClr>
              <a:srgbClr val="0587AF"/>
            </a:extrusion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CD349F97-6D78-938D-795B-FCB89AE3297A}"/>
              </a:ext>
            </a:extLst>
          </p:cNvPr>
          <p:cNvSpPr>
            <a:spLocks noChangeAspect="1"/>
          </p:cNvSpPr>
          <p:nvPr/>
        </p:nvSpPr>
        <p:spPr>
          <a:xfrm>
            <a:off x="1110692" y="1200678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8CD812D2-34A8-4525-F37B-20C1AECAC5F4}"/>
              </a:ext>
            </a:extLst>
          </p:cNvPr>
          <p:cNvSpPr txBox="1"/>
          <p:nvPr/>
        </p:nvSpPr>
        <p:spPr>
          <a:xfrm>
            <a:off x="1907704" y="1139076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Tipos de Técnicas de Aseguramiento de la Calidad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AFA6EC4-F31F-9883-A99B-777616845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928298"/>
              </p:ext>
            </p:extLst>
          </p:nvPr>
        </p:nvGraphicFramePr>
        <p:xfrm>
          <a:off x="1043608" y="2639207"/>
          <a:ext cx="6090356" cy="19710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042356">
                  <a:extLst>
                    <a:ext uri="{9D8B030D-6E8A-4147-A177-3AD203B41FA5}">
                      <a16:colId xmlns:a16="http://schemas.microsoft.com/office/drawing/2014/main" val="36047406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03413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Técnicas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Estáticas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s-MX" sz="180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Técnicas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Dinámicas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s-MX" sz="180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37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 aplican sin ejecutar el código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Requieren ejecución del software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4217681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Ej.: Revisión de código, análisis estático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Ej.: Pruebas unitarias, pruebas de carga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79920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Enfocadas en prevenir defectos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s-MX" sz="180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Enfocadas en detectar defectos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29802046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478FB422-E0F1-D04B-5BC2-73B7540670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172460"/>
            <a:ext cx="2262782" cy="19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4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B29B-0005-8DB3-9932-8B62AF79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3127EC-4FFD-9A4C-C7ED-632112FA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11608E-8A18-2C94-649A-DD8274E1B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15566"/>
            <a:ext cx="7285357" cy="422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58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9CA22-CEBD-19C1-F536-9C87AE3D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1EE246-0513-899F-E259-0849CCF1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EBD1DD16-0EC3-C38C-899F-E4BA80799103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Técnicas Estáticas: Prevención Antes de la Ejecución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E4194-EEEB-A1E1-FCC0-E1D84064A643}"/>
              </a:ext>
            </a:extLst>
          </p:cNvPr>
          <p:cNvSpPr txBox="1"/>
          <p:nvPr/>
        </p:nvSpPr>
        <p:spPr>
          <a:xfrm>
            <a:off x="1115616" y="1984317"/>
            <a:ext cx="74168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b="1" dirty="0">
                <a:latin typeface="Arial Narrow" panose="020B0606020202030204" pitchFamily="34" charset="0"/>
              </a:rPr>
              <a:t>Tipos principales: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1600" dirty="0">
                <a:latin typeface="Arial Narrow" panose="020B0606020202030204" pitchFamily="34" charset="0"/>
              </a:rPr>
              <a:t>Revisiones técnicas (inspecciones, revisiones por pares)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1600" dirty="0">
                <a:latin typeface="Arial Narrow" panose="020B0606020202030204" pitchFamily="34" charset="0"/>
              </a:rPr>
              <a:t>Análisis estático de código (SAST)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1600" dirty="0">
                <a:latin typeface="Arial Narrow" panose="020B0606020202030204" pitchFamily="34" charset="0"/>
              </a:rPr>
              <a:t>Métricas de calidad (complejidad, duplicación)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algn="just"/>
            <a:r>
              <a:rPr lang="es-MX" sz="1600" b="1" dirty="0">
                <a:latin typeface="Arial Narrow" panose="020B0606020202030204" pitchFamily="34" charset="0"/>
              </a:rPr>
              <a:t>Ventajas: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600" dirty="0">
                <a:latin typeface="Arial Narrow" panose="020B0606020202030204" pitchFamily="34" charset="0"/>
              </a:rPr>
              <a:t>Detectan errores temprano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600" dirty="0">
                <a:latin typeface="Arial Narrow" panose="020B0606020202030204" pitchFamily="34" charset="0"/>
              </a:rPr>
              <a:t>Reducen costos de corrección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600" dirty="0">
                <a:latin typeface="Arial Narrow" panose="020B0606020202030204" pitchFamily="34" charset="0"/>
              </a:rPr>
              <a:t>Mejoran legibilidad y mantenibilidad</a:t>
            </a:r>
          </a:p>
          <a:p>
            <a:pPr algn="just"/>
            <a:r>
              <a:rPr lang="es-MX" sz="1600" dirty="0">
                <a:latin typeface="Arial Narrow" panose="020B0606020202030204" pitchFamily="34" charset="0"/>
              </a:rPr>
              <a:t>	Ejemplo: Usar </a:t>
            </a:r>
            <a:r>
              <a:rPr lang="es-MX" sz="1600" dirty="0" err="1">
                <a:latin typeface="Arial Narrow" panose="020B0606020202030204" pitchFamily="34" charset="0"/>
              </a:rPr>
              <a:t>pylint</a:t>
            </a:r>
            <a:r>
              <a:rPr lang="es-MX" sz="1600" dirty="0">
                <a:latin typeface="Arial Narrow" panose="020B0606020202030204" pitchFamily="34" charset="0"/>
              </a:rPr>
              <a:t> para revisar un script Python antes de su ejecución.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96245-8881-E652-4705-0D5DCBD65FB4}"/>
              </a:ext>
            </a:extLst>
          </p:cNvPr>
          <p:cNvSpPr txBox="1"/>
          <p:nvPr/>
        </p:nvSpPr>
        <p:spPr>
          <a:xfrm>
            <a:off x="465100" y="1572845"/>
            <a:ext cx="820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Análisis del software sin ejecutarlo, enfocado en encontrar errores en diseño, arquitectura, código fuente o documentación.</a:t>
            </a:r>
          </a:p>
        </p:txBody>
      </p:sp>
    </p:spTree>
    <p:extLst>
      <p:ext uri="{BB962C8B-B14F-4D97-AF65-F5344CB8AC3E}">
        <p14:creationId xmlns:p14="http://schemas.microsoft.com/office/powerpoint/2010/main" val="390243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E385-0257-7DE0-CBA8-402A38D8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5B8067-2AD5-04A5-008D-9AAA9F6C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59AE920B-7268-CDC5-3FE9-3471DC64255D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Visualización de Hallazgos Estático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4B0BD-30C6-9ED6-FAD4-76102E63A41F}"/>
              </a:ext>
            </a:extLst>
          </p:cNvPr>
          <p:cNvSpPr txBox="1"/>
          <p:nvPr/>
        </p:nvSpPr>
        <p:spPr>
          <a:xfrm>
            <a:off x="465100" y="1572845"/>
            <a:ext cx="820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Gráfico de Distribución de Hallazgos Estáticos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A04A06-642F-8834-3512-48AB148E8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733" y="2033085"/>
            <a:ext cx="3359646" cy="2737727"/>
          </a:xfrm>
          <a:prstGeom prst="roundRect">
            <a:avLst>
              <a:gd name="adj" fmla="val 44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219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F4C1-711D-FEC3-47BC-6DA715D6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646206-064A-9F15-2824-57D83963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FE8A03AA-6976-63D6-A4FD-B45167862B51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Técnicas Dinámicas: Prueba mediante Ejecución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98385-07A9-4FA2-D519-0186E2B9D9C3}"/>
              </a:ext>
            </a:extLst>
          </p:cNvPr>
          <p:cNvSpPr txBox="1"/>
          <p:nvPr/>
        </p:nvSpPr>
        <p:spPr>
          <a:xfrm>
            <a:off x="1115616" y="1984317"/>
            <a:ext cx="741682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b="1" dirty="0">
                <a:latin typeface="Arial Narrow" panose="020B0606020202030204" pitchFamily="34" charset="0"/>
              </a:rPr>
              <a:t>Clasificación: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sz="1600" b="1" dirty="0">
                <a:latin typeface="Arial Narrow" panose="020B0606020202030204" pitchFamily="34" charset="0"/>
              </a:rPr>
              <a:t>Pruebas funcionales: </a:t>
            </a:r>
            <a:r>
              <a:rPr lang="es-MX" sz="1600" dirty="0">
                <a:latin typeface="Arial Narrow" panose="020B0606020202030204" pitchFamily="34" charset="0"/>
              </a:rPr>
              <a:t>Validan requisitos (unitarias, integración, sistema)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sz="1600" b="1" dirty="0">
                <a:latin typeface="Arial Narrow" panose="020B0606020202030204" pitchFamily="34" charset="0"/>
              </a:rPr>
              <a:t>Pruebas no funcionales: </a:t>
            </a:r>
            <a:r>
              <a:rPr lang="es-MX" sz="1600" dirty="0">
                <a:latin typeface="Arial Narrow" panose="020B0606020202030204" pitchFamily="34" charset="0"/>
              </a:rPr>
              <a:t>Rendimiento, seguridad, usabilidad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algn="just"/>
            <a:r>
              <a:rPr lang="es-MX" sz="1600" b="1" dirty="0">
                <a:latin typeface="Arial Narrow" panose="020B0606020202030204" pitchFamily="34" charset="0"/>
              </a:rPr>
              <a:t>Fases típicas: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Arial Narrow" panose="020B0606020202030204" pitchFamily="34" charset="0"/>
              </a:rPr>
              <a:t>Pruebas Unitarias (</a:t>
            </a:r>
            <a:r>
              <a:rPr lang="es-MX" sz="1600" dirty="0" err="1">
                <a:latin typeface="Arial Narrow" panose="020B0606020202030204" pitchFamily="34" charset="0"/>
              </a:rPr>
              <a:t>pytest</a:t>
            </a:r>
            <a:r>
              <a:rPr lang="es-MX" sz="1600" dirty="0">
                <a:latin typeface="Arial Narrow" panose="020B0606020202030204" pitchFamily="34" charset="0"/>
              </a:rPr>
              <a:t>, Junit, </a:t>
            </a:r>
            <a:r>
              <a:rPr lang="es-MX" sz="1600" dirty="0" err="1">
                <a:latin typeface="Arial Narrow" panose="020B0606020202030204" pitchFamily="34" charset="0"/>
              </a:rPr>
              <a:t>Cypress</a:t>
            </a:r>
            <a:r>
              <a:rPr lang="es-MX" sz="1600" dirty="0">
                <a:latin typeface="Arial Narrow" panose="020B0606020202030204" pitchFamily="34" charset="0"/>
              </a:rPr>
              <a:t>, </a:t>
            </a:r>
            <a:r>
              <a:rPr lang="es-MX" sz="1600" dirty="0" err="1">
                <a:latin typeface="Arial Narrow" panose="020B0606020202030204" pitchFamily="34" charset="0"/>
              </a:rPr>
              <a:t>MsTest,etc</a:t>
            </a:r>
            <a:r>
              <a:rPr lang="es-MX" sz="1600" dirty="0">
                <a:latin typeface="Arial Narrow" panose="020B0606020202030204" pitchFamily="34" charset="0"/>
              </a:rPr>
              <a:t>)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Arial Narrow" panose="020B0606020202030204" pitchFamily="34" charset="0"/>
              </a:rPr>
              <a:t>Pruebas de Integración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Arial Narrow" panose="020B0606020202030204" pitchFamily="34" charset="0"/>
              </a:rPr>
              <a:t>Pruebas de Sistema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Arial Narrow" panose="020B0606020202030204" pitchFamily="34" charset="0"/>
              </a:rPr>
              <a:t>Pruebas de Aceptación</a:t>
            </a:r>
          </a:p>
          <a:p>
            <a:pPr algn="just"/>
            <a:endParaRPr lang="es-MX" sz="1600" dirty="0">
              <a:latin typeface="Arial Narrow" panose="020B0606020202030204" pitchFamily="34" charset="0"/>
            </a:endParaRPr>
          </a:p>
          <a:p>
            <a:pPr algn="r"/>
            <a:r>
              <a:rPr lang="es-MX" sz="1100" i="1" dirty="0">
                <a:latin typeface="Arial Narrow" panose="020B0606020202030204" pitchFamily="34" charset="0"/>
              </a:rPr>
              <a:t>🔄 Se integran en pipelines de CI/CD (GitHub </a:t>
            </a:r>
            <a:r>
              <a:rPr lang="es-MX" sz="1100" i="1" dirty="0" err="1">
                <a:latin typeface="Arial Narrow" panose="020B0606020202030204" pitchFamily="34" charset="0"/>
              </a:rPr>
              <a:t>Actions</a:t>
            </a:r>
            <a:r>
              <a:rPr lang="es-MX" sz="1100" i="1" dirty="0">
                <a:latin typeface="Arial Narrow" panose="020B0606020202030204" pitchFamily="34" charset="0"/>
              </a:rPr>
              <a:t>, Jenkins)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4A402-A851-AE21-1ECB-69ACF1485A26}"/>
              </a:ext>
            </a:extLst>
          </p:cNvPr>
          <p:cNvSpPr txBox="1"/>
          <p:nvPr/>
        </p:nvSpPr>
        <p:spPr>
          <a:xfrm>
            <a:off x="251520" y="1572845"/>
            <a:ext cx="8712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latinLnBrk="0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Evalúan el comportamiento del software durante su ejecución, verificando que funcione correctamente bajo diferentes condiciones.</a:t>
            </a:r>
          </a:p>
        </p:txBody>
      </p:sp>
    </p:spTree>
    <p:extLst>
      <p:ext uri="{BB962C8B-B14F-4D97-AF65-F5344CB8AC3E}">
        <p14:creationId xmlns:p14="http://schemas.microsoft.com/office/powerpoint/2010/main" val="2135750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0160-A0B0-7C27-02A2-DA7EE864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BB75ED-7D4A-9C4E-3574-C6462F0C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3781041E-29E6-F80D-D59E-32C39966F4B5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Cobertura de Código – Medición Clave en Pruebas Dinámicas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A86C5-EB26-82A3-3BDB-231D6759FEAE}"/>
              </a:ext>
            </a:extLst>
          </p:cNvPr>
          <p:cNvSpPr txBox="1"/>
          <p:nvPr/>
        </p:nvSpPr>
        <p:spPr>
          <a:xfrm>
            <a:off x="251520" y="2177406"/>
            <a:ext cx="39604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Arial Narrow" panose="020B0606020202030204" pitchFamily="34" charset="0"/>
              </a:rPr>
              <a:t>¿Qué es la cobertura?</a:t>
            </a:r>
          </a:p>
          <a:p>
            <a:pPr algn="just"/>
            <a:r>
              <a:rPr lang="es-MX" sz="1600" dirty="0">
                <a:latin typeface="Arial Narrow" panose="020B0606020202030204" pitchFamily="34" charset="0"/>
              </a:rPr>
              <a:t>Porcentaje de líneas de código ejecutadas durante las pruebas.</a:t>
            </a:r>
          </a:p>
          <a:p>
            <a:pPr algn="just"/>
            <a:endParaRPr lang="es-MX" sz="1600" i="1" dirty="0">
              <a:latin typeface="Arial Narrow" panose="020B0606020202030204" pitchFamily="34" charset="0"/>
            </a:endParaRPr>
          </a:p>
          <a:p>
            <a:pPr algn="just"/>
            <a:r>
              <a:rPr lang="es-MX" sz="1100" i="1" dirty="0">
                <a:latin typeface="Arial Narrow" panose="020B0606020202030204" pitchFamily="34" charset="0"/>
              </a:rPr>
              <a:t># Instalar herramientas</a:t>
            </a:r>
          </a:p>
          <a:p>
            <a:pPr algn="just"/>
            <a:r>
              <a:rPr lang="es-MX" sz="1100" i="1" dirty="0">
                <a:latin typeface="Arial Narrow" panose="020B0606020202030204" pitchFamily="34" charset="0"/>
              </a:rPr>
              <a:t>!</a:t>
            </a:r>
            <a:r>
              <a:rPr lang="es-MX" sz="1100" i="1" dirty="0" err="1">
                <a:latin typeface="Arial Narrow" panose="020B0606020202030204" pitchFamily="34" charset="0"/>
              </a:rPr>
              <a:t>pip</a:t>
            </a:r>
            <a:r>
              <a:rPr lang="es-MX" sz="1100" i="1" dirty="0">
                <a:latin typeface="Arial Narrow" panose="020B0606020202030204" pitchFamily="34" charset="0"/>
              </a:rPr>
              <a:t> </a:t>
            </a:r>
            <a:r>
              <a:rPr lang="es-MX" sz="1100" i="1" dirty="0" err="1">
                <a:latin typeface="Arial Narrow" panose="020B0606020202030204" pitchFamily="34" charset="0"/>
              </a:rPr>
              <a:t>install</a:t>
            </a:r>
            <a:r>
              <a:rPr lang="es-MX" sz="1100" i="1" dirty="0">
                <a:latin typeface="Arial Narrow" panose="020B0606020202030204" pitchFamily="34" charset="0"/>
              </a:rPr>
              <a:t> </a:t>
            </a:r>
            <a:r>
              <a:rPr lang="es-MX" sz="1100" i="1" dirty="0" err="1">
                <a:latin typeface="Arial Narrow" panose="020B0606020202030204" pitchFamily="34" charset="0"/>
              </a:rPr>
              <a:t>pytest</a:t>
            </a:r>
            <a:r>
              <a:rPr lang="es-MX" sz="1100" i="1" dirty="0">
                <a:latin typeface="Arial Narrow" panose="020B0606020202030204" pitchFamily="34" charset="0"/>
              </a:rPr>
              <a:t> </a:t>
            </a:r>
            <a:r>
              <a:rPr lang="es-MX" sz="1100" i="1" dirty="0" err="1">
                <a:latin typeface="Arial Narrow" panose="020B0606020202030204" pitchFamily="34" charset="0"/>
              </a:rPr>
              <a:t>coverage</a:t>
            </a:r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r>
              <a:rPr lang="es-MX" sz="1100" i="1" dirty="0">
                <a:latin typeface="Arial Narrow" panose="020B0606020202030204" pitchFamily="34" charset="0"/>
              </a:rPr>
              <a:t># Ejecutar prueba con cobertura</a:t>
            </a:r>
          </a:p>
          <a:p>
            <a:pPr algn="just"/>
            <a:r>
              <a:rPr lang="es-MX" sz="1100" i="1" dirty="0">
                <a:latin typeface="Arial Narrow" panose="020B0606020202030204" pitchFamily="34" charset="0"/>
              </a:rPr>
              <a:t>!</a:t>
            </a:r>
            <a:r>
              <a:rPr lang="es-MX" sz="1100" i="1" dirty="0" err="1">
                <a:latin typeface="Arial Narrow" panose="020B0606020202030204" pitchFamily="34" charset="0"/>
              </a:rPr>
              <a:t>python</a:t>
            </a:r>
            <a:r>
              <a:rPr lang="es-MX" sz="1100" i="1" dirty="0">
                <a:latin typeface="Arial Narrow" panose="020B0606020202030204" pitchFamily="34" charset="0"/>
              </a:rPr>
              <a:t> -m </a:t>
            </a:r>
            <a:r>
              <a:rPr lang="es-MX" sz="1100" i="1" dirty="0" err="1">
                <a:latin typeface="Arial Narrow" panose="020B0606020202030204" pitchFamily="34" charset="0"/>
              </a:rPr>
              <a:t>pytest</a:t>
            </a:r>
            <a:r>
              <a:rPr lang="es-MX" sz="1100" i="1" dirty="0">
                <a:latin typeface="Arial Narrow" panose="020B0606020202030204" pitchFamily="34" charset="0"/>
              </a:rPr>
              <a:t> test_calculadora.py --</a:t>
            </a:r>
            <a:r>
              <a:rPr lang="es-MX" sz="1100" i="1" dirty="0" err="1">
                <a:latin typeface="Arial Narrow" panose="020B0606020202030204" pitchFamily="34" charset="0"/>
              </a:rPr>
              <a:t>cov</a:t>
            </a:r>
            <a:r>
              <a:rPr lang="es-MX" sz="1100" i="1" dirty="0">
                <a:latin typeface="Arial Narrow" panose="020B0606020202030204" pitchFamily="34" charset="0"/>
              </a:rPr>
              <a:t>=calculadora --</a:t>
            </a:r>
            <a:r>
              <a:rPr lang="es-MX" sz="1100" i="1" dirty="0" err="1">
                <a:latin typeface="Arial Narrow" panose="020B0606020202030204" pitchFamily="34" charset="0"/>
              </a:rPr>
              <a:t>cov-report</a:t>
            </a:r>
            <a:r>
              <a:rPr lang="es-MX" sz="1100" i="1" dirty="0">
                <a:latin typeface="Arial Narrow" panose="020B0606020202030204" pitchFamily="34" charset="0"/>
              </a:rPr>
              <a:t>=</a:t>
            </a:r>
            <a:r>
              <a:rPr lang="es-MX" sz="1100" i="1" dirty="0" err="1">
                <a:latin typeface="Arial Narrow" panose="020B0606020202030204" pitchFamily="34" charset="0"/>
              </a:rPr>
              <a:t>html</a:t>
            </a:r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endParaRPr lang="es-MX" sz="1100" i="1" dirty="0">
              <a:latin typeface="Arial Narrow" panose="020B0606020202030204" pitchFamily="34" charset="0"/>
            </a:endParaRPr>
          </a:p>
          <a:p>
            <a:pPr algn="just"/>
            <a:endParaRPr lang="es-MX" sz="1100" i="1" dirty="0">
              <a:latin typeface="Arial Narrow" panose="020B0606020202030204" pitchFamily="34" charset="0"/>
            </a:endParaRPr>
          </a:p>
          <a:p>
            <a:pPr algn="r"/>
            <a:r>
              <a:rPr lang="es-MX" sz="1050" i="1" dirty="0">
                <a:latin typeface="Arial Narrow" panose="020B0606020202030204" pitchFamily="34" charset="0"/>
              </a:rPr>
              <a:t>📈 Meta recomendada: &gt; 80% en módulos críticos</a:t>
            </a:r>
            <a:endParaRPr lang="es-MX" sz="1100" i="1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CC329-8959-458D-1989-F75AEE0FD51E}"/>
              </a:ext>
            </a:extLst>
          </p:cNvPr>
          <p:cNvSpPr txBox="1"/>
          <p:nvPr/>
        </p:nvSpPr>
        <p:spPr>
          <a:xfrm>
            <a:off x="1187624" y="1572845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latinLnBrk="0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Medición de Cobertura con coverage.py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CFB7CBA-ABB9-8B19-330D-FFAC513E6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283" y="1572845"/>
            <a:ext cx="4335874" cy="3303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417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E19B-4103-D4E0-35B6-C09D2992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4C87AD-67C4-E5BE-3F5D-837081AB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EFB73B9C-DB1E-1CA5-2296-90BA53C70995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rgbClr val="045EC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 Integración de Técnicas Estáticas y Dinámicas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6BE39-6298-0171-EB82-B04DDE5FFBB8}"/>
              </a:ext>
            </a:extLst>
          </p:cNvPr>
          <p:cNvSpPr txBox="1"/>
          <p:nvPr/>
        </p:nvSpPr>
        <p:spPr>
          <a:xfrm>
            <a:off x="467544" y="1894737"/>
            <a:ext cx="396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latin typeface="Arial Narrow" panose="020B0606020202030204" pitchFamily="34" charset="0"/>
              </a:rPr>
              <a:t>Enfoque hibrido recomendado</a:t>
            </a:r>
            <a:endParaRPr lang="es-MX" sz="1000" i="1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D3F50-13F9-9F84-0172-0EA23DA45840}"/>
              </a:ext>
            </a:extLst>
          </p:cNvPr>
          <p:cNvSpPr txBox="1"/>
          <p:nvPr/>
        </p:nvSpPr>
        <p:spPr>
          <a:xfrm>
            <a:off x="2875887" y="1560483"/>
            <a:ext cx="3528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latinLnBrk="0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Estrategia Integral de Aseguramiento de Calidad</a:t>
            </a:r>
          </a:p>
        </p:txBody>
      </p:sp>
      <p:sp>
        <p:nvSpPr>
          <p:cNvPr id="6" name="AutoShape 4" descr="SVG content">
            <a:extLst>
              <a:ext uri="{FF2B5EF4-FFF2-40B4-BE49-F238E27FC236}">
                <a16:creationId xmlns:a16="http://schemas.microsoft.com/office/drawing/2014/main" id="{428C2440-78FC-7729-94A2-90F3C5B90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7087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1C8319-9836-CDF4-AEBF-2180230D84F8}"/>
              </a:ext>
            </a:extLst>
          </p:cNvPr>
          <p:cNvSpPr/>
          <p:nvPr/>
        </p:nvSpPr>
        <p:spPr>
          <a:xfrm>
            <a:off x="296754" y="3119411"/>
            <a:ext cx="1368152" cy="64807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8D961-61C9-B72F-5519-6AF35971D1CF}"/>
              </a:ext>
            </a:extLst>
          </p:cNvPr>
          <p:cNvSpPr/>
          <p:nvPr/>
        </p:nvSpPr>
        <p:spPr>
          <a:xfrm>
            <a:off x="453106" y="3243392"/>
            <a:ext cx="1008112" cy="40011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Código Fuente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FABCA4-53BD-5DE5-1DE9-23A2636CBE56}"/>
              </a:ext>
            </a:extLst>
          </p:cNvPr>
          <p:cNvCxnSpPr/>
          <p:nvPr/>
        </p:nvCxnSpPr>
        <p:spPr>
          <a:xfrm>
            <a:off x="1830696" y="3449001"/>
            <a:ext cx="35424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D0C48A64-0813-56AA-9140-AD5F3832EFEB}"/>
              </a:ext>
            </a:extLst>
          </p:cNvPr>
          <p:cNvSpPr/>
          <p:nvPr/>
        </p:nvSpPr>
        <p:spPr>
          <a:xfrm>
            <a:off x="2358629" y="2728921"/>
            <a:ext cx="1368152" cy="144016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s-MX" sz="900" b="1" dirty="0"/>
              <a:t>Revisión Estática</a:t>
            </a:r>
          </a:p>
        </p:txBody>
      </p:sp>
      <p:sp>
        <p:nvSpPr>
          <p:cNvPr id="18" name="Chevron 3">
            <a:extLst>
              <a:ext uri="{FF2B5EF4-FFF2-40B4-BE49-F238E27FC236}">
                <a16:creationId xmlns:a16="http://schemas.microsoft.com/office/drawing/2014/main" id="{7346FAB3-61BB-24F1-6496-51AC2D94F798}"/>
              </a:ext>
            </a:extLst>
          </p:cNvPr>
          <p:cNvSpPr/>
          <p:nvPr/>
        </p:nvSpPr>
        <p:spPr>
          <a:xfrm>
            <a:off x="4930560" y="2222239"/>
            <a:ext cx="1584176" cy="582374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ko-KR" sz="1200" dirty="0">
                <a:solidFill>
                  <a:schemeClr val="bg1">
                    <a:lumMod val="95000"/>
                  </a:schemeClr>
                </a:solidFill>
              </a:rPr>
              <a:t>Ejecución de pruebas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Chevron 3">
            <a:extLst>
              <a:ext uri="{FF2B5EF4-FFF2-40B4-BE49-F238E27FC236}">
                <a16:creationId xmlns:a16="http://schemas.microsoft.com/office/drawing/2014/main" id="{FACCD783-AE32-889B-435B-8533E8334669}"/>
              </a:ext>
            </a:extLst>
          </p:cNvPr>
          <p:cNvSpPr/>
          <p:nvPr/>
        </p:nvSpPr>
        <p:spPr>
          <a:xfrm>
            <a:off x="4925805" y="4145393"/>
            <a:ext cx="1584176" cy="582374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ko-KR" sz="1200" dirty="0" err="1">
                <a:solidFill>
                  <a:schemeClr val="bg1">
                    <a:lumMod val="95000"/>
                  </a:schemeClr>
                </a:solidFill>
              </a:rPr>
              <a:t>Correción</a:t>
            </a:r>
            <a:r>
              <a:rPr lang="es-MX" altLang="ko-KR" sz="1200" dirty="0">
                <a:solidFill>
                  <a:schemeClr val="bg1">
                    <a:lumMod val="95000"/>
                  </a:schemeClr>
                </a:solidFill>
              </a:rPr>
              <a:t> y </a:t>
            </a:r>
            <a:r>
              <a:rPr lang="es-MX" altLang="ko-KR" sz="1200" dirty="0" err="1">
                <a:solidFill>
                  <a:schemeClr val="bg1">
                    <a:lumMod val="95000"/>
                  </a:schemeClr>
                </a:solidFill>
              </a:rPr>
              <a:t>re-análisis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82EA46-DD31-EF55-780D-EAFD26AF55F3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592520" y="2571750"/>
            <a:ext cx="859367" cy="36842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404DA4-8EAC-6808-3B94-CBC4D8CC295E}"/>
              </a:ext>
            </a:extLst>
          </p:cNvPr>
          <p:cNvCxnSpPr>
            <a:cxnSpLocks/>
          </p:cNvCxnSpPr>
          <p:nvPr/>
        </p:nvCxnSpPr>
        <p:spPr>
          <a:xfrm>
            <a:off x="3592520" y="4123152"/>
            <a:ext cx="977036" cy="391967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54C5157-A29B-5B0F-4ED9-05D7D833AFD0}"/>
              </a:ext>
            </a:extLst>
          </p:cNvPr>
          <p:cNvSpPr/>
          <p:nvPr/>
        </p:nvSpPr>
        <p:spPr>
          <a:xfrm>
            <a:off x="3668940" y="2733359"/>
            <a:ext cx="648072" cy="152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Sin errores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732A8-0C60-E02A-BB9C-E198835563AB}"/>
              </a:ext>
            </a:extLst>
          </p:cNvPr>
          <p:cNvSpPr/>
          <p:nvPr/>
        </p:nvSpPr>
        <p:spPr>
          <a:xfrm>
            <a:off x="3698167" y="4211525"/>
            <a:ext cx="648072" cy="152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Con errores</a:t>
            </a:r>
          </a:p>
        </p:txBody>
      </p:sp>
      <p:sp>
        <p:nvSpPr>
          <p:cNvPr id="5" name="Chevron 3">
            <a:extLst>
              <a:ext uri="{FF2B5EF4-FFF2-40B4-BE49-F238E27FC236}">
                <a16:creationId xmlns:a16="http://schemas.microsoft.com/office/drawing/2014/main" id="{C554459A-6D19-D55A-CAE6-3AFA14CDFEBC}"/>
              </a:ext>
            </a:extLst>
          </p:cNvPr>
          <p:cNvSpPr/>
          <p:nvPr/>
        </p:nvSpPr>
        <p:spPr>
          <a:xfrm>
            <a:off x="7452320" y="2205775"/>
            <a:ext cx="1584176" cy="58237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ko-KR" sz="1200" dirty="0">
                <a:solidFill>
                  <a:schemeClr val="bg1">
                    <a:lumMod val="95000"/>
                  </a:schemeClr>
                </a:solidFill>
              </a:rPr>
              <a:t>Despliegue automático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CF6EF0-C279-34C2-7E99-034DA191B475}"/>
              </a:ext>
            </a:extLst>
          </p:cNvPr>
          <p:cNvCxnSpPr>
            <a:cxnSpLocks/>
          </p:cNvCxnSpPr>
          <p:nvPr/>
        </p:nvCxnSpPr>
        <p:spPr>
          <a:xfrm>
            <a:off x="6588224" y="2518271"/>
            <a:ext cx="93610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667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22FA-5846-883E-8337-33EBE383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35774A-E29D-99A7-23C3-65093B20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77B2464-6E6D-DDB2-1A2C-0632463A63BB}"/>
              </a:ext>
            </a:extLst>
          </p:cNvPr>
          <p:cNvSpPr txBox="1"/>
          <p:nvPr/>
        </p:nvSpPr>
        <p:spPr>
          <a:xfrm>
            <a:off x="1763688" y="1020348"/>
            <a:ext cx="5752790" cy="432792"/>
          </a:xfrm>
          <a:prstGeom prst="roundRect">
            <a:avLst>
              <a:gd name="adj" fmla="val 50000"/>
            </a:avLst>
          </a:prstGeom>
          <a:solidFill>
            <a:srgbClr val="045EC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 Integración de Técnicas Estáticas y Dinámicas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33436-7072-3729-1D2B-92020DC32B54}"/>
              </a:ext>
            </a:extLst>
          </p:cNvPr>
          <p:cNvSpPr txBox="1"/>
          <p:nvPr/>
        </p:nvSpPr>
        <p:spPr>
          <a:xfrm>
            <a:off x="467544" y="1894737"/>
            <a:ext cx="6624736" cy="314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latin typeface="Arial Narrow" panose="020B0606020202030204" pitchFamily="34" charset="0"/>
              </a:rPr>
              <a:t>Enfoque hibrido recomendado</a:t>
            </a:r>
          </a:p>
          <a:p>
            <a:pPr algn="just"/>
            <a:endParaRPr lang="es-MX" sz="1200" i="1" dirty="0">
              <a:latin typeface="Arial Narrow" panose="020B0606020202030204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s-MX" sz="1100" b="1" i="0" dirty="0">
                <a:effectLst/>
                <a:latin typeface="Arial Narrow" panose="020B0606020202030204" pitchFamily="34" charset="0"/>
              </a:rPr>
              <a:t>Herramientas clave:</a:t>
            </a:r>
          </a:p>
          <a:p>
            <a:pPr marL="628650" lvl="1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s-MX" sz="1100" b="0" i="0" dirty="0">
                <a:effectLst/>
                <a:latin typeface="Arial Narrow" panose="020B0606020202030204" pitchFamily="34" charset="0"/>
              </a:rPr>
              <a:t>Estáticas: SonarQube,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ESLint</a:t>
            </a:r>
            <a:r>
              <a:rPr lang="es-MX" sz="1100" b="0" i="0" dirty="0">
                <a:effectLst/>
                <a:latin typeface="Arial Narrow" panose="020B0606020202030204" pitchFamily="34" charset="0"/>
              </a:rPr>
              <a:t>,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Pylint</a:t>
            </a:r>
            <a:endParaRPr lang="es-MX" sz="1100" b="0" i="0" dirty="0">
              <a:effectLst/>
              <a:latin typeface="Arial Narrow" panose="020B0606020202030204" pitchFamily="34" charset="0"/>
            </a:endParaRPr>
          </a:p>
          <a:p>
            <a:pPr marL="628650" lvl="1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s-MX" sz="1100" b="0" i="0" dirty="0">
                <a:effectLst/>
                <a:latin typeface="Arial Narrow" panose="020B0606020202030204" pitchFamily="34" charset="0"/>
              </a:rPr>
              <a:t>Dinámicas: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pytest</a:t>
            </a:r>
            <a:r>
              <a:rPr lang="es-MX" sz="1100" b="0" i="0" dirty="0">
                <a:effectLst/>
                <a:latin typeface="Arial Narrow" panose="020B0606020202030204" pitchFamily="34" charset="0"/>
              </a:rPr>
              <a:t>,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Jest</a:t>
            </a:r>
            <a:r>
              <a:rPr lang="es-MX" sz="1100" b="0" i="0" dirty="0">
                <a:effectLst/>
                <a:latin typeface="Arial Narrow" panose="020B0606020202030204" pitchFamily="34" charset="0"/>
              </a:rPr>
              <a:t>,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Selenium</a:t>
            </a:r>
            <a:r>
              <a:rPr lang="es-MX" sz="1100" b="0" i="0" dirty="0">
                <a:effectLst/>
                <a:latin typeface="Arial Narrow" panose="020B0606020202030204" pitchFamily="34" charset="0"/>
              </a:rPr>
              <a:t>,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JMeter</a:t>
            </a:r>
            <a:endParaRPr lang="es-MX" sz="1100" b="0" i="0" dirty="0">
              <a:effectLst/>
              <a:latin typeface="Arial Narrow" panose="020B0606020202030204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s-MX" sz="1100" b="1" i="0" dirty="0">
                <a:effectLst/>
                <a:latin typeface="Arial Narrow" panose="020B0606020202030204" pitchFamily="34" charset="0"/>
              </a:rPr>
              <a:t>Beneficios:</a:t>
            </a:r>
          </a:p>
          <a:p>
            <a:pPr marL="628650" lvl="1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s-MX" sz="1100" b="0" i="0" dirty="0">
                <a:effectLst/>
                <a:latin typeface="Arial Narrow" panose="020B0606020202030204" pitchFamily="34" charset="0"/>
              </a:rPr>
              <a:t>Mayor confianza en </a:t>
            </a:r>
            <a:r>
              <a:rPr lang="es-MX" sz="1100" b="0" i="0" dirty="0" err="1">
                <a:effectLst/>
                <a:latin typeface="Arial Narrow" panose="020B0606020202030204" pitchFamily="34" charset="0"/>
              </a:rPr>
              <a:t>releases</a:t>
            </a:r>
            <a:endParaRPr lang="es-MX" sz="1100" b="0" i="0" dirty="0">
              <a:effectLst/>
              <a:latin typeface="Arial Narrow" panose="020B0606020202030204" pitchFamily="34" charset="0"/>
            </a:endParaRPr>
          </a:p>
          <a:p>
            <a:pPr marL="628650" lvl="1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s-MX" sz="1100" b="0" i="0" dirty="0">
                <a:effectLst/>
                <a:latin typeface="Arial Narrow" panose="020B0606020202030204" pitchFamily="34" charset="0"/>
              </a:rPr>
              <a:t>Menor tasa de fallos en producción</a:t>
            </a:r>
          </a:p>
          <a:p>
            <a:pPr marL="628650" lvl="1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s-MX" sz="1100" b="0" i="0" dirty="0">
                <a:effectLst/>
                <a:latin typeface="Arial Narrow" panose="020B0606020202030204" pitchFamily="34" charset="0"/>
              </a:rPr>
              <a:t>Ciclos de desarrollo más rápidos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F143F-9082-7221-F3A5-B086E11615EC}"/>
              </a:ext>
            </a:extLst>
          </p:cNvPr>
          <p:cNvSpPr txBox="1"/>
          <p:nvPr/>
        </p:nvSpPr>
        <p:spPr>
          <a:xfrm>
            <a:off x="2875887" y="1560483"/>
            <a:ext cx="3528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latinLnBrk="0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Estrategia Integral de Aseguramiento de Calidad</a:t>
            </a:r>
          </a:p>
        </p:txBody>
      </p:sp>
    </p:spTree>
    <p:extLst>
      <p:ext uri="{BB962C8B-B14F-4D97-AF65-F5344CB8AC3E}">
        <p14:creationId xmlns:p14="http://schemas.microsoft.com/office/powerpoint/2010/main" val="2823446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A276-A2F3-0C71-3707-BF59187E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1A42DB-01BB-3179-59DF-E5434C5D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4" y="-35887"/>
            <a:ext cx="9144000" cy="884466"/>
          </a:xfrm>
        </p:spPr>
        <p:txBody>
          <a:bodyPr/>
          <a:lstStyle/>
          <a:p>
            <a:r>
              <a:rPr lang="en-US" sz="2800" dirty="0"/>
              <a:t> 1.2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aseguramiento</a:t>
            </a:r>
            <a:r>
              <a:rPr lang="en-US" sz="2800" dirty="0"/>
              <a:t> de la </a:t>
            </a:r>
            <a:r>
              <a:rPr lang="en-US" sz="2800" dirty="0" err="1"/>
              <a:t>calidad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3BEDF-C6B0-A035-5A27-B395DBDA7E77}"/>
              </a:ext>
            </a:extLst>
          </p:cNvPr>
          <p:cNvSpPr txBox="1"/>
          <p:nvPr/>
        </p:nvSpPr>
        <p:spPr>
          <a:xfrm>
            <a:off x="2915816" y="987574"/>
            <a:ext cx="3528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latinLnBrk="0"/>
            <a:r>
              <a:rPr lang="es-MX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Estrategia Integral de Aseguramiento de Calidad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D753F9-034F-DF1D-80E0-764447D5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035090"/>
              </p:ext>
            </p:extLst>
          </p:nvPr>
        </p:nvGraphicFramePr>
        <p:xfrm>
          <a:off x="2411760" y="-308572"/>
          <a:ext cx="6480720" cy="7248092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256999638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906614509"/>
                    </a:ext>
                  </a:extLst>
                </a:gridCol>
              </a:tblGrid>
              <a:tr h="171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800" b="1" dirty="0" err="1">
                          <a:solidFill>
                            <a:srgbClr val="FFFFFF"/>
                          </a:solidFill>
                          <a:effectLst/>
                        </a:rPr>
                        <a:t>Section</a:t>
                      </a:r>
                      <a:endParaRPr lang="es-MX" sz="8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125" marR="49125" marT="49125" marB="491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08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800" b="1">
                          <a:solidFill>
                            <a:srgbClr val="FFFFFF"/>
                          </a:solidFill>
                          <a:effectLst/>
                        </a:rPr>
                        <a:t>Checklist Items</a:t>
                      </a:r>
                      <a:endParaRPr lang="es-MX" sz="800" b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125" marR="49125" marT="49125" marB="491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08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54693"/>
                  </a:ext>
                </a:extLst>
              </a:tr>
              <a:tr h="1556311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3075"/>
                        </a:lnSpc>
                        <a:buNone/>
                      </a:pP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Scope</a:t>
                      </a:r>
                      <a:r>
                        <a:rPr lang="es-MX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Objectives</a:t>
                      </a:r>
                      <a:r>
                        <a:rPr lang="es-MX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, Roles, </a:t>
                      </a: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Standards</a:t>
                      </a:r>
                      <a:endParaRPr lang="es-MX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D08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8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8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8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Define project scope and quality goals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Identify objectives of QA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Assign roles and responsibilities (QA lead, testers, developers, stakeholders)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Reference industry standards, regulations, or compliance needs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908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8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8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98896"/>
                  </a:ext>
                </a:extLst>
              </a:tr>
              <a:tr h="1299123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3075"/>
                        </a:lnSpc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QA Processes Mapped to SDLC Phases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708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8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Define QA activities for each phase (requirements, design, development, testing, deployment, maintenance)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Establish entry and exit criteria per phase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Ensure traceability between requirements and test cases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49060"/>
                  </a:ext>
                </a:extLst>
              </a:tr>
              <a:tr h="2070688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3075"/>
                        </a:lnSpc>
                        <a:buNone/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Activities, Tools, Metrics, Reporting, and Audit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9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List planned QA activities (reviews, inspections, testing, defect management)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Specify tools for test management, automation, CI/CD, and defect tracking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Define quality metrics (defect density, test coverage, pass/fail rates)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Set up reporting format and frequency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26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Plan internal/external audits and compliance checks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F09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549442"/>
                  </a:ext>
                </a:extLst>
              </a:tr>
              <a:tr h="1041935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3075"/>
                        </a:lnSpc>
                        <a:buNone/>
                      </a:pP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Continuous</a:t>
                      </a:r>
                      <a:r>
                        <a:rPr lang="es-MX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Improvement</a:t>
                      </a:r>
                      <a:r>
                        <a:rPr lang="es-MX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1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Steps</a:t>
                      </a:r>
                      <a:endParaRPr lang="es-MX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F0A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A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Establish process review cycles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Capture lessons learned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 corrective and preventive actions</a:t>
                      </a:r>
                    </a:p>
                    <a:p>
                      <a:pPr marL="0" algn="just" defTabSz="914400" rtl="0" eaLnBrk="1" latinLnBrk="1" hangingPunct="1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Update QA processes and tools based on feedback</a:t>
                      </a:r>
                    </a:p>
                  </a:txBody>
                  <a:tcPr marL="32750" marR="32750" marT="32750" marB="32750" anchor="ctr">
                    <a:lnL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56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79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58;p123">
            <a:extLst>
              <a:ext uri="{FF2B5EF4-FFF2-40B4-BE49-F238E27FC236}">
                <a16:creationId xmlns:a16="http://schemas.microsoft.com/office/drawing/2014/main" id="{7A31EBC7-A35C-08EB-0115-A52C336F5B81}"/>
              </a:ext>
            </a:extLst>
          </p:cNvPr>
          <p:cNvSpPr txBox="1">
            <a:spLocks/>
          </p:cNvSpPr>
          <p:nvPr/>
        </p:nvSpPr>
        <p:spPr>
          <a:xfrm>
            <a:off x="179937" y="680022"/>
            <a:ext cx="4077692" cy="1086324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PE" sz="6600" dirty="0">
                <a:solidFill>
                  <a:srgbClr val="013857"/>
                </a:solidFill>
                <a:latin typeface="Arial Narrow" panose="020B0606020202030204" pitchFamily="34" charset="0"/>
              </a:rPr>
              <a:t>Gracias</a:t>
            </a:r>
          </a:p>
        </p:txBody>
      </p:sp>
      <p:sp>
        <p:nvSpPr>
          <p:cNvPr id="3" name="Google Shape;2559;p123">
            <a:extLst>
              <a:ext uri="{FF2B5EF4-FFF2-40B4-BE49-F238E27FC236}">
                <a16:creationId xmlns:a16="http://schemas.microsoft.com/office/drawing/2014/main" id="{05EFDCAC-4C20-4A71-99AD-EDE58FDB108E}"/>
              </a:ext>
            </a:extLst>
          </p:cNvPr>
          <p:cNvSpPr txBox="1">
            <a:spLocks/>
          </p:cNvSpPr>
          <p:nvPr/>
        </p:nvSpPr>
        <p:spPr>
          <a:xfrm>
            <a:off x="323528" y="1922242"/>
            <a:ext cx="4077692" cy="481138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Aptos Narrow" panose="020B0004020202020204" pitchFamily="34" charset="0"/>
              </a:rPr>
              <a:t>Preguntas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Aptos Narrow" panose="020B0004020202020204" pitchFamily="34" charset="0"/>
              </a:rPr>
              <a:t>?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65857BDB-D5F1-AED2-D331-E16F29E8FC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57629" y="989708"/>
            <a:ext cx="1324947" cy="1156580"/>
            <a:chOff x="2446" y="1449"/>
            <a:chExt cx="1928" cy="1683"/>
          </a:xfrm>
        </p:grpSpPr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4D296F52-A8EF-99BF-1522-5E01C9E8F8B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46" y="1449"/>
              <a:ext cx="1928" cy="1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s-PE" sz="135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A4A50EB-0B27-359B-D7B3-C54959C36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1447"/>
              <a:ext cx="1935" cy="1685"/>
            </a:xfrm>
            <a:custGeom>
              <a:avLst/>
              <a:gdLst>
                <a:gd name="T0" fmla="*/ 1138 w 1156"/>
                <a:gd name="T1" fmla="*/ 990 h 1006"/>
                <a:gd name="T2" fmla="*/ 1104 w 1156"/>
                <a:gd name="T3" fmla="*/ 973 h 1006"/>
                <a:gd name="T4" fmla="*/ 1048 w 1156"/>
                <a:gd name="T5" fmla="*/ 929 h 1006"/>
                <a:gd name="T6" fmla="*/ 993 w 1156"/>
                <a:gd name="T7" fmla="*/ 837 h 1006"/>
                <a:gd name="T8" fmla="*/ 992 w 1156"/>
                <a:gd name="T9" fmla="*/ 814 h 1006"/>
                <a:gd name="T10" fmla="*/ 1050 w 1156"/>
                <a:gd name="T11" fmla="*/ 753 h 1006"/>
                <a:gd name="T12" fmla="*/ 1123 w 1156"/>
                <a:gd name="T13" fmla="*/ 631 h 1006"/>
                <a:gd name="T14" fmla="*/ 1143 w 1156"/>
                <a:gd name="T15" fmla="*/ 568 h 1006"/>
                <a:gd name="T16" fmla="*/ 1147 w 1156"/>
                <a:gd name="T17" fmla="*/ 396 h 1006"/>
                <a:gd name="T18" fmla="*/ 1128 w 1156"/>
                <a:gd name="T19" fmla="*/ 332 h 1006"/>
                <a:gd name="T20" fmla="*/ 1061 w 1156"/>
                <a:gd name="T21" fmla="*/ 211 h 1006"/>
                <a:gd name="T22" fmla="*/ 1044 w 1156"/>
                <a:gd name="T23" fmla="*/ 192 h 1006"/>
                <a:gd name="T24" fmla="*/ 970 w 1156"/>
                <a:gd name="T25" fmla="*/ 124 h 1006"/>
                <a:gd name="T26" fmla="*/ 972 w 1156"/>
                <a:gd name="T27" fmla="*/ 121 h 1006"/>
                <a:gd name="T28" fmla="*/ 948 w 1156"/>
                <a:gd name="T29" fmla="*/ 111 h 1006"/>
                <a:gd name="T30" fmla="*/ 600 w 1156"/>
                <a:gd name="T31" fmla="*/ 1 h 1006"/>
                <a:gd name="T32" fmla="*/ 427 w 1156"/>
                <a:gd name="T33" fmla="*/ 17 h 1006"/>
                <a:gd name="T34" fmla="*/ 427 w 1156"/>
                <a:gd name="T35" fmla="*/ 17 h 1006"/>
                <a:gd name="T36" fmla="*/ 424 w 1156"/>
                <a:gd name="T37" fmla="*/ 17 h 1006"/>
                <a:gd name="T38" fmla="*/ 404 w 1156"/>
                <a:gd name="T39" fmla="*/ 20 h 1006"/>
                <a:gd name="T40" fmla="*/ 266 w 1156"/>
                <a:gd name="T41" fmla="*/ 76 h 1006"/>
                <a:gd name="T42" fmla="*/ 62 w 1156"/>
                <a:gd name="T43" fmla="*/ 271 h 1006"/>
                <a:gd name="T44" fmla="*/ 13 w 1156"/>
                <a:gd name="T45" fmla="*/ 393 h 1006"/>
                <a:gd name="T46" fmla="*/ 3 w 1156"/>
                <a:gd name="T47" fmla="*/ 453 h 1006"/>
                <a:gd name="T48" fmla="*/ 2 w 1156"/>
                <a:gd name="T49" fmla="*/ 507 h 1006"/>
                <a:gd name="T50" fmla="*/ 6 w 1156"/>
                <a:gd name="T51" fmla="*/ 526 h 1006"/>
                <a:gd name="T52" fmla="*/ 59 w 1156"/>
                <a:gd name="T53" fmla="*/ 697 h 1006"/>
                <a:gd name="T54" fmla="*/ 265 w 1156"/>
                <a:gd name="T55" fmla="*/ 892 h 1006"/>
                <a:gd name="T56" fmla="*/ 387 w 1156"/>
                <a:gd name="T57" fmla="*/ 941 h 1006"/>
                <a:gd name="T58" fmla="*/ 449 w 1156"/>
                <a:gd name="T59" fmla="*/ 957 h 1006"/>
                <a:gd name="T60" fmla="*/ 626 w 1156"/>
                <a:gd name="T61" fmla="*/ 965 h 1006"/>
                <a:gd name="T62" fmla="*/ 686 w 1156"/>
                <a:gd name="T63" fmla="*/ 957 h 1006"/>
                <a:gd name="T64" fmla="*/ 745 w 1156"/>
                <a:gd name="T65" fmla="*/ 944 h 1006"/>
                <a:gd name="T66" fmla="*/ 788 w 1156"/>
                <a:gd name="T67" fmla="*/ 931 h 1006"/>
                <a:gd name="T68" fmla="*/ 851 w 1156"/>
                <a:gd name="T69" fmla="*/ 936 h 1006"/>
                <a:gd name="T70" fmla="*/ 1053 w 1156"/>
                <a:gd name="T71" fmla="*/ 1000 h 1006"/>
                <a:gd name="T72" fmla="*/ 1106 w 1156"/>
                <a:gd name="T73" fmla="*/ 1005 h 1006"/>
                <a:gd name="T74" fmla="*/ 1137 w 1156"/>
                <a:gd name="T75" fmla="*/ 1004 h 1006"/>
                <a:gd name="T76" fmla="*/ 1138 w 1156"/>
                <a:gd name="T77" fmla="*/ 990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56" h="1006">
                  <a:moveTo>
                    <a:pt x="1138" y="990"/>
                  </a:moveTo>
                  <a:cubicBezTo>
                    <a:pt x="1126" y="985"/>
                    <a:pt x="1114" y="981"/>
                    <a:pt x="1104" y="973"/>
                  </a:cubicBezTo>
                  <a:cubicBezTo>
                    <a:pt x="1082" y="962"/>
                    <a:pt x="1064" y="946"/>
                    <a:pt x="1048" y="929"/>
                  </a:cubicBezTo>
                  <a:cubicBezTo>
                    <a:pt x="1023" y="902"/>
                    <a:pt x="1007" y="870"/>
                    <a:pt x="993" y="837"/>
                  </a:cubicBezTo>
                  <a:cubicBezTo>
                    <a:pt x="990" y="830"/>
                    <a:pt x="986" y="822"/>
                    <a:pt x="992" y="814"/>
                  </a:cubicBezTo>
                  <a:cubicBezTo>
                    <a:pt x="1012" y="794"/>
                    <a:pt x="1033" y="776"/>
                    <a:pt x="1050" y="753"/>
                  </a:cubicBezTo>
                  <a:cubicBezTo>
                    <a:pt x="1080" y="716"/>
                    <a:pt x="1104" y="675"/>
                    <a:pt x="1123" y="631"/>
                  </a:cubicBezTo>
                  <a:cubicBezTo>
                    <a:pt x="1130" y="611"/>
                    <a:pt x="1137" y="589"/>
                    <a:pt x="1143" y="568"/>
                  </a:cubicBezTo>
                  <a:cubicBezTo>
                    <a:pt x="1156" y="511"/>
                    <a:pt x="1155" y="454"/>
                    <a:pt x="1147" y="396"/>
                  </a:cubicBezTo>
                  <a:cubicBezTo>
                    <a:pt x="1141" y="374"/>
                    <a:pt x="1136" y="353"/>
                    <a:pt x="1128" y="332"/>
                  </a:cubicBezTo>
                  <a:cubicBezTo>
                    <a:pt x="1113" y="288"/>
                    <a:pt x="1088" y="249"/>
                    <a:pt x="1061" y="211"/>
                  </a:cubicBezTo>
                  <a:cubicBezTo>
                    <a:pt x="1055" y="205"/>
                    <a:pt x="1050" y="198"/>
                    <a:pt x="1044" y="192"/>
                  </a:cubicBezTo>
                  <a:cubicBezTo>
                    <a:pt x="1022" y="167"/>
                    <a:pt x="999" y="141"/>
                    <a:pt x="970" y="124"/>
                  </a:cubicBezTo>
                  <a:cubicBezTo>
                    <a:pt x="971" y="124"/>
                    <a:pt x="972" y="123"/>
                    <a:pt x="972" y="121"/>
                  </a:cubicBezTo>
                  <a:cubicBezTo>
                    <a:pt x="962" y="122"/>
                    <a:pt x="955" y="116"/>
                    <a:pt x="948" y="111"/>
                  </a:cubicBezTo>
                  <a:cubicBezTo>
                    <a:pt x="843" y="40"/>
                    <a:pt x="727" y="3"/>
                    <a:pt x="600" y="1"/>
                  </a:cubicBezTo>
                  <a:cubicBezTo>
                    <a:pt x="542" y="0"/>
                    <a:pt x="484" y="7"/>
                    <a:pt x="427" y="17"/>
                  </a:cubicBezTo>
                  <a:cubicBezTo>
                    <a:pt x="427" y="17"/>
                    <a:pt x="427" y="17"/>
                    <a:pt x="427" y="17"/>
                  </a:cubicBezTo>
                  <a:cubicBezTo>
                    <a:pt x="426" y="17"/>
                    <a:pt x="425" y="17"/>
                    <a:pt x="424" y="17"/>
                  </a:cubicBezTo>
                  <a:cubicBezTo>
                    <a:pt x="417" y="16"/>
                    <a:pt x="411" y="18"/>
                    <a:pt x="404" y="20"/>
                  </a:cubicBezTo>
                  <a:cubicBezTo>
                    <a:pt x="356" y="33"/>
                    <a:pt x="310" y="52"/>
                    <a:pt x="266" y="76"/>
                  </a:cubicBezTo>
                  <a:cubicBezTo>
                    <a:pt x="182" y="124"/>
                    <a:pt x="111" y="187"/>
                    <a:pt x="62" y="271"/>
                  </a:cubicBezTo>
                  <a:cubicBezTo>
                    <a:pt x="39" y="309"/>
                    <a:pt x="23" y="350"/>
                    <a:pt x="13" y="393"/>
                  </a:cubicBezTo>
                  <a:cubicBezTo>
                    <a:pt x="8" y="412"/>
                    <a:pt x="6" y="433"/>
                    <a:pt x="3" y="453"/>
                  </a:cubicBezTo>
                  <a:cubicBezTo>
                    <a:pt x="2" y="471"/>
                    <a:pt x="0" y="489"/>
                    <a:pt x="2" y="507"/>
                  </a:cubicBezTo>
                  <a:cubicBezTo>
                    <a:pt x="4" y="513"/>
                    <a:pt x="5" y="520"/>
                    <a:pt x="6" y="526"/>
                  </a:cubicBezTo>
                  <a:cubicBezTo>
                    <a:pt x="8" y="588"/>
                    <a:pt x="29" y="644"/>
                    <a:pt x="59" y="697"/>
                  </a:cubicBezTo>
                  <a:cubicBezTo>
                    <a:pt x="108" y="783"/>
                    <a:pt x="180" y="845"/>
                    <a:pt x="265" y="892"/>
                  </a:cubicBezTo>
                  <a:cubicBezTo>
                    <a:pt x="303" y="913"/>
                    <a:pt x="344" y="928"/>
                    <a:pt x="387" y="941"/>
                  </a:cubicBezTo>
                  <a:cubicBezTo>
                    <a:pt x="407" y="947"/>
                    <a:pt x="428" y="953"/>
                    <a:pt x="449" y="957"/>
                  </a:cubicBezTo>
                  <a:cubicBezTo>
                    <a:pt x="507" y="968"/>
                    <a:pt x="567" y="966"/>
                    <a:pt x="626" y="965"/>
                  </a:cubicBezTo>
                  <a:cubicBezTo>
                    <a:pt x="646" y="964"/>
                    <a:pt x="666" y="959"/>
                    <a:pt x="686" y="957"/>
                  </a:cubicBezTo>
                  <a:cubicBezTo>
                    <a:pt x="706" y="954"/>
                    <a:pt x="725" y="949"/>
                    <a:pt x="745" y="944"/>
                  </a:cubicBezTo>
                  <a:cubicBezTo>
                    <a:pt x="759" y="939"/>
                    <a:pt x="775" y="938"/>
                    <a:pt x="788" y="931"/>
                  </a:cubicBezTo>
                  <a:cubicBezTo>
                    <a:pt x="811" y="918"/>
                    <a:pt x="831" y="921"/>
                    <a:pt x="851" y="936"/>
                  </a:cubicBezTo>
                  <a:cubicBezTo>
                    <a:pt x="914" y="969"/>
                    <a:pt x="982" y="988"/>
                    <a:pt x="1053" y="1000"/>
                  </a:cubicBezTo>
                  <a:cubicBezTo>
                    <a:pt x="1070" y="1001"/>
                    <a:pt x="1088" y="1004"/>
                    <a:pt x="1106" y="1005"/>
                  </a:cubicBezTo>
                  <a:cubicBezTo>
                    <a:pt x="1116" y="1005"/>
                    <a:pt x="1127" y="1006"/>
                    <a:pt x="1137" y="1004"/>
                  </a:cubicBezTo>
                  <a:cubicBezTo>
                    <a:pt x="1149" y="1001"/>
                    <a:pt x="1149" y="995"/>
                    <a:pt x="1138" y="990"/>
                  </a:cubicBezTo>
                  <a:close/>
                </a:path>
              </a:pathLst>
            </a:custGeom>
            <a:solidFill>
              <a:srgbClr val="33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s-PE" sz="135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74452D56-A81E-71FE-883C-C629983EB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843"/>
              <a:ext cx="524" cy="629"/>
            </a:xfrm>
            <a:custGeom>
              <a:avLst/>
              <a:gdLst>
                <a:gd name="T0" fmla="*/ 311 w 313"/>
                <a:gd name="T1" fmla="*/ 121 h 376"/>
                <a:gd name="T2" fmla="*/ 158 w 313"/>
                <a:gd name="T3" fmla="*/ 12 h 376"/>
                <a:gd name="T4" fmla="*/ 14 w 313"/>
                <a:gd name="T5" fmla="*/ 84 h 376"/>
                <a:gd name="T6" fmla="*/ 4 w 313"/>
                <a:gd name="T7" fmla="*/ 108 h 376"/>
                <a:gd name="T8" fmla="*/ 43 w 313"/>
                <a:gd name="T9" fmla="*/ 178 h 376"/>
                <a:gd name="T10" fmla="*/ 44 w 313"/>
                <a:gd name="T11" fmla="*/ 154 h 376"/>
                <a:gd name="T12" fmla="*/ 101 w 313"/>
                <a:gd name="T13" fmla="*/ 51 h 376"/>
                <a:gd name="T14" fmla="*/ 189 w 313"/>
                <a:gd name="T15" fmla="*/ 97 h 376"/>
                <a:gd name="T16" fmla="*/ 189 w 313"/>
                <a:gd name="T17" fmla="*/ 97 h 376"/>
                <a:gd name="T18" fmla="*/ 200 w 313"/>
                <a:gd name="T19" fmla="*/ 164 h 376"/>
                <a:gd name="T20" fmla="*/ 200 w 313"/>
                <a:gd name="T21" fmla="*/ 164 h 376"/>
                <a:gd name="T22" fmla="*/ 186 w 313"/>
                <a:gd name="T23" fmla="*/ 212 h 376"/>
                <a:gd name="T24" fmla="*/ 186 w 313"/>
                <a:gd name="T25" fmla="*/ 212 h 376"/>
                <a:gd name="T26" fmla="*/ 186 w 313"/>
                <a:gd name="T27" fmla="*/ 212 h 376"/>
                <a:gd name="T28" fmla="*/ 152 w 313"/>
                <a:gd name="T29" fmla="*/ 290 h 376"/>
                <a:gd name="T30" fmla="*/ 229 w 313"/>
                <a:gd name="T31" fmla="*/ 372 h 376"/>
                <a:gd name="T32" fmla="*/ 214 w 313"/>
                <a:gd name="T33" fmla="*/ 328 h 376"/>
                <a:gd name="T34" fmla="*/ 239 w 313"/>
                <a:gd name="T35" fmla="*/ 276 h 376"/>
                <a:gd name="T36" fmla="*/ 239 w 313"/>
                <a:gd name="T37" fmla="*/ 276 h 376"/>
                <a:gd name="T38" fmla="*/ 286 w 313"/>
                <a:gd name="T39" fmla="*/ 207 h 376"/>
                <a:gd name="T40" fmla="*/ 311 w 313"/>
                <a:gd name="T41" fmla="*/ 121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3" h="376">
                  <a:moveTo>
                    <a:pt x="311" y="121"/>
                  </a:moveTo>
                  <a:cubicBezTo>
                    <a:pt x="304" y="38"/>
                    <a:pt x="235" y="0"/>
                    <a:pt x="158" y="12"/>
                  </a:cubicBezTo>
                  <a:cubicBezTo>
                    <a:pt x="100" y="15"/>
                    <a:pt x="49" y="34"/>
                    <a:pt x="14" y="84"/>
                  </a:cubicBezTo>
                  <a:cubicBezTo>
                    <a:pt x="9" y="91"/>
                    <a:pt x="0" y="100"/>
                    <a:pt x="4" y="108"/>
                  </a:cubicBezTo>
                  <a:cubicBezTo>
                    <a:pt x="15" y="131"/>
                    <a:pt x="29" y="154"/>
                    <a:pt x="43" y="178"/>
                  </a:cubicBezTo>
                  <a:cubicBezTo>
                    <a:pt x="49" y="168"/>
                    <a:pt x="45" y="161"/>
                    <a:pt x="44" y="154"/>
                  </a:cubicBezTo>
                  <a:cubicBezTo>
                    <a:pt x="35" y="102"/>
                    <a:pt x="57" y="63"/>
                    <a:pt x="101" y="51"/>
                  </a:cubicBezTo>
                  <a:cubicBezTo>
                    <a:pt x="139" y="41"/>
                    <a:pt x="163" y="53"/>
                    <a:pt x="189" y="97"/>
                  </a:cubicBezTo>
                  <a:cubicBezTo>
                    <a:pt x="189" y="97"/>
                    <a:pt x="189" y="97"/>
                    <a:pt x="189" y="97"/>
                  </a:cubicBezTo>
                  <a:cubicBezTo>
                    <a:pt x="196" y="119"/>
                    <a:pt x="201" y="141"/>
                    <a:pt x="200" y="164"/>
                  </a:cubicBezTo>
                  <a:cubicBezTo>
                    <a:pt x="200" y="164"/>
                    <a:pt x="200" y="164"/>
                    <a:pt x="200" y="164"/>
                  </a:cubicBezTo>
                  <a:cubicBezTo>
                    <a:pt x="199" y="181"/>
                    <a:pt x="192" y="196"/>
                    <a:pt x="186" y="212"/>
                  </a:cubicBezTo>
                  <a:cubicBezTo>
                    <a:pt x="186" y="212"/>
                    <a:pt x="186" y="212"/>
                    <a:pt x="186" y="212"/>
                  </a:cubicBezTo>
                  <a:cubicBezTo>
                    <a:pt x="186" y="212"/>
                    <a:pt x="186" y="212"/>
                    <a:pt x="186" y="212"/>
                  </a:cubicBezTo>
                  <a:cubicBezTo>
                    <a:pt x="172" y="237"/>
                    <a:pt x="157" y="261"/>
                    <a:pt x="152" y="290"/>
                  </a:cubicBezTo>
                  <a:cubicBezTo>
                    <a:pt x="144" y="334"/>
                    <a:pt x="186" y="376"/>
                    <a:pt x="229" y="372"/>
                  </a:cubicBezTo>
                  <a:cubicBezTo>
                    <a:pt x="213" y="360"/>
                    <a:pt x="214" y="344"/>
                    <a:pt x="214" y="328"/>
                  </a:cubicBezTo>
                  <a:cubicBezTo>
                    <a:pt x="219" y="309"/>
                    <a:pt x="231" y="294"/>
                    <a:pt x="239" y="276"/>
                  </a:cubicBezTo>
                  <a:cubicBezTo>
                    <a:pt x="239" y="276"/>
                    <a:pt x="239" y="276"/>
                    <a:pt x="239" y="276"/>
                  </a:cubicBezTo>
                  <a:cubicBezTo>
                    <a:pt x="255" y="253"/>
                    <a:pt x="270" y="230"/>
                    <a:pt x="286" y="207"/>
                  </a:cubicBezTo>
                  <a:cubicBezTo>
                    <a:pt x="303" y="181"/>
                    <a:pt x="313" y="153"/>
                    <a:pt x="311" y="1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s-PE" sz="135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8F091EB-3B7B-EBA2-406C-6EC1D1164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541"/>
              <a:ext cx="194" cy="198"/>
            </a:xfrm>
            <a:custGeom>
              <a:avLst/>
              <a:gdLst>
                <a:gd name="T0" fmla="*/ 79 w 116"/>
                <a:gd name="T1" fmla="*/ 13 h 118"/>
                <a:gd name="T2" fmla="*/ 11 w 116"/>
                <a:gd name="T3" fmla="*/ 39 h 118"/>
                <a:gd name="T4" fmla="*/ 27 w 116"/>
                <a:gd name="T5" fmla="*/ 99 h 118"/>
                <a:gd name="T6" fmla="*/ 27 w 116"/>
                <a:gd name="T7" fmla="*/ 99 h 118"/>
                <a:gd name="T8" fmla="*/ 27 w 116"/>
                <a:gd name="T9" fmla="*/ 99 h 118"/>
                <a:gd name="T10" fmla="*/ 31 w 116"/>
                <a:gd name="T11" fmla="*/ 104 h 118"/>
                <a:gd name="T12" fmla="*/ 103 w 116"/>
                <a:gd name="T13" fmla="*/ 82 h 118"/>
                <a:gd name="T14" fmla="*/ 79 w 116"/>
                <a:gd name="T15" fmla="*/ 1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18">
                  <a:moveTo>
                    <a:pt x="79" y="13"/>
                  </a:moveTo>
                  <a:cubicBezTo>
                    <a:pt x="52" y="0"/>
                    <a:pt x="25" y="10"/>
                    <a:pt x="11" y="39"/>
                  </a:cubicBezTo>
                  <a:cubicBezTo>
                    <a:pt x="0" y="64"/>
                    <a:pt x="6" y="88"/>
                    <a:pt x="27" y="99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28" y="100"/>
                    <a:pt x="29" y="103"/>
                    <a:pt x="31" y="104"/>
                  </a:cubicBezTo>
                  <a:cubicBezTo>
                    <a:pt x="56" y="118"/>
                    <a:pt x="91" y="108"/>
                    <a:pt x="103" y="82"/>
                  </a:cubicBezTo>
                  <a:cubicBezTo>
                    <a:pt x="116" y="58"/>
                    <a:pt x="104" y="25"/>
                    <a:pt x="79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s-PE" sz="135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81A1586-DEF6-7084-E621-7D9D1A965923}"/>
              </a:ext>
            </a:extLst>
          </p:cNvPr>
          <p:cNvGrpSpPr/>
          <p:nvPr/>
        </p:nvGrpSpPr>
        <p:grpSpPr>
          <a:xfrm>
            <a:off x="5112486" y="1283786"/>
            <a:ext cx="2952328" cy="2647701"/>
            <a:chOff x="8567057" y="1362510"/>
            <a:chExt cx="715363" cy="754212"/>
          </a:xfrm>
        </p:grpSpPr>
        <p:sp>
          <p:nvSpPr>
            <p:cNvPr id="4" name="Google Shape;10090;p74">
              <a:extLst>
                <a:ext uri="{FF2B5EF4-FFF2-40B4-BE49-F238E27FC236}">
                  <a16:creationId xmlns:a16="http://schemas.microsoft.com/office/drawing/2014/main" id="{C6A822AF-3B68-EE80-346A-82FE6C41777C}"/>
                </a:ext>
              </a:extLst>
            </p:cNvPr>
            <p:cNvSpPr/>
            <p:nvPr/>
          </p:nvSpPr>
          <p:spPr>
            <a:xfrm>
              <a:off x="8733293" y="1362510"/>
              <a:ext cx="382495" cy="476838"/>
            </a:xfrm>
            <a:custGeom>
              <a:avLst/>
              <a:gdLst/>
              <a:ahLst/>
              <a:cxnLst/>
              <a:rect l="l" t="t" r="r" b="b"/>
              <a:pathLst>
                <a:path w="6806" h="7961" extrusionOk="0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rgbClr val="01385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" name="Google Shape;10091;p74">
              <a:extLst>
                <a:ext uri="{FF2B5EF4-FFF2-40B4-BE49-F238E27FC236}">
                  <a16:creationId xmlns:a16="http://schemas.microsoft.com/office/drawing/2014/main" id="{8D1120F1-DAC3-5B44-06ED-1A7D88773DB3}"/>
                </a:ext>
              </a:extLst>
            </p:cNvPr>
            <p:cNvSpPr/>
            <p:nvPr/>
          </p:nvSpPr>
          <p:spPr>
            <a:xfrm>
              <a:off x="8567057" y="1834069"/>
              <a:ext cx="715363" cy="282653"/>
            </a:xfrm>
            <a:custGeom>
              <a:avLst/>
              <a:gdLst/>
              <a:ahLst/>
              <a:cxnLst/>
              <a:rect l="l" t="t" r="r" b="b"/>
              <a:pathLst>
                <a:path w="12729" h="4719" extrusionOk="0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rgbClr val="01385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pic>
        <p:nvPicPr>
          <p:cNvPr id="8" name="Picture 7" descr="A green check mark on a white circle&#10;&#10;AI-generated content may be incorrect.">
            <a:extLst>
              <a:ext uri="{FF2B5EF4-FFF2-40B4-BE49-F238E27FC236}">
                <a16:creationId xmlns:a16="http://schemas.microsoft.com/office/drawing/2014/main" id="{6D892299-2D9D-3963-222B-ADB11BDFF0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40" y="2571750"/>
            <a:ext cx="1944216" cy="1944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1F5F14C-31F1-1C47-1C84-1F5E6B8B4F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788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s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19943</TotalTime>
  <Words>1113</Words>
  <Application>Microsoft Office PowerPoint</Application>
  <PresentationFormat>On-screen Show (16:9)</PresentationFormat>
  <Paragraphs>169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Narrow</vt:lpstr>
      <vt:lpstr>Arial</vt:lpstr>
      <vt:lpstr>Arial Narrow</vt:lpstr>
      <vt:lpstr>Calibri</vt:lpstr>
      <vt:lpstr>Wingdings</vt:lpstr>
      <vt:lpstr>Office Theme</vt:lpstr>
      <vt:lpstr>Custom Design</vt:lpstr>
      <vt:lpstr>Contents Slide Master</vt:lpstr>
      <vt:lpstr>PowerPoint Presentation</vt:lpstr>
      <vt:lpstr>PowerPoint Presentation</vt:lpstr>
      <vt:lpstr>PowerPoint Presentation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 1.2 Técnicas de aseguramiento de la calidad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Diego Gamboa</cp:lastModifiedBy>
  <cp:revision>99</cp:revision>
  <dcterms:created xsi:type="dcterms:W3CDTF">2014-04-01T16:27:38Z</dcterms:created>
  <dcterms:modified xsi:type="dcterms:W3CDTF">2025-10-15T19:44:17Z</dcterms:modified>
</cp:coreProperties>
</file>